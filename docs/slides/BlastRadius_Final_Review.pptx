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6588eab-6862-dc1f-0ccc-639a4ba253dc}">
          <p14:sldIdLst>
            <p14:sldId id="256"/>
            <p14:sldId id="257"/>
            <p14:sldId id="258"/>
            <p14:sldId id="259"/>
          </p14:sldIdLst>
        </p14:section>
        <p14:section name="Background" id="{83853f11-bcce-8420-c69c-56e084040695}">
          <p14:sldIdLst>
            <p14:sldId id="260"/>
            <p14:sldId id="261"/>
            <p14:sldId id="262"/>
          </p14:sldIdLst>
        </p14:section>
        <p14:section name="Design" id="{b98994e0-fb4b-4760-f287-d3d19cb2c2c9}">
          <p14:sldIdLst>
            <p14:sldId id="263"/>
            <p14:sldId id="264"/>
            <p14:sldId id="265"/>
            <p14:sldId id="266"/>
            <p14:sldId id="267"/>
            <p14:sldId id="268"/>
            <p14:sldId id="269"/>
          </p14:sldIdLst>
        </p14:section>
        <p14:section name="Implementation quality" id="{add66af9-c798-fd27-d55f-6c46b7c2d5ba}">
          <p14:sldIdLst>
            <p14:sldId id="270"/>
          </p14:sldIdLst>
        </p14:section>
        <p14:section name="Results" id="{ab200434-7356-dac0-ae82-c00088d60767}">
          <p14:sldIdLst>
            <p14:sldId id="271"/>
            <p14:sldId id="272"/>
            <p14:sldId id="273"/>
            <p14:sldId id="274"/>
            <p14:sldId id="275"/>
            <p14:sldId id="276"/>
          </p14:sldIdLst>
        </p14:section>
        <p14:section name="Demonstration and release" id="{cd46a956-49ec-9048-920b-0f6e3650233f}">
          <p14:sldIdLst>
            <p14:sldId id="277"/>
            <p14:sldId id="278"/>
          </p14:sldIdLst>
        </p14:section>
        <p14:section name="Conclusion" id="{045e9879-eddd-7df1-beba-3832424d615d}">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mn-lt"/>
              </a:defRPr>
            </a:pPr>
            <a:r>
              <a:rPr sz="1400" b="0" i="0" u="none" strike="noStrike">
                <a:solidFill>
                  <a:srgbClr val="1B1F2A"/>
                </a:solidFill>
                <a:latin typeface="+mn-lt"/>
              </a:rPr>
              <a:t>5,985 bound test IDs</a:t>
            </a:r>
          </a:p>
        </c:rich>
      </c:tx>
      <c:layout/>
      <c:overlay val="0"/>
    </c:title>
    <c:autoTitleDeleted val="0"/>
    <c:plotArea>
      <c:layout/>
      <c:doughnutChart>
        <c:varyColors val="1"/>
        <c:ser>
          <c:idx val="0"/>
          <c:order val="0"/>
          <c:tx>
            <c:strRef>
              <c:f>Sheet1!$B$1</c:f>
              <c:strCache>
                <c:ptCount val="1"/>
                <c:pt idx="0">
                  <c:v>Binding</c:v>
                </c:pt>
              </c:strCache>
            </c:strRef>
          </c:tx>
          <c:spPr>
            <a:solidFill>
              <a:schemeClr val="accent1"/>
            </a:solidFill>
            <a:ln w="9525" cap="flat">
              <a:solidFill>
                <a:srgbClr val="F9F9F9"/>
              </a:solidFill>
              <a:prstDash val="solid"/>
              <a:round/>
            </a:ln>
            <a:effectLst/>
          </c:spPr>
          <c:dPt>
            <c:idx val="0"/>
            <c:bubble3D val="0"/>
            <c:spPr>
              <a:solidFill>
                <a:srgbClr val="2E9E6A"/>
              </a:solidFill>
              <a:effectLst/>
            </c:spPr>
          </c:dPt>
          <c:dPt>
            <c:idx val="1"/>
            <c:bubble3D val="0"/>
            <c:spPr>
              <a:solidFill>
                <a:srgbClr val="F2A93B"/>
              </a:solidFill>
              <a:effectLst/>
            </c:spPr>
          </c:dPt>
          <c:dPt>
            <c:idx val="2"/>
            <c:bubble3D val="0"/>
            <c:spPr>
              <a:solidFill>
                <a:srgbClr val="5E6678"/>
              </a:solidFill>
              <a:effectLst/>
            </c:spPr>
          </c:dPt>
          <c:dPt>
            <c:idx val="3"/>
            <c:bubble3D val="0"/>
            <c:spPr>
              <a:solidFill>
                <a:srgbClr val="C23B30"/>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Full confidence (qualified class)</c:v>
                </c:pt>
                <c:pt idx="1">
                  <c:v>Basename only (0.5 confidence)</c:v>
                </c:pt>
                <c:pt idx="2">
                  <c:v>Ambiguous</c:v>
                </c:pt>
                <c:pt idx="3">
                  <c:v>Not found</c:v>
                </c:pt>
              </c:strCache>
            </c:strRef>
          </c:cat>
          <c:val>
            <c:numRef>
              <c:f>Sheet1!$B$2:$B$5</c:f>
              <c:numCache>
                <c:ptCount val="4"/>
                <c:pt idx="0">
                  <c:v>3820</c:v>
                </c:pt>
                <c:pt idx="1">
                  <c:v>1823</c:v>
                </c:pt>
                <c:pt idx="2">
                  <c:v>164</c:v>
                </c:pt>
                <c:pt idx="3">
                  <c:v>178</c:v>
                </c:pt>
              </c:numCache>
            </c:numRef>
          </c:val>
        </c:ser>
        <c:firstSliceAng val="0"/>
        <c:holeSize val="55"/>
      </c:doughnutChart>
      <c:spPr>
        <a:noFill/>
        <a:ln>
          <a:noFill/>
        </a:ln>
        <a:effectLst/>
      </c:spPr>
    </c:plotArea>
    <c:legend>
      <c:legendPos val="b"/>
      <c:overlay val="0"/>
      <c:txPr>
        <a:bodyPr/>
        <a:lstStyle/>
        <a:p>
          <a:pPr>
            <a:defRPr sz="1200">
              <a:solidFill>
                <a:srgbClr val="1B1F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Runs</c:v>
                </c:pt>
              </c:strCache>
            </c:strRef>
          </c:tx>
          <c:spPr>
            <a:solidFill>
              <a:srgbClr val="E8572A"/>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Sheet1!$A$2:$A$8</c:f>
              <c:multiLvlStrCache>
                <c:ptCount val="7"/>
                <c:lvl>
                  <c:pt idx="0">
                    <c:v>≥ 1 strict label</c:v>
                  </c:pt>
                  <c:pt idx="1">
                    <c:v>Known base failure set</c:v>
                  </c:pt>
                  <c:pt idx="2">
                    <c:v>Resolved base run</c:v>
                  </c:pt>
                  <c:pt idx="3">
                    <c:v>Parsed head test failure</c:v>
                  </c:pt>
                  <c:pt idx="4">
                    <c:v>Failed-job log on disk</c:v>
                  </c:pt>
                  <c:pt idx="5">
                    <c:v>Failed runs</c:v>
                  </c:pt>
                  <c:pt idx="6">
                    <c:v>Runs discovered</c:v>
                  </c:pt>
                </c:lvl>
              </c:multiLvlStrCache>
            </c:multiLvlStrRef>
          </c:cat>
          <c:val>
            <c:numRef>
              <c:f>Sheet1!$B$2:$B$8</c:f>
              <c:numCache>
                <c:formatCode>General</c:formatCode>
                <c:ptCount val="7"/>
                <c:pt idx="0">
                  <c:v>762</c:v>
                </c:pt>
                <c:pt idx="1">
                  <c:v>897</c:v>
                </c:pt>
                <c:pt idx="2">
                  <c:v>1348</c:v>
                </c:pt>
                <c:pt idx="3">
                  <c:v>1774</c:v>
                </c:pt>
                <c:pt idx="4">
                  <c:v>6586</c:v>
                </c:pt>
                <c:pt idx="5">
                  <c:v>12581</c:v>
                </c:pt>
                <c:pt idx="6">
                  <c:v>165349</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A"/>
                </a:solidFill>
                <a:latin typeface="+mn-lt"/>
              </a:defRPr>
            </a:pPr>
            <a:endParaRPr lang="en-US"/>
          </a:p>
        </c:txPr>
        <c:crossAx val="2094734552"/>
        <c:crosses val="autoZero"/>
        <c:auto val="1"/>
        <c:lblAlgn val="ctr"/>
        <c:noMultiLvlLbl val="1"/>
      </c:catAx>
      <c:valAx>
        <c:axId val="2094734552"/>
        <c:scaling>
          <c:logBase val="10"/>
          <c:orientation val="minMax"/>
          <c:min val="100"/>
        </c:scaling>
        <c:delete val="1"/>
        <c:axPos val="b"/>
        <c:majorGridlines>
          <c:spPr>
            <a:ln w="6350" cap="flat">
              <a:solidFill>
                <a:srgbClr val="E3E5EA"/>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6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mn-lt"/>
              </a:defRPr>
            </a:pPr>
            <a:r>
              <a:rPr sz="1400" b="0" i="0" u="none" strike="noStrike">
                <a:solidFill>
                  <a:srgbClr val="1B1F2A"/>
                </a:solidFill>
                <a:latin typeface="+mn-lt"/>
              </a:rPr>
              <a:t>Mean recall at k = 10 (n = 576 instances)</a:t>
            </a:r>
          </a:p>
        </c:rich>
      </c:tx>
      <c:layout/>
      <c:overlay val="0"/>
    </c:title>
    <c:autoTitleDeleted val="0"/>
    <c:plotArea>
      <c:layout/>
      <c:barChart>
        <c:barDir val="col"/>
        <c:grouping val="clustered"/>
        <c:varyColors val="0"/>
        <c:ser>
          <c:idx val="0"/>
          <c:order val="0"/>
          <c:tx>
            <c:strRef>
              <c:f>Sheet1!$B$1</c:f>
              <c:strCache>
                <c:ptCount val="1"/>
                <c:pt idx="0">
                  <c:v>Mean recall at k = 10</c:v>
                </c:pt>
              </c:strCache>
            </c:strRef>
          </c:tx>
          <c:spPr>
            <a:solidFill>
              <a:srgbClr val="2F7FB0"/>
            </a:solidFill>
            <a:effectLst/>
          </c:spPr>
          <c:invertIfNegative val="0"/>
          <c:dLbls>
            <c:numFmt formatCode="0.0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2F7FB0"/>
              </a:solidFill>
              <a:effectLst/>
            </c:spPr>
          </c:dPt>
          <c:dPt>
            <c:idx val="1"/>
            <c:invertIfNegative val="0"/>
            <c:bubble3D val="0"/>
            <c:spPr>
              <a:solidFill>
                <a:srgbClr val="2F7FB0"/>
              </a:solidFill>
              <a:effectLst/>
            </c:spPr>
          </c:dPt>
          <c:dPt>
            <c:idx val="2"/>
            <c:invertIfNegative val="0"/>
            <c:bubble3D val="0"/>
            <c:spPr>
              <a:solidFill>
                <a:srgbClr val="5E6678"/>
              </a:solidFill>
              <a:effectLst/>
            </c:spPr>
          </c:dPt>
          <c:dPt>
            <c:idx val="3"/>
            <c:invertIfNegative val="0"/>
            <c:bubble3D val="0"/>
            <c:spPr>
              <a:solidFill>
                <a:srgbClr val="E8572A"/>
              </a:solidFill>
              <a:effectLst/>
            </c:spPr>
          </c:dPt>
          <c:cat>
            <c:multiLvlStrRef>
              <c:f>Sheet1!$A$2:$A$5</c:f>
              <c:multiLvlStrCache>
                <c:ptCount val="4"/>
                <c:lvl>
                  <c:pt idx="0">
                    <c:v>Co-change (all partner files)</c:v>
                  </c:pt>
                  <c:pt idx="1">
                    <c:v>Co-change (test files only)</c:v>
                  </c:pt>
                  <c:pt idx="2">
                    <c:v>Changeset baseline</c:v>
                  </c:pt>
                  <c:pt idx="3">
                    <c:v>Historical failure frequency</c:v>
                  </c:pt>
                </c:lvl>
              </c:multiLvlStrCache>
            </c:multiLvlStrRef>
          </c:cat>
          <c:val>
            <c:numRef>
              <c:f>Sheet1!$B$2:$B$5</c:f>
              <c:numCache>
                <c:formatCode>General</c:formatCode>
                <c:ptCount val="4"/>
                <c:pt idx="0">
                  <c:v>0.051</c:v>
                </c:pt>
                <c:pt idx="1">
                  <c:v>0.087</c:v>
                </c:pt>
                <c:pt idx="2">
                  <c:v>0.245</c:v>
                </c:pt>
                <c:pt idx="3">
                  <c:v>0.517</c:v>
                </c:pt>
              </c:numCache>
            </c:numRef>
          </c:val>
        </c:ser>
        <c:dLbls>
          <c:numFmt formatCode="0.0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E3E5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6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mn-lt"/>
              </a:defRPr>
            </a:pPr>
            <a:r>
              <a:rPr sz="1400" b="0" i="0" u="none" strike="noStrike">
                <a:solidFill>
                  <a:srgbClr val="1B1F2A"/>
                </a:solidFill>
                <a:latin typeface="+mn-lt"/>
              </a:rPr>
              <a:t>Failure class of the 4,168 strict labels</a:t>
            </a:r>
          </a:p>
        </c:rich>
      </c:tx>
      <c:layout/>
      <c:overlay val="0"/>
    </c:title>
    <c:autoTitleDeleted val="0"/>
    <c:plotArea>
      <c:layout/>
      <c:barChart>
        <c:barDir val="bar"/>
        <c:grouping val="clustered"/>
        <c:varyColors val="0"/>
        <c:ser>
          <c:idx val="0"/>
          <c:order val="0"/>
          <c:tx>
            <c:strRef>
              <c:f>Sheet1!$B$1</c:f>
              <c:strCache>
                <c:ptCount val="1"/>
                <c:pt idx="0">
                  <c:v>Strict labels</c:v>
                </c:pt>
              </c:strCache>
            </c:strRef>
          </c:tx>
          <c:spPr>
            <a:solidFill>
              <a:srgbClr val="5E6678"/>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5E6678"/>
              </a:solidFill>
              <a:effectLst/>
            </c:spPr>
          </c:dPt>
          <c:dPt>
            <c:idx val="1"/>
            <c:invertIfNegative val="0"/>
            <c:bubble3D val="0"/>
            <c:spPr>
              <a:solidFill>
                <a:srgbClr val="E8572A"/>
              </a:solidFill>
              <a:effectLst/>
            </c:spPr>
          </c:dPt>
          <c:dPt>
            <c:idx val="2"/>
            <c:invertIfNegative val="0"/>
            <c:bubble3D val="0"/>
            <c:spPr>
              <a:solidFill>
                <a:srgbClr val="F2A93B"/>
              </a:solidFill>
              <a:effectLst/>
            </c:spPr>
          </c:dPt>
          <c:dPt>
            <c:idx val="3"/>
            <c:invertIfNegative val="0"/>
            <c:bubble3D val="0"/>
            <c:spPr>
              <a:solidFill>
                <a:srgbClr val="2F7FB0"/>
              </a:solidFill>
              <a:effectLst/>
            </c:spPr>
          </c:dPt>
          <c:cat>
            <c:multiLvlStrRef>
              <c:f>Sheet1!$A$2:$A$5</c:f>
              <c:multiLvlStrCache>
                <c:ptCount val="4"/>
                <c:lvl>
                  <c:pt idx="0">
                    <c:v>Unknown</c:v>
                  </c:pt>
                  <c:pt idx="1">
                    <c:v>Code-level</c:v>
                  </c:pt>
                  <c:pt idx="2">
                    <c:v>Timeout</c:v>
                  </c:pt>
                  <c:pt idx="3">
                    <c:v>Environment</c:v>
                  </c:pt>
                </c:lvl>
              </c:multiLvlStrCache>
            </c:multiLvlStrRef>
          </c:cat>
          <c:val>
            <c:numRef>
              <c:f>Sheet1!$B$2:$B$5</c:f>
              <c:numCache>
                <c:formatCode>General</c:formatCode>
                <c:ptCount val="4"/>
                <c:pt idx="0">
                  <c:v>3238</c:v>
                </c:pt>
                <c:pt idx="1">
                  <c:v>729</c:v>
                </c:pt>
                <c:pt idx="2">
                  <c:v>112</c:v>
                </c:pt>
                <c:pt idx="3">
                  <c:v>89</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4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6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guide. One-line pitch: BlastRadius asks which tests a code change actually broke in CI, and builds a public dataset (BR-Bench) that answers it from real GitHub Actions runs. The rings motif: the change sits at the centre; the dots are tests; the highlighted ones are the tests it broke.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developer asks this before merging. The 'blast radius' of a change is the set of tests it actually breaks. Three motivations: cost of running full suites; the field's labels don't record failures; and GitHub Actions logs expire after 90 days, which made the harvester the most time-critical part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CIA has public data with the wrong label. RTS tools give principled but over-approximate labels. PTS at Meta and Google uses the right label, but on private monorepos. BlastRadius closes the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Emphasise the claim discipline: we claim the dataset and the measurement, not state-of-the-art prediction. That keeps every claim fully supported by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references approved at the Zeroth Review. The common gap: none is validated against observed CI test failures. Huang et al.'s co-change label is exactly the kind of proxy our RQ1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'advantage over others' slide. RTPTorrent has test outcomes but on Travis CI, organised by build job rather than PR with a diff. GHALogs is a large raw-log corpus but stops at the log: no per-test verdicts, no diff link, no de-flaking. Meta and Google have the right label on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and RQ4 are answered in this project and in the paper. RQ2 and RQ3 are future work: the learned predictor was deliberately cut. In the paper RQ1 compares co-change with fault-revelation; static reachability depends on the graph layer, which stays outside the paper (D-48).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numbers: frame, harvest, raw store, parse, normalise test IDs, label, bind, then regenerate tables and build the release. The graph layer branches off binding and runs on the three-repository mini-corpus. Storage is DuckDB + Parquet with no server (D-06).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immovable deadline in the project was log expiry. The harvester stores raw API responses immutably so everything downstream can be rebuilt. The dashboard shows frame coverage: 77 of 300 repositories, 71 Java and 6 Python, which is why the corpus is Java-heavy (a stated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Parsing turns messy CI text into per-test verdicts. The normaliser is the single source of test identity: if two parsers spelled the same test differently, every join downstream would silently break. Be precise about precision: 46/46 and 30/30 are on development data; we do not claim independent precision until the blind holdout is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hardest correctness problem in the project. A failure at head only counts if the same test did not already fail at base. If we cannot find a base run, we emit nothing: 5,520 of 12,581 failed runs (43.88%) are no_base and contribute no labels. Edge cases if asked: a cancelled or timed-out head run is excluded; a test that exists at head but not at base is a new test, never fault-revealing; a test at base but not at head is excluded; matrix builds take the union of failures across legs (D-12); a base found by walking back ancestors is kept with base_run_distance recorded. Splits: all 897, relaxed 770, strict 762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Binding connects a test ID from a log to a test file in the repository. Full confidence means the fully qualified class name matched; basename-only matches carry 0.5 confidence. Gate 1.5 is met on the combined figure and not met at full confidence; we report both, never just the flattering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layer is Prisha's module. We forked an open-source extractor and removed everything non-deterministic, including its LLM pass, so graphs are exactly reproducible. A MultiDiGraph keyed by edge type stops a derived 'tests' edge from overwriting the 'calls' edge it was derived from — a defect the tests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are on the three-repository mini-corpus and are a course deliverable, not part of the paper (D-48). Be honest about the budgets: query latency is met (99.7 ms is right at the limit), incremental build is not met, cold build is only shown on the mini-corpus.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number cannot be regenerated by a script, it does not go in the report or the paper. The guards exist because each one corresponds to a real silent failure we hit (next slides). Be open about the development method if asked: an AI coding assistant was used for implementation, with no AI anywhere in the data pipeline, and every change was verified by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The biggest losses: only 12,581 runs failed; logs for many failed jobs were not on disk; parsing a head test failure; and base resolution. 762 instances survive with at least one strict label. Every number here comes from attrition_funnel.md.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Gates were set in the roadmap before results existed. We missed Gate 1 and say so; the dataset is still the first of its kind. Gate 2 (a solid RQ1 result)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finding. The co-change proxy the field uses recovered under 5% of the tests that actually failed; simply ranking tests by how often they failed before recovered about 39%. P, R, J are mean precision, recall and Jaccard at k = 10 on the same 576 instances. We fixed a leakage bug before trusting these numbers: the old co-change table used future commits for 640 of 713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counts are from a regex on the failure message, so environment and timeout are lower bounds; 729 labels are clearly code-level. Environment and timeout labels stay in the strict set and are reported, not silently dropped. Base distance is usually zero: most bases are the exact base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raised an exception. Each was found by an explicit check, and each now has a permanent guard. This is the project's core engineering lesson: no crash is not proof that a run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since the pre-final review: five agents take a user story to a deployed, regression-tested change. The Impact Analysis Agent builds the BlastRadius code graph of the target repository, matches the story to source files, and finds the tests that depend on them by reverse reachability; failure history from earlier regression runs raises a test's risk, because in BR-Bench failure history was the strongest predictor. The Coding Agent writes the change and opens a PR; the Reviewer checks scope, compile and the tests at risk, then merges and returns the commit id; the Build and Deploy Agent builds at that commit and deploys, or sends a notification on failure; the Regression Suite Agent runs the selected scope and the full suite and reports impact recall. Live demo: make agents-demo, then the Agents tab. Offline it uses keyword matching and recorded change sets; with an API key the model writes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order: (1) How it works tab, the 10-step pipeline; (2) Live run: walk the instance from the change, through the log line, parsed outcome, test_id, base run, label, binding and graph; (3) Results tab charts; (4) optionally the Streamlit dashboard. The site replays a recorded run, so it works without network; make demo runs the same pipeline live in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the dataset and the code are archived on Zenodo with DOIs, which the MSR track requires. The release holds the four tables, not the raw log store. Author logins are pseudonymised with a keyed hash; the key is never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limitations before the panel asks. Every one of these is also written in the report and the paper. The next concrete step is scoring the blind holdout, which turns parser precision into an independent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takeaways: a new public dataset, a clear measurement, and full reproducibility.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949440" cy="109728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2697480"/>
            <a:ext cx="6766560" cy="1188720"/>
          </a:xfrm>
          <a:prstGeom prst="rect">
            <a:avLst/>
          </a:prstGeom>
          <a:noFill/>
          <a:ln/>
        </p:spPr>
        <p:txBody>
          <a:bodyPr wrap="square" rtlCol="0"/>
          <a:lstStyle>
            <a:lvl1pPr algn="l" indent="0" marL="0">
              <a:buNone/>
              <a:defRPr lang="en-US" sz="2000" dirty="0">
                <a:solidFill>
                  <a:schemeClr val="accent2"/>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BlastRadius · BITE497J Project I · Final Review</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3.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949440"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BlastRadius</a:t>
            </a:r>
            <a:endParaRPr lang="en-US" sz="5400" dirty="0"/>
          </a:p>
        </p:txBody>
      </p:sp>
      <p:sp>
        <p:nvSpPr>
          <p:cNvPr id="3" name="Text 0"/>
          <p:cNvSpPr/>
          <p:nvPr>
            <p:ph idx="101" type="body" hasCustomPrompt="1"/>
          </p:nvPr>
        </p:nvSpPr>
        <p:spPr>
          <a:xfrm>
            <a:off x="731520" y="2697480"/>
            <a:ext cx="6766560" cy="1188720"/>
          </a:xfrm>
          <a:prstGeom prst="rect">
            <a:avLst/>
          </a:prstGeom>
          <a:noFill/>
          <a:ln/>
        </p:spPr>
        <p:txBody>
          <a:bodyPr wrap="square" lIns="0" tIns="0" rIns="0" bIns="0" rtlCol="0" anchor="t"/>
          <a:lstStyle/>
          <a:p>
            <a:pPr algn="l" indent="0" marL="0">
              <a:buNone/>
            </a:pPr>
            <a:r>
              <a:rPr lang="en-US" sz="2000" dirty="0">
                <a:solidFill>
                  <a:schemeClr val="accent2"/>
                </a:solidFill>
                <a:latin typeface="Calibri" pitchFamily="34" charset="0"/>
                <a:ea typeface="Calibri" pitchFamily="34" charset="-122"/>
                <a:cs typeface="Calibri" pitchFamily="34" charset="-120"/>
              </a:rPr>
              <a:t>Graph-Based Change Impact Prediction and Dependency Analysis for Software Repositories</a:t>
            </a:r>
            <a:endParaRPr lang="en-US" sz="2000" dirty="0"/>
          </a:p>
        </p:txBody>
      </p:sp>
      <p:sp>
        <p:nvSpPr>
          <p:cNvPr id="4" name="Text 2"/>
          <p:cNvSpPr txBox="1"/>
          <p:nvPr/>
        </p:nvSpPr>
        <p:spPr>
          <a:xfrm>
            <a:off x="731520" y="4343400"/>
            <a:ext cx="7498080" cy="685800"/>
          </a:xfrm>
          <a:prstGeom prst="rect">
            <a:avLst/>
          </a:prstGeom>
          <a:noFill/>
          <a:ln/>
        </p:spPr>
        <p:txBody>
          <a:bodyPr wrap="square" lIns="0" tIns="0" rIns="0" bIns="0" rtlCol="0" anchor="t"/>
          <a:lstStyle/>
          <a:p>
            <a:pPr indent="0" marL="0">
              <a:spcAft>
                <a:spcPts val="400"/>
              </a:spcAft>
              <a:buNone/>
            </a:pPr>
            <a:r>
              <a:rPr lang="en-US" sz="1500" dirty="0">
                <a:solidFill>
                  <a:schemeClr val="bg1"/>
                </a:solidFill>
              </a:rPr>
              <a:t>Deepanshu (23BIT0264)  ·  Sanskriti Singh (23BIT0256)  ·  Prisha Vadhavkar (23BIT0010)</a:t>
            </a:r>
            <a:endParaRPr lang="en-US" sz="1500" dirty="0"/>
          </a:p>
          <a:p>
            <a:pPr indent="0" marL="0">
              <a:spcAft>
                <a:spcPts val="400"/>
              </a:spcAft>
              <a:buNone/>
            </a:pPr>
            <a:r>
              <a:rPr lang="en-US" sz="1500" dirty="0">
                <a:solidFill>
                  <a:schemeClr val="bg1"/>
                </a:solidFill>
              </a:rPr>
              <a:t>Guide: Dr. Yoga Raja C A</a:t>
            </a:r>
            <a:endParaRPr lang="en-US" sz="1500" dirty="0"/>
          </a:p>
        </p:txBody>
      </p:sp>
      <p:sp>
        <p:nvSpPr>
          <p:cNvPr id="5" name="Text 3"/>
          <p:cNvSpPr txBox="1"/>
          <p:nvPr/>
        </p:nvSpPr>
        <p:spPr>
          <a:xfrm>
            <a:off x="731520" y="5257800"/>
            <a:ext cx="7498080" cy="320040"/>
          </a:xfrm>
          <a:prstGeom prst="rect">
            <a:avLst/>
          </a:prstGeom>
          <a:noFill/>
          <a:ln/>
        </p:spPr>
        <p:txBody>
          <a:bodyPr wrap="square" lIns="0" tIns="0" rIns="0" bIns="0" rtlCol="0" anchor="t"/>
          <a:lstStyle/>
          <a:p>
            <a:pPr indent="0" marL="0">
              <a:buNone/>
            </a:pPr>
            <a:r>
              <a:rPr lang="en-US" sz="1300" dirty="0">
                <a:solidFill>
                  <a:schemeClr val="bg2"/>
                </a:solidFill>
              </a:rPr>
              <a:t>BITE497J Project I  ·  Final Review  ·  21 October 2026  ·  SCORE, VIT Vellore</a:t>
            </a:r>
            <a:endParaRPr lang="en-US" sz="1300" dirty="0"/>
          </a:p>
        </p:txBody>
      </p:sp>
      <p:sp>
        <p:nvSpPr>
          <p:cNvPr id="6" name="ring"/>
          <p:cNvSpPr/>
          <p:nvPr/>
        </p:nvSpPr>
        <p:spPr>
          <a:xfrm>
            <a:off x="7726680" y="1325880"/>
            <a:ext cx="4206240" cy="4206240"/>
          </a:xfrm>
          <a:prstGeom prst="ellipse">
            <a:avLst/>
          </a:prstGeom>
          <a:solidFill>
            <a:schemeClr val="accent1">
              <a:alpha val="12000"/>
            </a:schemeClr>
          </a:solidFill>
          <a:ln w="12700">
            <a:solidFill>
              <a:schemeClr val="accent1">
                <a:alpha val="60000"/>
              </a:schemeClr>
            </a:solidFill>
            <a:prstDash val="solid"/>
          </a:ln>
        </p:spPr>
      </p:sp>
      <p:sp>
        <p:nvSpPr>
          <p:cNvPr id="7" name="ring"/>
          <p:cNvSpPr/>
          <p:nvPr/>
        </p:nvSpPr>
        <p:spPr>
          <a:xfrm>
            <a:off x="8321040" y="1920240"/>
            <a:ext cx="3017520" cy="3017520"/>
          </a:xfrm>
          <a:prstGeom prst="ellipse">
            <a:avLst/>
          </a:prstGeom>
          <a:solidFill>
            <a:schemeClr val="accent1">
              <a:alpha val="16000"/>
            </a:schemeClr>
          </a:solidFill>
          <a:ln w="12700">
            <a:solidFill>
              <a:schemeClr val="accent1">
                <a:alpha val="60000"/>
              </a:schemeClr>
            </a:solidFill>
            <a:prstDash val="solid"/>
          </a:ln>
        </p:spPr>
      </p:sp>
      <p:sp>
        <p:nvSpPr>
          <p:cNvPr id="8" name="ring"/>
          <p:cNvSpPr/>
          <p:nvPr/>
        </p:nvSpPr>
        <p:spPr>
          <a:xfrm>
            <a:off x="8915400" y="2514600"/>
            <a:ext cx="1828800" cy="1828800"/>
          </a:xfrm>
          <a:prstGeom prst="ellipse">
            <a:avLst/>
          </a:prstGeom>
          <a:solidFill>
            <a:schemeClr val="accent1">
              <a:alpha val="20000"/>
            </a:schemeClr>
          </a:solidFill>
          <a:ln w="12700">
            <a:solidFill>
              <a:schemeClr val="accent1">
                <a:alpha val="60000"/>
              </a:schemeClr>
            </a:solidFill>
            <a:prstDash val="solid"/>
          </a:ln>
        </p:spPr>
      </p:sp>
      <p:sp>
        <p:nvSpPr>
          <p:cNvPr id="9" name="change dot"/>
          <p:cNvSpPr/>
          <p:nvPr/>
        </p:nvSpPr>
        <p:spPr>
          <a:xfrm>
            <a:off x="9482328" y="3081528"/>
            <a:ext cx="694944" cy="694944"/>
          </a:xfrm>
          <a:prstGeom prst="ellipse">
            <a:avLst/>
          </a:prstGeom>
          <a:solidFill>
            <a:schemeClr val="accent1"/>
          </a:solidFill>
          <a:ln/>
        </p:spPr>
      </p:sp>
      <p:sp>
        <p:nvSpPr>
          <p:cNvPr id="10" name="test dot"/>
          <p:cNvSpPr/>
          <p:nvPr/>
        </p:nvSpPr>
        <p:spPr>
          <a:xfrm>
            <a:off x="10570183" y="3622871"/>
            <a:ext cx="237744" cy="237744"/>
          </a:xfrm>
          <a:prstGeom prst="ellipse">
            <a:avLst/>
          </a:prstGeom>
          <a:solidFill>
            <a:schemeClr val="accent2"/>
          </a:solidFill>
          <a:ln/>
        </p:spPr>
      </p:sp>
      <p:sp>
        <p:nvSpPr>
          <p:cNvPr id="11" name="test dot"/>
          <p:cNvSpPr/>
          <p:nvPr/>
        </p:nvSpPr>
        <p:spPr>
          <a:xfrm>
            <a:off x="10101424" y="4767478"/>
            <a:ext cx="237744" cy="237744"/>
          </a:xfrm>
          <a:prstGeom prst="ellipse">
            <a:avLst/>
          </a:prstGeom>
          <a:solidFill>
            <a:schemeClr val="bg2"/>
          </a:solidFill>
          <a:ln/>
        </p:spPr>
      </p:sp>
      <p:sp>
        <p:nvSpPr>
          <p:cNvPr id="12" name="test dot"/>
          <p:cNvSpPr/>
          <p:nvPr/>
        </p:nvSpPr>
        <p:spPr>
          <a:xfrm>
            <a:off x="8293157" y="3826154"/>
            <a:ext cx="237744" cy="237744"/>
          </a:xfrm>
          <a:prstGeom prst="ellipse">
            <a:avLst/>
          </a:prstGeom>
          <a:solidFill>
            <a:schemeClr val="accent2"/>
          </a:solidFill>
          <a:ln/>
        </p:spPr>
      </p:sp>
      <p:sp>
        <p:nvSpPr>
          <p:cNvPr id="13" name="test dot"/>
          <p:cNvSpPr/>
          <p:nvPr/>
        </p:nvSpPr>
        <p:spPr>
          <a:xfrm>
            <a:off x="8359069" y="1699045"/>
            <a:ext cx="237744" cy="237744"/>
          </a:xfrm>
          <a:prstGeom prst="ellipse">
            <a:avLst/>
          </a:prstGeom>
          <a:solidFill>
            <a:schemeClr val="bg2"/>
          </a:solidFill>
          <a:ln/>
        </p:spPr>
      </p:sp>
      <p:sp>
        <p:nvSpPr>
          <p:cNvPr id="14" name="test dot"/>
          <p:cNvSpPr/>
          <p:nvPr/>
        </p:nvSpPr>
        <p:spPr>
          <a:xfrm>
            <a:off x="8851673" y="2997385"/>
            <a:ext cx="237744" cy="237744"/>
          </a:xfrm>
          <a:prstGeom prst="ellipse">
            <a:avLst/>
          </a:prstGeom>
          <a:solidFill>
            <a:schemeClr val="bg2"/>
          </a:solidFill>
          <a:ln/>
        </p:spPr>
      </p:sp>
      <p:sp>
        <p:nvSpPr>
          <p:cNvPr id="15" name="test dot"/>
          <p:cNvSpPr/>
          <p:nvPr/>
        </p:nvSpPr>
        <p:spPr>
          <a:xfrm>
            <a:off x="11062787" y="1699045"/>
            <a:ext cx="237744" cy="237744"/>
          </a:xfrm>
          <a:prstGeom prst="ellipse">
            <a:avLst/>
          </a:prstGeom>
          <a:solidFill>
            <a:schemeClr val="bg2"/>
          </a:solidFill>
          <a:ln/>
        </p:spPr>
      </p:sp>
      <p:sp>
        <p:nvSpPr>
          <p:cNvPr id="16" name="test dot"/>
          <p:cNvSpPr/>
          <p:nvPr/>
        </p:nvSpPr>
        <p:spPr>
          <a:xfrm>
            <a:off x="10101424" y="1852778"/>
            <a:ext cx="237744" cy="237744"/>
          </a:xfrm>
          <a:prstGeom prst="ellipse">
            <a:avLst/>
          </a:prstGeom>
          <a:solidFill>
            <a:schemeClr val="bg2"/>
          </a:solidFill>
          <a:ln/>
        </p:spPr>
      </p:sp>
      <p:sp>
        <p:nvSpPr>
          <p:cNvPr id="17" name="test dot"/>
          <p:cNvSpPr/>
          <p:nvPr/>
        </p:nvSpPr>
        <p:spPr>
          <a:xfrm>
            <a:off x="8659368" y="5131483"/>
            <a:ext cx="237744" cy="237744"/>
          </a:xfrm>
          <a:prstGeom prst="ellipse">
            <a:avLst/>
          </a:prstGeom>
          <a:solidFill>
            <a:schemeClr val="bg2"/>
          </a:solidFill>
          <a:ln/>
        </p:spPr>
      </p:sp>
      <p:sp>
        <p:nvSpPr>
          <p:cNvPr id="18" name="test dot"/>
          <p:cNvSpPr/>
          <p:nvPr/>
        </p:nvSpPr>
        <p:spPr>
          <a:xfrm>
            <a:off x="10502822" y="2852928"/>
            <a:ext cx="237744" cy="237744"/>
          </a:xfrm>
          <a:prstGeom prst="ellipse">
            <a:avLst/>
          </a:prstGeom>
          <a:solidFill>
            <a:schemeClr val="bg2"/>
          </a:solidFill>
          <a:ln/>
        </p:spPr>
      </p:sp>
      <p:sp>
        <p:nvSpPr>
          <p:cNvPr id="19" name="test dot"/>
          <p:cNvSpPr/>
          <p:nvPr/>
        </p:nvSpPr>
        <p:spPr>
          <a:xfrm>
            <a:off x="11532283" y="4361688"/>
            <a:ext cx="237744" cy="237744"/>
          </a:xfrm>
          <a:prstGeom prst="ellipse">
            <a:avLst/>
          </a:prstGeom>
          <a:solidFill>
            <a:schemeClr val="bg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Which tests will this change actually break?</a:t>
            </a:r>
            <a:endParaRPr lang="en-US" sz="3200" dirty="0"/>
          </a:p>
        </p:txBody>
      </p:sp>
      <p:sp>
        <p:nvSpPr>
          <p:cNvPr id="3" name="icon circle"/>
          <p:cNvSpPr/>
          <p:nvPr/>
        </p:nvSpPr>
        <p:spPr>
          <a:xfrm>
            <a:off x="548640" y="1508760"/>
            <a:ext cx="731520" cy="731520"/>
          </a:xfrm>
          <a:prstGeom prst="ellipse">
            <a:avLst/>
          </a:prstGeom>
          <a:solidFill>
            <a:schemeClr val="accent1"/>
          </a:solidFill>
          <a:ln/>
        </p:spPr>
      </p:sp>
      <p:pic>
        <p:nvPicPr>
          <p:cNvPr id="4" name="Image 0" descr="clock icon">    </p:cNvPr>
          <p:cNvPicPr>
            <a:picLocks noChangeAspect="1"/>
          </p:cNvPicPr>
          <p:nvPr/>
        </p:nvPicPr>
        <p:blipFill>
          <a:blip r:embed="rId1"/>
          <a:stretch>
            <a:fillRect/>
          </a:stretch>
        </p:blipFill>
        <p:spPr>
          <a:xfrm>
            <a:off x="724205" y="1684325"/>
            <a:ext cx="380390" cy="380390"/>
          </a:xfrm>
          <a:prstGeom prst="rect">
            <a:avLst/>
          </a:prstGeom>
        </p:spPr>
      </p:pic>
      <p:sp>
        <p:nvSpPr>
          <p:cNvPr id="5" name="Text 2"/>
          <p:cNvSpPr txBox="1"/>
          <p:nvPr/>
        </p:nvSpPr>
        <p:spPr>
          <a:xfrm>
            <a:off x="1508760" y="1490472"/>
            <a:ext cx="5120640" cy="411480"/>
          </a:xfrm>
          <a:prstGeom prst="rect">
            <a:avLst/>
          </a:prstGeom>
          <a:noFill/>
          <a:ln/>
        </p:spPr>
        <p:txBody>
          <a:bodyPr wrap="square" lIns="0" tIns="0" rIns="0" bIns="0" rtlCol="0" anchor="t"/>
          <a:lstStyle/>
          <a:p>
            <a:pPr indent="0" marL="0">
              <a:buNone/>
            </a:pPr>
            <a:r>
              <a:rPr lang="en-US" sz="1800" b="1" dirty="0">
                <a:solidFill>
                  <a:schemeClr val="tx1"/>
                </a:solidFill>
              </a:rPr>
              <a:t>Running every test on every change is slow and costly</a:t>
            </a:r>
            <a:endParaRPr lang="en-US" sz="1800" dirty="0"/>
          </a:p>
        </p:txBody>
      </p:sp>
      <p:sp>
        <p:nvSpPr>
          <p:cNvPr id="6" name="Text 3"/>
          <p:cNvSpPr txBox="1"/>
          <p:nvPr/>
        </p:nvSpPr>
        <p:spPr>
          <a:xfrm>
            <a:off x="1508760" y="1920240"/>
            <a:ext cx="5120640" cy="731520"/>
          </a:xfrm>
          <a:prstGeom prst="rect">
            <a:avLst/>
          </a:prstGeom>
          <a:noFill/>
          <a:ln/>
        </p:spPr>
        <p:txBody>
          <a:bodyPr wrap="square" lIns="0" tIns="0" rIns="0" bIns="0" rtlCol="0" anchor="t"/>
          <a:lstStyle/>
          <a:p>
            <a:pPr indent="0" marL="0">
              <a:buNone/>
            </a:pPr>
            <a:r>
              <a:rPr lang="en-US" sz="1500" dirty="0">
                <a:solidFill>
                  <a:schemeClr val="accent5"/>
                </a:solidFill>
              </a:rPr>
              <a:t>Teams want to run only the tests a change can break.</a:t>
            </a:r>
            <a:endParaRPr lang="en-US" sz="1500" dirty="0"/>
          </a:p>
        </p:txBody>
      </p:sp>
      <p:sp>
        <p:nvSpPr>
          <p:cNvPr id="7" name="icon circle"/>
          <p:cNvSpPr/>
          <p:nvPr/>
        </p:nvSpPr>
        <p:spPr>
          <a:xfrm>
            <a:off x="548640" y="2971800"/>
            <a:ext cx="731520" cy="731520"/>
          </a:xfrm>
          <a:prstGeom prst="ellipse">
            <a:avLst/>
          </a:prstGeom>
          <a:solidFill>
            <a:schemeClr val="accent1"/>
          </a:solidFill>
          <a:ln/>
        </p:spPr>
      </p:sp>
      <p:pic>
        <p:nvPicPr>
          <p:cNvPr id="8" name="Image 1" descr="flask icon">    </p:cNvPr>
          <p:cNvPicPr>
            <a:picLocks noChangeAspect="1"/>
          </p:cNvPicPr>
          <p:nvPr/>
        </p:nvPicPr>
        <p:blipFill>
          <a:blip r:embed="rId2"/>
          <a:stretch>
            <a:fillRect/>
          </a:stretch>
        </p:blipFill>
        <p:spPr>
          <a:xfrm>
            <a:off x="724205" y="3147365"/>
            <a:ext cx="380390" cy="380390"/>
          </a:xfrm>
          <a:prstGeom prst="rect">
            <a:avLst/>
          </a:prstGeom>
        </p:spPr>
      </p:pic>
      <p:sp>
        <p:nvSpPr>
          <p:cNvPr id="9" name="Text 5"/>
          <p:cNvSpPr txBox="1"/>
          <p:nvPr/>
        </p:nvSpPr>
        <p:spPr>
          <a:xfrm>
            <a:off x="1508760" y="2953512"/>
            <a:ext cx="5120640" cy="411480"/>
          </a:xfrm>
          <a:prstGeom prst="rect">
            <a:avLst/>
          </a:prstGeom>
          <a:noFill/>
          <a:ln/>
        </p:spPr>
        <p:txBody>
          <a:bodyPr wrap="square" lIns="0" tIns="0" rIns="0" bIns="0" rtlCol="0" anchor="t"/>
          <a:lstStyle/>
          <a:p>
            <a:pPr indent="0" marL="0">
              <a:buNone/>
            </a:pPr>
            <a:r>
              <a:rPr lang="en-US" sz="1800" b="1" dirty="0">
                <a:solidFill>
                  <a:schemeClr val="tx1"/>
                </a:solidFill>
              </a:rPr>
              <a:t>Research is scored against the wrong labels</a:t>
            </a:r>
            <a:endParaRPr lang="en-US" sz="1800" dirty="0"/>
          </a:p>
        </p:txBody>
      </p:sp>
      <p:sp>
        <p:nvSpPr>
          <p:cNvPr id="10" name="Text 6"/>
          <p:cNvSpPr txBox="1"/>
          <p:nvPr/>
        </p:nvSpPr>
        <p:spPr>
          <a:xfrm>
            <a:off x="1508760" y="3383280"/>
            <a:ext cx="5120640" cy="731520"/>
          </a:xfrm>
          <a:prstGeom prst="rect">
            <a:avLst/>
          </a:prstGeom>
          <a:noFill/>
          <a:ln/>
        </p:spPr>
        <p:txBody>
          <a:bodyPr wrap="square" lIns="0" tIns="0" rIns="0" bIns="0" rtlCol="0" anchor="t"/>
          <a:lstStyle/>
          <a:p>
            <a:pPr indent="0" marL="0">
              <a:buNone/>
            </a:pPr>
            <a:r>
              <a:rPr lang="en-US" sz="1500" dirty="0">
                <a:solidFill>
                  <a:schemeClr val="accent5"/>
                </a:solidFill>
              </a:rPr>
              <a:t>Impact-analysis methods are evaluated on labels that never record a real test failure.</a:t>
            </a:r>
            <a:endParaRPr lang="en-US" sz="1500" dirty="0"/>
          </a:p>
        </p:txBody>
      </p:sp>
      <p:sp>
        <p:nvSpPr>
          <p:cNvPr id="11" name="icon circle"/>
          <p:cNvSpPr/>
          <p:nvPr/>
        </p:nvSpPr>
        <p:spPr>
          <a:xfrm>
            <a:off x="548640" y="4434840"/>
            <a:ext cx="731520" cy="731520"/>
          </a:xfrm>
          <a:prstGeom prst="ellipse">
            <a:avLst/>
          </a:prstGeom>
          <a:solidFill>
            <a:schemeClr val="accent1"/>
          </a:solidFill>
          <a:ln/>
        </p:spPr>
      </p:sp>
      <p:pic>
        <p:nvPicPr>
          <p:cNvPr id="12" name="Image 2" descr="hourglass icon">    </p:cNvPr>
          <p:cNvPicPr>
            <a:picLocks noChangeAspect="1"/>
          </p:cNvPicPr>
          <p:nvPr/>
        </p:nvPicPr>
        <p:blipFill>
          <a:blip r:embed="rId3"/>
          <a:stretch>
            <a:fillRect/>
          </a:stretch>
        </p:blipFill>
        <p:spPr>
          <a:xfrm>
            <a:off x="724205" y="4610405"/>
            <a:ext cx="380390" cy="380390"/>
          </a:xfrm>
          <a:prstGeom prst="rect">
            <a:avLst/>
          </a:prstGeom>
        </p:spPr>
      </p:pic>
      <p:sp>
        <p:nvSpPr>
          <p:cNvPr id="13" name="Text 8"/>
          <p:cNvSpPr txBox="1"/>
          <p:nvPr/>
        </p:nvSpPr>
        <p:spPr>
          <a:xfrm>
            <a:off x="1508760" y="4416552"/>
            <a:ext cx="5120640" cy="411480"/>
          </a:xfrm>
          <a:prstGeom prst="rect">
            <a:avLst/>
          </a:prstGeom>
          <a:noFill/>
          <a:ln/>
        </p:spPr>
        <p:txBody>
          <a:bodyPr wrap="square" lIns="0" tIns="0" rIns="0" bIns="0" rtlCol="0" anchor="t"/>
          <a:lstStyle/>
          <a:p>
            <a:pPr indent="0" marL="0">
              <a:buNone/>
            </a:pPr>
            <a:r>
              <a:rPr lang="en-US" sz="1800" b="1" dirty="0">
                <a:solidFill>
                  <a:schemeClr val="tx1"/>
                </a:solidFill>
              </a:rPr>
              <a:t>The evidence disappears</a:t>
            </a:r>
            <a:endParaRPr lang="en-US" sz="1800" dirty="0"/>
          </a:p>
        </p:txBody>
      </p:sp>
      <p:sp>
        <p:nvSpPr>
          <p:cNvPr id="14" name="Text 9"/>
          <p:cNvSpPr txBox="1"/>
          <p:nvPr/>
        </p:nvSpPr>
        <p:spPr>
          <a:xfrm>
            <a:off x="1508760" y="4846320"/>
            <a:ext cx="5120640" cy="731520"/>
          </a:xfrm>
          <a:prstGeom prst="rect">
            <a:avLst/>
          </a:prstGeom>
          <a:noFill/>
          <a:ln/>
        </p:spPr>
        <p:txBody>
          <a:bodyPr wrap="square" lIns="0" tIns="0" rIns="0" bIns="0" rtlCol="0" anchor="t"/>
          <a:lstStyle/>
          <a:p>
            <a:pPr indent="0" marL="0">
              <a:buNone/>
            </a:pPr>
            <a:r>
              <a:rPr lang="en-US" sz="1500" dirty="0">
                <a:solidFill>
                  <a:schemeClr val="accent5"/>
                </a:solidFill>
              </a:rPr>
              <a:t>GitHub Actions logs expire after 90 days. Data not captured now is lost for good.</a:t>
            </a:r>
            <a:endParaRPr lang="en-US" sz="1500" dirty="0"/>
          </a:p>
        </p:txBody>
      </p:sp>
      <p:sp>
        <p:nvSpPr>
          <p:cNvPr id="15" name="ring"/>
          <p:cNvSpPr/>
          <p:nvPr/>
        </p:nvSpPr>
        <p:spPr>
          <a:xfrm>
            <a:off x="7223760" y="1554480"/>
            <a:ext cx="3931920" cy="3931920"/>
          </a:xfrm>
          <a:prstGeom prst="ellipse">
            <a:avLst/>
          </a:prstGeom>
          <a:solidFill>
            <a:schemeClr val="bg2"/>
          </a:solidFill>
          <a:ln w="9525">
            <a:solidFill>
              <a:schemeClr val="accent5"/>
            </a:solidFill>
            <a:prstDash val="dash"/>
          </a:ln>
        </p:spPr>
      </p:sp>
      <p:sp>
        <p:nvSpPr>
          <p:cNvPr id="16" name="ring"/>
          <p:cNvSpPr/>
          <p:nvPr/>
        </p:nvSpPr>
        <p:spPr>
          <a:xfrm>
            <a:off x="7863840" y="2194560"/>
            <a:ext cx="2651760" cy="2651760"/>
          </a:xfrm>
          <a:prstGeom prst="ellipse">
            <a:avLst/>
          </a:prstGeom>
          <a:solidFill>
            <a:schemeClr val="bg2"/>
          </a:solidFill>
          <a:ln w="9525">
            <a:solidFill>
              <a:schemeClr val="accent5"/>
            </a:solidFill>
            <a:prstDash val="dash"/>
          </a:ln>
        </p:spPr>
      </p:sp>
      <p:sp>
        <p:nvSpPr>
          <p:cNvPr id="17" name="change"/>
          <p:cNvSpPr/>
          <p:nvPr/>
        </p:nvSpPr>
        <p:spPr>
          <a:xfrm>
            <a:off x="8622792" y="2953512"/>
            <a:ext cx="1133856" cy="1133856"/>
          </a:xfrm>
          <a:prstGeom prst="ellipse">
            <a:avLst/>
          </a:prstGeom>
          <a:solidFill>
            <a:schemeClr val="tx2"/>
          </a:solidFill>
          <a:ln/>
        </p:spPr>
      </p:sp>
      <p:sp>
        <p:nvSpPr>
          <p:cNvPr id="18" name="Text 13"/>
          <p:cNvSpPr txBox="1"/>
          <p:nvPr/>
        </p:nvSpPr>
        <p:spPr>
          <a:xfrm>
            <a:off x="8622792" y="2953512"/>
            <a:ext cx="1133856" cy="1133856"/>
          </a:xfrm>
          <a:prstGeom prst="rect">
            <a:avLst/>
          </a:prstGeom>
          <a:noFill/>
          <a:ln/>
        </p:spPr>
        <p:txBody>
          <a:bodyPr wrap="square" lIns="0" tIns="0" rIns="0" bIns="0" rtlCol="0" anchor="ctr"/>
          <a:lstStyle/>
          <a:p>
            <a:pPr algn="ctr" indent="0" marL="0">
              <a:buNone/>
            </a:pPr>
            <a:r>
              <a:rPr lang="en-US" sz="1200" b="1" dirty="0">
                <a:solidFill>
                  <a:schemeClr val="bg1"/>
                </a:solidFill>
              </a:rPr>
              <a:t>code change</a:t>
            </a:r>
            <a:endParaRPr lang="en-US" sz="1200" dirty="0"/>
          </a:p>
        </p:txBody>
      </p:sp>
      <p:sp>
        <p:nvSpPr>
          <p:cNvPr id="19" name="test"/>
          <p:cNvSpPr/>
          <p:nvPr/>
        </p:nvSpPr>
        <p:spPr>
          <a:xfrm>
            <a:off x="10040811" y="4208107"/>
            <a:ext cx="329184" cy="329184"/>
          </a:xfrm>
          <a:prstGeom prst="ellipse">
            <a:avLst/>
          </a:prstGeom>
          <a:solidFill>
            <a:schemeClr val="accent1"/>
          </a:solidFill>
          <a:ln w="19050">
            <a:solidFill>
              <a:schemeClr val="bg1"/>
            </a:solidFill>
            <a:prstDash val="solid"/>
          </a:ln>
        </p:spPr>
      </p:sp>
      <p:sp>
        <p:nvSpPr>
          <p:cNvPr id="20" name="test"/>
          <p:cNvSpPr/>
          <p:nvPr/>
        </p:nvSpPr>
        <p:spPr>
          <a:xfrm>
            <a:off x="8009445" y="4208107"/>
            <a:ext cx="329184" cy="329184"/>
          </a:xfrm>
          <a:prstGeom prst="ellipse">
            <a:avLst/>
          </a:prstGeom>
          <a:solidFill>
            <a:schemeClr val="accent5"/>
          </a:solidFill>
          <a:ln w="19050">
            <a:solidFill>
              <a:schemeClr val="bg1"/>
            </a:solidFill>
            <a:prstDash val="solid"/>
          </a:ln>
        </p:spPr>
      </p:sp>
      <p:sp>
        <p:nvSpPr>
          <p:cNvPr id="21" name="test"/>
          <p:cNvSpPr/>
          <p:nvPr/>
        </p:nvSpPr>
        <p:spPr>
          <a:xfrm>
            <a:off x="8571650" y="2109928"/>
            <a:ext cx="329184" cy="329184"/>
          </a:xfrm>
          <a:prstGeom prst="ellipse">
            <a:avLst/>
          </a:prstGeom>
          <a:solidFill>
            <a:schemeClr val="accent5"/>
          </a:solidFill>
          <a:ln w="19050">
            <a:solidFill>
              <a:schemeClr val="bg1"/>
            </a:solidFill>
            <a:prstDash val="solid"/>
          </a:ln>
        </p:spPr>
      </p:sp>
      <p:sp>
        <p:nvSpPr>
          <p:cNvPr id="22" name="test"/>
          <p:cNvSpPr/>
          <p:nvPr/>
        </p:nvSpPr>
        <p:spPr>
          <a:xfrm>
            <a:off x="10040811" y="2503589"/>
            <a:ext cx="329184" cy="329184"/>
          </a:xfrm>
          <a:prstGeom prst="ellipse">
            <a:avLst/>
          </a:prstGeom>
          <a:solidFill>
            <a:schemeClr val="accent5"/>
          </a:solidFill>
          <a:ln w="19050">
            <a:solidFill>
              <a:schemeClr val="bg1"/>
            </a:solidFill>
            <a:prstDash val="solid"/>
          </a:ln>
        </p:spPr>
      </p:sp>
      <p:sp>
        <p:nvSpPr>
          <p:cNvPr id="23" name="test"/>
          <p:cNvSpPr/>
          <p:nvPr/>
        </p:nvSpPr>
        <p:spPr>
          <a:xfrm>
            <a:off x="10961221" y="3697233"/>
            <a:ext cx="329184" cy="329184"/>
          </a:xfrm>
          <a:prstGeom prst="ellipse">
            <a:avLst/>
          </a:prstGeom>
          <a:solidFill>
            <a:schemeClr val="accent5"/>
          </a:solidFill>
          <a:ln w="19050">
            <a:solidFill>
              <a:schemeClr val="bg1"/>
            </a:solidFill>
            <a:prstDash val="solid"/>
          </a:ln>
        </p:spPr>
      </p:sp>
      <p:sp>
        <p:nvSpPr>
          <p:cNvPr id="24" name="test"/>
          <p:cNvSpPr/>
          <p:nvPr/>
        </p:nvSpPr>
        <p:spPr>
          <a:xfrm>
            <a:off x="9366513" y="5291941"/>
            <a:ext cx="329184" cy="329184"/>
          </a:xfrm>
          <a:prstGeom prst="ellipse">
            <a:avLst/>
          </a:prstGeom>
          <a:solidFill>
            <a:schemeClr val="accent5"/>
          </a:solidFill>
          <a:ln w="19050">
            <a:solidFill>
              <a:schemeClr val="bg1"/>
            </a:solidFill>
            <a:prstDash val="solid"/>
          </a:ln>
        </p:spPr>
      </p:sp>
      <p:sp>
        <p:nvSpPr>
          <p:cNvPr id="25" name="test"/>
          <p:cNvSpPr/>
          <p:nvPr/>
        </p:nvSpPr>
        <p:spPr>
          <a:xfrm>
            <a:off x="7089035" y="3014463"/>
            <a:ext cx="329184" cy="329184"/>
          </a:xfrm>
          <a:prstGeom prst="ellipse">
            <a:avLst/>
          </a:prstGeom>
          <a:solidFill>
            <a:schemeClr val="accent1"/>
          </a:solidFill>
          <a:ln w="19050">
            <a:solidFill>
              <a:schemeClr val="bg1"/>
            </a:solidFill>
            <a:prstDash val="solid"/>
          </a:ln>
        </p:spPr>
      </p:sp>
      <p:sp>
        <p:nvSpPr>
          <p:cNvPr id="26" name="test"/>
          <p:cNvSpPr/>
          <p:nvPr/>
        </p:nvSpPr>
        <p:spPr>
          <a:xfrm>
            <a:off x="7414708" y="2228220"/>
            <a:ext cx="329184" cy="329184"/>
          </a:xfrm>
          <a:prstGeom prst="ellipse">
            <a:avLst/>
          </a:prstGeom>
          <a:solidFill>
            <a:schemeClr val="accent5"/>
          </a:solidFill>
          <a:ln w="19050">
            <a:solidFill>
              <a:schemeClr val="bg1"/>
            </a:solidFill>
            <a:prstDash val="solid"/>
          </a:ln>
        </p:spPr>
      </p:sp>
      <p:sp>
        <p:nvSpPr>
          <p:cNvPr id="27" name="test"/>
          <p:cNvSpPr/>
          <p:nvPr/>
        </p:nvSpPr>
        <p:spPr>
          <a:xfrm>
            <a:off x="9533956" y="1456876"/>
            <a:ext cx="329184" cy="329184"/>
          </a:xfrm>
          <a:prstGeom prst="ellipse">
            <a:avLst/>
          </a:prstGeom>
          <a:solidFill>
            <a:schemeClr val="accent5"/>
          </a:solidFill>
          <a:ln w="19050">
            <a:solidFill>
              <a:schemeClr val="bg1"/>
            </a:solidFill>
            <a:prstDash val="solid"/>
          </a:ln>
        </p:spPr>
      </p:sp>
      <p:sp>
        <p:nvSpPr>
          <p:cNvPr id="28" name="legend failed"/>
          <p:cNvSpPr/>
          <p:nvPr/>
        </p:nvSpPr>
        <p:spPr>
          <a:xfrm>
            <a:off x="7589520" y="5833872"/>
            <a:ext cx="182880" cy="182880"/>
          </a:xfrm>
          <a:prstGeom prst="ellipse">
            <a:avLst/>
          </a:prstGeom>
          <a:solidFill>
            <a:schemeClr val="accent1"/>
          </a:solidFill>
          <a:ln/>
        </p:spPr>
      </p:sp>
      <p:sp>
        <p:nvSpPr>
          <p:cNvPr id="29" name="Text 24"/>
          <p:cNvSpPr txBox="1"/>
          <p:nvPr/>
        </p:nvSpPr>
        <p:spPr>
          <a:xfrm>
            <a:off x="7863840" y="5779008"/>
            <a:ext cx="3291840" cy="292608"/>
          </a:xfrm>
          <a:prstGeom prst="rect">
            <a:avLst/>
          </a:prstGeom>
          <a:noFill/>
          <a:ln/>
        </p:spPr>
        <p:txBody>
          <a:bodyPr wrap="square" lIns="0" tIns="0" rIns="0" bIns="0" rtlCol="0" anchor="t"/>
          <a:lstStyle/>
          <a:p>
            <a:pPr indent="0" marL="0">
              <a:buNone/>
            </a:pPr>
            <a:r>
              <a:rPr lang="en-US" sz="1200" dirty="0">
                <a:solidFill>
                  <a:schemeClr val="accent5"/>
                </a:solidFill>
              </a:rPr>
              <a:t>test failed in CI because of the change</a:t>
            </a:r>
            <a:endParaRPr lang="en-US" sz="1200" dirty="0"/>
          </a:p>
        </p:txBody>
      </p:sp>
      <p:sp>
        <p:nvSpPr>
          <p:cNvPr id="30" name="legend passed"/>
          <p:cNvSpPr/>
          <p:nvPr/>
        </p:nvSpPr>
        <p:spPr>
          <a:xfrm>
            <a:off x="7589520" y="6108192"/>
            <a:ext cx="182880" cy="182880"/>
          </a:xfrm>
          <a:prstGeom prst="ellipse">
            <a:avLst/>
          </a:prstGeom>
          <a:solidFill>
            <a:schemeClr val="accent5"/>
          </a:solidFill>
          <a:ln/>
        </p:spPr>
      </p:sp>
      <p:sp>
        <p:nvSpPr>
          <p:cNvPr id="31" name="Text 26"/>
          <p:cNvSpPr txBox="1"/>
          <p:nvPr/>
        </p:nvSpPr>
        <p:spPr>
          <a:xfrm>
            <a:off x="7863840" y="6053328"/>
            <a:ext cx="3291840" cy="292608"/>
          </a:xfrm>
          <a:prstGeom prst="rect">
            <a:avLst/>
          </a:prstGeom>
          <a:noFill/>
          <a:ln/>
        </p:spPr>
        <p:txBody>
          <a:bodyPr wrap="square" lIns="0" tIns="0" rIns="0" bIns="0" rtlCol="0" anchor="t"/>
          <a:lstStyle/>
          <a:p>
            <a:pPr indent="0" marL="0">
              <a:buNone/>
            </a:pPr>
            <a:r>
              <a:rPr lang="en-US" sz="1200" dirty="0">
                <a:solidFill>
                  <a:schemeClr val="accent5"/>
                </a:solidFill>
              </a:rPr>
              <a:t>test unaffected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Three research camps, three different labels</a:t>
            </a:r>
            <a:endParaRPr lang="en-US" sz="3200" dirty="0"/>
          </a:p>
        </p:txBody>
      </p:sp>
      <p:sp>
        <p:nvSpPr>
          <p:cNvPr id="3" name="card"/>
          <p:cNvSpPr/>
          <p:nvPr/>
        </p:nvSpPr>
        <p:spPr>
          <a:xfrm>
            <a:off x="548640" y="1417320"/>
            <a:ext cx="3520440" cy="3657600"/>
          </a:xfrm>
          <a:prstGeom prst="roundRect">
            <a:avLst>
              <a:gd name="adj" fmla="val 2597"/>
            </a:avLst>
          </a:prstGeom>
          <a:solidFill>
            <a:schemeClr val="bg2"/>
          </a:solidFill>
          <a:ln/>
        </p:spPr>
      </p:sp>
      <p:sp>
        <p:nvSpPr>
          <p:cNvPr id="4" name="icon circle"/>
          <p:cNvSpPr/>
          <p:nvPr/>
        </p:nvSpPr>
        <p:spPr>
          <a:xfrm>
            <a:off x="822960" y="1691640"/>
            <a:ext cx="640080" cy="640080"/>
          </a:xfrm>
          <a:prstGeom prst="ellipse">
            <a:avLst/>
          </a:prstGeom>
          <a:solidFill>
            <a:schemeClr val="tx2"/>
          </a:solidFill>
          <a:ln/>
        </p:spPr>
      </p:sp>
      <p:pic>
        <p:nvPicPr>
          <p:cNvPr id="5" name="Image 0" descr="code icon">    </p:cNvPr>
          <p:cNvPicPr>
            <a:picLocks noChangeAspect="1"/>
          </p:cNvPicPr>
          <p:nvPr/>
        </p:nvPicPr>
        <p:blipFill>
          <a:blip r:embed="rId1"/>
          <a:stretch>
            <a:fillRect/>
          </a:stretch>
        </p:blipFill>
        <p:spPr>
          <a:xfrm>
            <a:off x="976579" y="1845259"/>
            <a:ext cx="332842" cy="332842"/>
          </a:xfrm>
          <a:prstGeom prst="rect">
            <a:avLst/>
          </a:prstGeom>
        </p:spPr>
      </p:pic>
      <p:sp>
        <p:nvSpPr>
          <p:cNvPr id="6" name="Text 3"/>
          <p:cNvSpPr txBox="1"/>
          <p:nvPr/>
        </p:nvSpPr>
        <p:spPr>
          <a:xfrm>
            <a:off x="1600200" y="169164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Change impact analysis</a:t>
            </a:r>
            <a:endParaRPr lang="en-US" sz="1800" dirty="0"/>
          </a:p>
        </p:txBody>
      </p:sp>
      <p:sp>
        <p:nvSpPr>
          <p:cNvPr id="7" name="Text 4"/>
          <p:cNvSpPr txBox="1"/>
          <p:nvPr/>
        </p:nvSpPr>
        <p:spPr>
          <a:xfrm>
            <a:off x="822960" y="2468880"/>
            <a:ext cx="2971800" cy="320040"/>
          </a:xfrm>
          <a:prstGeom prst="rect">
            <a:avLst/>
          </a:prstGeom>
          <a:noFill/>
          <a:ln/>
        </p:spPr>
        <p:txBody>
          <a:bodyPr wrap="square" lIns="0" tIns="0" rIns="0" bIns="0" rtlCol="0" anchor="t"/>
          <a:lstStyle/>
          <a:p>
            <a:pPr indent="0" marL="0">
              <a:buNone/>
            </a:pPr>
            <a:r>
              <a:rPr lang="en-US" sz="1300" i="1" dirty="0">
                <a:solidFill>
                  <a:schemeClr val="accent5"/>
                </a:solidFill>
              </a:rPr>
              <a:t>Co-change mining</a:t>
            </a:r>
            <a:endParaRPr lang="en-US" sz="1300" dirty="0"/>
          </a:p>
        </p:txBody>
      </p:sp>
      <p:sp>
        <p:nvSpPr>
          <p:cNvPr id="8" name="Text 5"/>
          <p:cNvSpPr txBox="1"/>
          <p:nvPr/>
        </p:nvSpPr>
        <p:spPr>
          <a:xfrm>
            <a:off x="822960" y="2880360"/>
            <a:ext cx="2971800" cy="141732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Label</a:t>
            </a:r>
            <a:endParaRPr lang="en-US" sz="1500" dirty="0"/>
          </a:p>
          <a:p>
            <a:pPr indent="0" marL="0">
              <a:spcAft>
                <a:spcPts val="300"/>
              </a:spcAft>
              <a:buNone/>
            </a:pPr>
            <a:r>
              <a:rPr lang="en-US" sz="1500" dirty="0">
                <a:solidFill>
                  <a:schemeClr val="tx1"/>
                </a:solidFill>
              </a:rPr>
              <a:t>Files edited together in Git history</a:t>
            </a:r>
            <a:endParaRPr lang="en-US" sz="1500" dirty="0"/>
          </a:p>
          <a:p>
            <a:pPr indent="0" marL="0">
              <a:spcAft>
                <a:spcPts val="300"/>
              </a:spcAft>
              <a:buNone/>
            </a:pPr>
            <a:r>
              <a:rPr lang="en-US" sz="1200" b="1" dirty="0">
                <a:solidFill>
                  <a:schemeClr val="accent5"/>
                </a:solidFill>
              </a:rPr>
              <a:t>Data</a:t>
            </a:r>
            <a:endParaRPr lang="en-US" sz="1500" dirty="0"/>
          </a:p>
          <a:p>
            <a:pPr indent="0" marL="0">
              <a:spcAft>
                <a:spcPts val="300"/>
              </a:spcAft>
              <a:buNone/>
            </a:pPr>
            <a:r>
              <a:rPr lang="en-US" sz="1500" dirty="0">
                <a:solidFill>
                  <a:schemeClr val="tx1"/>
                </a:solidFill>
              </a:rPr>
              <a:t>Public</a:t>
            </a:r>
            <a:endParaRPr lang="en-US" sz="1500" dirty="0"/>
          </a:p>
        </p:txBody>
      </p:sp>
      <p:sp>
        <p:nvSpPr>
          <p:cNvPr id="9" name="verdict"/>
          <p:cNvSpPr/>
          <p:nvPr/>
        </p:nvSpPr>
        <p:spPr>
          <a:xfrm>
            <a:off x="822960" y="4343400"/>
            <a:ext cx="2971800" cy="548640"/>
          </a:xfrm>
          <a:prstGeom prst="roundRect">
            <a:avLst>
              <a:gd name="adj" fmla="val 13333"/>
            </a:avLst>
          </a:prstGeom>
          <a:solidFill>
            <a:schemeClr val="accent6"/>
          </a:solidFill>
          <a:ln/>
        </p:spPr>
      </p:sp>
      <p:sp>
        <p:nvSpPr>
          <p:cNvPr id="10" name="Text 7"/>
          <p:cNvSpPr txBox="1"/>
          <p:nvPr/>
        </p:nvSpPr>
        <p:spPr>
          <a:xfrm>
            <a:off x="914400" y="4343400"/>
            <a:ext cx="2788920" cy="548640"/>
          </a:xfrm>
          <a:prstGeom prst="rect">
            <a:avLst/>
          </a:prstGeom>
          <a:noFill/>
          <a:ln/>
        </p:spPr>
        <p:txBody>
          <a:bodyPr wrap="square" lIns="0" tIns="0" rIns="0" bIns="0" rtlCol="0" anchor="ctr"/>
          <a:lstStyle/>
          <a:p>
            <a:pPr indent="0" marL="0">
              <a:buNone/>
            </a:pPr>
            <a:r>
              <a:rPr lang="en-US" sz="1200" b="1" dirty="0">
                <a:solidFill>
                  <a:schemeClr val="bg1"/>
                </a:solidFill>
              </a:rPr>
              <a:t>Wrong label: records developer habits, not failures</a:t>
            </a:r>
            <a:endParaRPr lang="en-US" sz="1200" dirty="0"/>
          </a:p>
        </p:txBody>
      </p:sp>
      <p:sp>
        <p:nvSpPr>
          <p:cNvPr id="11" name="card"/>
          <p:cNvSpPr/>
          <p:nvPr/>
        </p:nvSpPr>
        <p:spPr>
          <a:xfrm>
            <a:off x="4370832" y="1417320"/>
            <a:ext cx="3520440" cy="3657600"/>
          </a:xfrm>
          <a:prstGeom prst="roundRect">
            <a:avLst>
              <a:gd name="adj" fmla="val 2597"/>
            </a:avLst>
          </a:prstGeom>
          <a:solidFill>
            <a:schemeClr val="bg2"/>
          </a:solidFill>
          <a:ln/>
        </p:spPr>
      </p:sp>
      <p:sp>
        <p:nvSpPr>
          <p:cNvPr id="12" name="icon circle"/>
          <p:cNvSpPr/>
          <p:nvPr/>
        </p:nvSpPr>
        <p:spPr>
          <a:xfrm>
            <a:off x="4645152" y="1691640"/>
            <a:ext cx="640080" cy="640080"/>
          </a:xfrm>
          <a:prstGeom prst="ellipse">
            <a:avLst/>
          </a:prstGeom>
          <a:solidFill>
            <a:schemeClr val="tx2"/>
          </a:solidFill>
          <a:ln/>
        </p:spPr>
      </p:sp>
      <p:pic>
        <p:nvPicPr>
          <p:cNvPr id="13" name="Image 1" descr="sitemap icon">    </p:cNvPr>
          <p:cNvPicPr>
            <a:picLocks noChangeAspect="1"/>
          </p:cNvPicPr>
          <p:nvPr/>
        </p:nvPicPr>
        <p:blipFill>
          <a:blip r:embed="rId2"/>
          <a:stretch>
            <a:fillRect/>
          </a:stretch>
        </p:blipFill>
        <p:spPr>
          <a:xfrm>
            <a:off x="4798771" y="1845259"/>
            <a:ext cx="332842" cy="332842"/>
          </a:xfrm>
          <a:prstGeom prst="rect">
            <a:avLst/>
          </a:prstGeom>
        </p:spPr>
      </p:pic>
      <p:sp>
        <p:nvSpPr>
          <p:cNvPr id="14" name="Text 10"/>
          <p:cNvSpPr txBox="1"/>
          <p:nvPr/>
        </p:nvSpPr>
        <p:spPr>
          <a:xfrm>
            <a:off x="5422392" y="169164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Regression test selection</a:t>
            </a:r>
            <a:endParaRPr lang="en-US" sz="1800" dirty="0"/>
          </a:p>
        </p:txBody>
      </p:sp>
      <p:sp>
        <p:nvSpPr>
          <p:cNvPr id="15" name="Text 11"/>
          <p:cNvSpPr txBox="1"/>
          <p:nvPr/>
        </p:nvSpPr>
        <p:spPr>
          <a:xfrm>
            <a:off x="4645152" y="2468880"/>
            <a:ext cx="2971800" cy="320040"/>
          </a:xfrm>
          <a:prstGeom prst="rect">
            <a:avLst/>
          </a:prstGeom>
          <a:noFill/>
          <a:ln/>
        </p:spPr>
        <p:txBody>
          <a:bodyPr wrap="square" lIns="0" tIns="0" rIns="0" bIns="0" rtlCol="0" anchor="t"/>
          <a:lstStyle/>
          <a:p>
            <a:pPr indent="0" marL="0">
              <a:buNone/>
            </a:pPr>
            <a:r>
              <a:rPr lang="en-US" sz="1300" i="1" dirty="0">
                <a:solidFill>
                  <a:schemeClr val="accent5"/>
                </a:solidFill>
              </a:rPr>
              <a:t>Ekstazi, STARTS</a:t>
            </a:r>
            <a:endParaRPr lang="en-US" sz="1300" dirty="0"/>
          </a:p>
        </p:txBody>
      </p:sp>
      <p:sp>
        <p:nvSpPr>
          <p:cNvPr id="16" name="Text 12"/>
          <p:cNvSpPr txBox="1"/>
          <p:nvPr/>
        </p:nvSpPr>
        <p:spPr>
          <a:xfrm>
            <a:off x="4645152" y="2880360"/>
            <a:ext cx="2971800" cy="141732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Label</a:t>
            </a:r>
            <a:endParaRPr lang="en-US" sz="1500" dirty="0"/>
          </a:p>
          <a:p>
            <a:pPr indent="0" marL="0">
              <a:spcAft>
                <a:spcPts val="300"/>
              </a:spcAft>
              <a:buNone/>
            </a:pPr>
            <a:r>
              <a:rPr lang="en-US" sz="1500" dirty="0">
                <a:solidFill>
                  <a:schemeClr val="tx1"/>
                </a:solidFill>
              </a:rPr>
              <a:t>Tests that can reach the changed code</a:t>
            </a:r>
            <a:endParaRPr lang="en-US" sz="1500" dirty="0"/>
          </a:p>
          <a:p>
            <a:pPr indent="0" marL="0">
              <a:spcAft>
                <a:spcPts val="300"/>
              </a:spcAft>
              <a:buNone/>
            </a:pPr>
            <a:r>
              <a:rPr lang="en-US" sz="1200" b="1" dirty="0">
                <a:solidFill>
                  <a:schemeClr val="accent5"/>
                </a:solidFill>
              </a:rPr>
              <a:t>Data</a:t>
            </a:r>
            <a:endParaRPr lang="en-US" sz="1500" dirty="0"/>
          </a:p>
          <a:p>
            <a:pPr indent="0" marL="0">
              <a:spcAft>
                <a:spcPts val="300"/>
              </a:spcAft>
              <a:buNone/>
            </a:pPr>
            <a:r>
              <a:rPr lang="en-US" sz="1500" dirty="0">
                <a:solidFill>
                  <a:schemeClr val="tx1"/>
                </a:solidFill>
              </a:rPr>
              <a:t>Public tools</a:t>
            </a:r>
            <a:endParaRPr lang="en-US" sz="1500" dirty="0"/>
          </a:p>
        </p:txBody>
      </p:sp>
      <p:sp>
        <p:nvSpPr>
          <p:cNvPr id="17" name="verdict"/>
          <p:cNvSpPr/>
          <p:nvPr/>
        </p:nvSpPr>
        <p:spPr>
          <a:xfrm>
            <a:off x="4645152" y="4343400"/>
            <a:ext cx="2971800" cy="548640"/>
          </a:xfrm>
          <a:prstGeom prst="roundRect">
            <a:avLst>
              <a:gd name="adj" fmla="val 13333"/>
            </a:avLst>
          </a:prstGeom>
          <a:solidFill>
            <a:schemeClr val="accent2"/>
          </a:solidFill>
          <a:ln/>
        </p:spPr>
      </p:sp>
      <p:sp>
        <p:nvSpPr>
          <p:cNvPr id="18" name="Text 14"/>
          <p:cNvSpPr txBox="1"/>
          <p:nvPr/>
        </p:nvSpPr>
        <p:spPr>
          <a:xfrm>
            <a:off x="4736592" y="4343400"/>
            <a:ext cx="2788920" cy="548640"/>
          </a:xfrm>
          <a:prstGeom prst="rect">
            <a:avLst/>
          </a:prstGeom>
          <a:noFill/>
          <a:ln/>
        </p:spPr>
        <p:txBody>
          <a:bodyPr wrap="square" lIns="0" tIns="0" rIns="0" bIns="0" rtlCol="0" anchor="ctr"/>
          <a:lstStyle/>
          <a:p>
            <a:pPr indent="0" marL="0">
              <a:buNone/>
            </a:pPr>
            <a:r>
              <a:rPr lang="en-US" sz="1200" b="1" dirty="0">
                <a:solidFill>
                  <a:schemeClr val="bg1"/>
                </a:solidFill>
              </a:rPr>
              <a:t>Safe over-approximation, not an observation</a:t>
            </a:r>
            <a:endParaRPr lang="en-US" sz="1200" dirty="0"/>
          </a:p>
        </p:txBody>
      </p:sp>
      <p:sp>
        <p:nvSpPr>
          <p:cNvPr id="19" name="card"/>
          <p:cNvSpPr/>
          <p:nvPr/>
        </p:nvSpPr>
        <p:spPr>
          <a:xfrm>
            <a:off x="8193024" y="1417320"/>
            <a:ext cx="3520440" cy="3657600"/>
          </a:xfrm>
          <a:prstGeom prst="roundRect">
            <a:avLst>
              <a:gd name="adj" fmla="val 2597"/>
            </a:avLst>
          </a:prstGeom>
          <a:solidFill>
            <a:schemeClr val="bg2"/>
          </a:solidFill>
          <a:ln/>
        </p:spPr>
      </p:sp>
      <p:sp>
        <p:nvSpPr>
          <p:cNvPr id="20" name="icon circle"/>
          <p:cNvSpPr/>
          <p:nvPr/>
        </p:nvSpPr>
        <p:spPr>
          <a:xfrm>
            <a:off x="8467344" y="1691640"/>
            <a:ext cx="640080" cy="640080"/>
          </a:xfrm>
          <a:prstGeom prst="ellipse">
            <a:avLst/>
          </a:prstGeom>
          <a:solidFill>
            <a:schemeClr val="tx2"/>
          </a:solidFill>
          <a:ln/>
        </p:spPr>
      </p:sp>
      <p:pic>
        <p:nvPicPr>
          <p:cNvPr id="21" name="Image 2" descr="bolt icon">    </p:cNvPr>
          <p:cNvPicPr>
            <a:picLocks noChangeAspect="1"/>
          </p:cNvPicPr>
          <p:nvPr/>
        </p:nvPicPr>
        <p:blipFill>
          <a:blip r:embed="rId3"/>
          <a:stretch>
            <a:fillRect/>
          </a:stretch>
        </p:blipFill>
        <p:spPr>
          <a:xfrm>
            <a:off x="8620963" y="1845259"/>
            <a:ext cx="332842" cy="332842"/>
          </a:xfrm>
          <a:prstGeom prst="rect">
            <a:avLst/>
          </a:prstGeom>
        </p:spPr>
      </p:pic>
      <p:sp>
        <p:nvSpPr>
          <p:cNvPr id="22" name="Text 17"/>
          <p:cNvSpPr txBox="1"/>
          <p:nvPr/>
        </p:nvSpPr>
        <p:spPr>
          <a:xfrm>
            <a:off x="9244584" y="169164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Predictive test selection</a:t>
            </a:r>
            <a:endParaRPr lang="en-US" sz="1800" dirty="0"/>
          </a:p>
        </p:txBody>
      </p:sp>
      <p:sp>
        <p:nvSpPr>
          <p:cNvPr id="23" name="Text 18"/>
          <p:cNvSpPr txBox="1"/>
          <p:nvPr/>
        </p:nvSpPr>
        <p:spPr>
          <a:xfrm>
            <a:off x="8467344" y="2468880"/>
            <a:ext cx="2971800" cy="320040"/>
          </a:xfrm>
          <a:prstGeom prst="rect">
            <a:avLst/>
          </a:prstGeom>
          <a:noFill/>
          <a:ln/>
        </p:spPr>
        <p:txBody>
          <a:bodyPr wrap="square" lIns="0" tIns="0" rIns="0" bIns="0" rtlCol="0" anchor="t"/>
          <a:lstStyle/>
          <a:p>
            <a:pPr indent="0" marL="0">
              <a:buNone/>
            </a:pPr>
            <a:r>
              <a:rPr lang="en-US" sz="1300" i="1" dirty="0">
                <a:solidFill>
                  <a:schemeClr val="accent5"/>
                </a:solidFill>
              </a:rPr>
              <a:t>Meta, Google</a:t>
            </a:r>
            <a:endParaRPr lang="en-US" sz="1300" dirty="0"/>
          </a:p>
        </p:txBody>
      </p:sp>
      <p:sp>
        <p:nvSpPr>
          <p:cNvPr id="24" name="Text 19"/>
          <p:cNvSpPr txBox="1"/>
          <p:nvPr/>
        </p:nvSpPr>
        <p:spPr>
          <a:xfrm>
            <a:off x="8467344" y="2880360"/>
            <a:ext cx="2971800" cy="141732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Label</a:t>
            </a:r>
            <a:endParaRPr lang="en-US" sz="1500" dirty="0"/>
          </a:p>
          <a:p>
            <a:pPr indent="0" marL="0">
              <a:spcAft>
                <a:spcPts val="300"/>
              </a:spcAft>
              <a:buNone/>
            </a:pPr>
            <a:r>
              <a:rPr lang="en-US" sz="1500" dirty="0">
                <a:solidFill>
                  <a:schemeClr val="tx1"/>
                </a:solidFill>
              </a:rPr>
              <a:t>Tests that actually failed in CI</a:t>
            </a:r>
            <a:endParaRPr lang="en-US" sz="1500" dirty="0"/>
          </a:p>
          <a:p>
            <a:pPr indent="0" marL="0">
              <a:spcAft>
                <a:spcPts val="300"/>
              </a:spcAft>
              <a:buNone/>
            </a:pPr>
            <a:r>
              <a:rPr lang="en-US" sz="1200" b="1" dirty="0">
                <a:solidFill>
                  <a:schemeClr val="accent5"/>
                </a:solidFill>
              </a:rPr>
              <a:t>Data</a:t>
            </a:r>
            <a:endParaRPr lang="en-US" sz="1500" dirty="0"/>
          </a:p>
          <a:p>
            <a:pPr indent="0" marL="0">
              <a:spcAft>
                <a:spcPts val="300"/>
              </a:spcAft>
              <a:buNone/>
            </a:pPr>
            <a:r>
              <a:rPr lang="en-US" sz="1500" dirty="0">
                <a:solidFill>
                  <a:schemeClr val="tx1"/>
                </a:solidFill>
              </a:rPr>
              <a:t>Proprietary</a:t>
            </a:r>
            <a:endParaRPr lang="en-US" sz="1500" dirty="0"/>
          </a:p>
        </p:txBody>
      </p:sp>
      <p:sp>
        <p:nvSpPr>
          <p:cNvPr id="25" name="verdict"/>
          <p:cNvSpPr/>
          <p:nvPr/>
        </p:nvSpPr>
        <p:spPr>
          <a:xfrm>
            <a:off x="8467344" y="4343400"/>
            <a:ext cx="2971800" cy="548640"/>
          </a:xfrm>
          <a:prstGeom prst="roundRect">
            <a:avLst>
              <a:gd name="adj" fmla="val 13333"/>
            </a:avLst>
          </a:prstGeom>
          <a:solidFill>
            <a:schemeClr val="accent6"/>
          </a:solidFill>
          <a:ln/>
        </p:spPr>
      </p:sp>
      <p:sp>
        <p:nvSpPr>
          <p:cNvPr id="26" name="Text 21"/>
          <p:cNvSpPr txBox="1"/>
          <p:nvPr/>
        </p:nvSpPr>
        <p:spPr>
          <a:xfrm>
            <a:off x="8558784" y="4343400"/>
            <a:ext cx="2788920" cy="548640"/>
          </a:xfrm>
          <a:prstGeom prst="rect">
            <a:avLst/>
          </a:prstGeom>
          <a:noFill/>
          <a:ln/>
        </p:spPr>
        <p:txBody>
          <a:bodyPr wrap="square" lIns="0" tIns="0" rIns="0" bIns="0" rtlCol="0" anchor="ctr"/>
          <a:lstStyle/>
          <a:p>
            <a:pPr indent="0" marL="0">
              <a:buNone/>
            </a:pPr>
            <a:r>
              <a:rPr lang="en-US" sz="1200" b="1" dirty="0">
                <a:solidFill>
                  <a:schemeClr val="bg1"/>
                </a:solidFill>
              </a:rPr>
              <a:t>Right label, but no one else can use the data</a:t>
            </a:r>
            <a:endParaRPr lang="en-US" sz="1200" dirty="0"/>
          </a:p>
        </p:txBody>
      </p:sp>
      <p:sp>
        <p:nvSpPr>
          <p:cNvPr id="27" name="takeaway"/>
          <p:cNvSpPr/>
          <p:nvPr/>
        </p:nvSpPr>
        <p:spPr>
          <a:xfrm>
            <a:off x="548640" y="5349240"/>
            <a:ext cx="11091672" cy="731520"/>
          </a:xfrm>
          <a:prstGeom prst="roundRect">
            <a:avLst>
              <a:gd name="adj" fmla="val 12500"/>
            </a:avLst>
          </a:prstGeom>
          <a:solidFill>
            <a:schemeClr val="tx2"/>
          </a:solidFill>
          <a:ln/>
        </p:spPr>
      </p:sp>
      <p:sp>
        <p:nvSpPr>
          <p:cNvPr id="28" name="Text 23"/>
          <p:cNvSpPr txBox="1"/>
          <p:nvPr/>
        </p:nvSpPr>
        <p:spPr>
          <a:xfrm>
            <a:off x="822960" y="5349240"/>
            <a:ext cx="10607040" cy="731520"/>
          </a:xfrm>
          <a:prstGeom prst="rect">
            <a:avLst/>
          </a:prstGeom>
          <a:noFill/>
          <a:ln/>
        </p:spPr>
        <p:txBody>
          <a:bodyPr wrap="square" lIns="0" tIns="0" rIns="0" bIns="0" rtlCol="0" anchor="ctr"/>
          <a:lstStyle/>
          <a:p>
            <a:pPr indent="0" marL="0">
              <a:buNone/>
            </a:pPr>
            <a:r>
              <a:rPr lang="en-US" sz="1700" b="1" dirty="0">
                <a:solidFill>
                  <a:schemeClr val="accent2"/>
                </a:solidFill>
              </a:rPr>
              <a:t>BlastRadius: </a:t>
            </a:r>
            <a:pPr indent="0" marL="0">
              <a:buNone/>
            </a:pPr>
            <a:r>
              <a:rPr lang="en-US" sz="1700" dirty="0">
                <a:solidFill>
                  <a:schemeClr val="bg1"/>
                </a:solidFill>
              </a:rPr>
              <a:t>the right label (tests that actually failed in CI) on public, open-source data.</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Objectives and contribution</a:t>
            </a:r>
            <a:endParaRPr lang="en-US" sz="3200" dirty="0"/>
          </a:p>
        </p:txBody>
      </p:sp>
      <p:sp>
        <p:nvSpPr>
          <p:cNvPr id="3" name="number badge"/>
          <p:cNvSpPr/>
          <p:nvPr/>
        </p:nvSpPr>
        <p:spPr>
          <a:xfrm>
            <a:off x="548640" y="1417320"/>
            <a:ext cx="566928" cy="566928"/>
          </a:xfrm>
          <a:prstGeom prst="ellipse">
            <a:avLst/>
          </a:prstGeom>
          <a:solidFill>
            <a:schemeClr val="accent1"/>
          </a:solidFill>
          <a:ln/>
        </p:spPr>
      </p:sp>
      <p:sp>
        <p:nvSpPr>
          <p:cNvPr id="4" name="Text 2"/>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1900" b="1" dirty="0">
                <a:solidFill>
                  <a:schemeClr val="bg1"/>
                </a:solidFill>
              </a:rPr>
              <a:t>1</a:t>
            </a:r>
            <a:endParaRPr lang="en-US" sz="1900" dirty="0"/>
          </a:p>
        </p:txBody>
      </p:sp>
      <p:sp>
        <p:nvSpPr>
          <p:cNvPr id="5" name="Text 3"/>
          <p:cNvSpPr txBox="1"/>
          <p:nvPr/>
        </p:nvSpPr>
        <p:spPr>
          <a:xfrm>
            <a:off x="1325880" y="1399032"/>
            <a:ext cx="5394960" cy="365760"/>
          </a:xfrm>
          <a:prstGeom prst="rect">
            <a:avLst/>
          </a:prstGeom>
          <a:noFill/>
          <a:ln/>
        </p:spPr>
        <p:txBody>
          <a:bodyPr wrap="square" lIns="0" tIns="0" rIns="0" bIns="0" rtlCol="0" anchor="t"/>
          <a:lstStyle/>
          <a:p>
            <a:pPr indent="0" marL="0">
              <a:buNone/>
            </a:pPr>
            <a:r>
              <a:rPr lang="en-US" sz="1800" b="1" dirty="0">
                <a:solidFill>
                  <a:schemeClr val="tx1"/>
                </a:solidFill>
              </a:rPr>
              <a:t>Build BR-Bench</a:t>
            </a:r>
            <a:endParaRPr lang="en-US" sz="1800" dirty="0"/>
          </a:p>
        </p:txBody>
      </p:sp>
      <p:sp>
        <p:nvSpPr>
          <p:cNvPr id="6" name="Text 4"/>
          <p:cNvSpPr txBox="1"/>
          <p:nvPr/>
        </p:nvSpPr>
        <p:spPr>
          <a:xfrm>
            <a:off x="1325880" y="1783080"/>
            <a:ext cx="5394960" cy="685800"/>
          </a:xfrm>
          <a:prstGeom prst="rect">
            <a:avLst/>
          </a:prstGeom>
          <a:noFill/>
          <a:ln/>
        </p:spPr>
        <p:txBody>
          <a:bodyPr wrap="square" lIns="0" tIns="0" rIns="0" bIns="0" rtlCol="0" anchor="t"/>
          <a:lstStyle/>
          <a:p>
            <a:pPr indent="0" marL="0">
              <a:buNone/>
            </a:pPr>
            <a:r>
              <a:rPr lang="en-US" sz="1400" dirty="0">
                <a:solidFill>
                  <a:schemeClr val="accent5"/>
                </a:solidFill>
              </a:rPr>
              <a:t>An execution-grounded dataset linking code changes to the individual tests that failed in GitHub Actions.</a:t>
            </a:r>
            <a:endParaRPr lang="en-US" sz="1400" dirty="0"/>
          </a:p>
        </p:txBody>
      </p:sp>
      <p:sp>
        <p:nvSpPr>
          <p:cNvPr id="7" name="number badge"/>
          <p:cNvSpPr/>
          <p:nvPr/>
        </p:nvSpPr>
        <p:spPr>
          <a:xfrm>
            <a:off x="548640" y="2587752"/>
            <a:ext cx="566928" cy="566928"/>
          </a:xfrm>
          <a:prstGeom prst="ellipse">
            <a:avLst/>
          </a:prstGeom>
          <a:solidFill>
            <a:schemeClr val="accent1"/>
          </a:solidFill>
          <a:ln/>
        </p:spPr>
      </p:sp>
      <p:sp>
        <p:nvSpPr>
          <p:cNvPr id="8" name="Text 6"/>
          <p:cNvSpPr txBox="1"/>
          <p:nvPr/>
        </p:nvSpPr>
        <p:spPr>
          <a:xfrm>
            <a:off x="548640" y="2587752"/>
            <a:ext cx="566928" cy="566928"/>
          </a:xfrm>
          <a:prstGeom prst="rect">
            <a:avLst/>
          </a:prstGeom>
          <a:noFill/>
          <a:ln/>
        </p:spPr>
        <p:txBody>
          <a:bodyPr wrap="square" lIns="0" tIns="0" rIns="0" bIns="0" rtlCol="0" anchor="ctr"/>
          <a:lstStyle/>
          <a:p>
            <a:pPr algn="ctr" indent="0" marL="0">
              <a:buNone/>
            </a:pPr>
            <a:r>
              <a:rPr lang="en-US" sz="1900" b="1" dirty="0">
                <a:solidFill>
                  <a:schemeClr val="bg1"/>
                </a:solidFill>
              </a:rPr>
              <a:t>2</a:t>
            </a:r>
            <a:endParaRPr lang="en-US" sz="1900" dirty="0"/>
          </a:p>
        </p:txBody>
      </p:sp>
      <p:sp>
        <p:nvSpPr>
          <p:cNvPr id="9" name="Text 7"/>
          <p:cNvSpPr txBox="1"/>
          <p:nvPr/>
        </p:nvSpPr>
        <p:spPr>
          <a:xfrm>
            <a:off x="1325880" y="2569464"/>
            <a:ext cx="5394960" cy="365760"/>
          </a:xfrm>
          <a:prstGeom prst="rect">
            <a:avLst/>
          </a:prstGeom>
          <a:noFill/>
          <a:ln/>
        </p:spPr>
        <p:txBody>
          <a:bodyPr wrap="square" lIns="0" tIns="0" rIns="0" bIns="0" rtlCol="0" anchor="t"/>
          <a:lstStyle/>
          <a:p>
            <a:pPr indent="0" marL="0">
              <a:buNone/>
            </a:pPr>
            <a:r>
              <a:rPr lang="en-US" sz="1800" b="1" dirty="0">
                <a:solidFill>
                  <a:schemeClr val="tx1"/>
                </a:solidFill>
              </a:rPr>
              <a:t>Measure the proxies</a:t>
            </a:r>
            <a:endParaRPr lang="en-US" sz="1800" dirty="0"/>
          </a:p>
        </p:txBody>
      </p:sp>
      <p:sp>
        <p:nvSpPr>
          <p:cNvPr id="10" name="Text 8"/>
          <p:cNvSpPr txBox="1"/>
          <p:nvPr/>
        </p:nvSpPr>
        <p:spPr>
          <a:xfrm>
            <a:off x="1325880" y="2953512"/>
            <a:ext cx="5394960" cy="685800"/>
          </a:xfrm>
          <a:prstGeom prst="rect">
            <a:avLst/>
          </a:prstGeom>
          <a:noFill/>
          <a:ln/>
        </p:spPr>
        <p:txBody>
          <a:bodyPr wrap="square" lIns="0" tIns="0" rIns="0" bIns="0" rtlCol="0" anchor="t"/>
          <a:lstStyle/>
          <a:p>
            <a:pPr indent="0" marL="0">
              <a:buNone/>
            </a:pPr>
            <a:r>
              <a:rPr lang="en-US" sz="1400" dirty="0">
                <a:solidFill>
                  <a:schemeClr val="accent5"/>
                </a:solidFill>
              </a:rPr>
              <a:t>Quantify how far co-change predictions diverge from the tests that actually failed.</a:t>
            </a:r>
            <a:endParaRPr lang="en-US" sz="1400" dirty="0"/>
          </a:p>
        </p:txBody>
      </p:sp>
      <p:sp>
        <p:nvSpPr>
          <p:cNvPr id="11" name="number badge"/>
          <p:cNvSpPr/>
          <p:nvPr/>
        </p:nvSpPr>
        <p:spPr>
          <a:xfrm>
            <a:off x="548640" y="3758184"/>
            <a:ext cx="566928" cy="566928"/>
          </a:xfrm>
          <a:prstGeom prst="ellipse">
            <a:avLst/>
          </a:prstGeom>
          <a:solidFill>
            <a:schemeClr val="accent1"/>
          </a:solidFill>
          <a:ln/>
        </p:spPr>
      </p:sp>
      <p:sp>
        <p:nvSpPr>
          <p:cNvPr id="12" name="Text 10"/>
          <p:cNvSpPr txBox="1"/>
          <p:nvPr/>
        </p:nvSpPr>
        <p:spPr>
          <a:xfrm>
            <a:off x="548640" y="3758184"/>
            <a:ext cx="566928" cy="566928"/>
          </a:xfrm>
          <a:prstGeom prst="rect">
            <a:avLst/>
          </a:prstGeom>
          <a:noFill/>
          <a:ln/>
        </p:spPr>
        <p:txBody>
          <a:bodyPr wrap="square" lIns="0" tIns="0" rIns="0" bIns="0" rtlCol="0" anchor="ctr"/>
          <a:lstStyle/>
          <a:p>
            <a:pPr algn="ctr" indent="0" marL="0">
              <a:buNone/>
            </a:pPr>
            <a:r>
              <a:rPr lang="en-US" sz="1900" b="1" dirty="0">
                <a:solidFill>
                  <a:schemeClr val="bg1"/>
                </a:solidFill>
              </a:rPr>
              <a:t>3</a:t>
            </a:r>
            <a:endParaRPr lang="en-US" sz="1900" dirty="0"/>
          </a:p>
        </p:txBody>
      </p:sp>
      <p:sp>
        <p:nvSpPr>
          <p:cNvPr id="13" name="Text 11"/>
          <p:cNvSpPr txBox="1"/>
          <p:nvPr/>
        </p:nvSpPr>
        <p:spPr>
          <a:xfrm>
            <a:off x="1325880" y="3739896"/>
            <a:ext cx="5394960" cy="365760"/>
          </a:xfrm>
          <a:prstGeom prst="rect">
            <a:avLst/>
          </a:prstGeom>
          <a:noFill/>
          <a:ln/>
        </p:spPr>
        <p:txBody>
          <a:bodyPr wrap="square" lIns="0" tIns="0" rIns="0" bIns="0" rtlCol="0" anchor="t"/>
          <a:lstStyle/>
          <a:p>
            <a:pPr indent="0" marL="0">
              <a:buNone/>
            </a:pPr>
            <a:r>
              <a:rPr lang="en-US" sz="1800" b="1" dirty="0">
                <a:solidFill>
                  <a:schemeClr val="tx1"/>
                </a:solidFill>
              </a:rPr>
              <a:t>Commit-pinned code graph</a:t>
            </a:r>
            <a:endParaRPr lang="en-US" sz="1800" dirty="0"/>
          </a:p>
        </p:txBody>
      </p:sp>
      <p:sp>
        <p:nvSpPr>
          <p:cNvPr id="14" name="Text 12"/>
          <p:cNvSpPr txBox="1"/>
          <p:nvPr/>
        </p:nvSpPr>
        <p:spPr>
          <a:xfrm>
            <a:off x="1325880" y="4123944"/>
            <a:ext cx="5394960" cy="685800"/>
          </a:xfrm>
          <a:prstGeom prst="rect">
            <a:avLst/>
          </a:prstGeom>
          <a:noFill/>
          <a:ln/>
        </p:spPr>
        <p:txBody>
          <a:bodyPr wrap="square" lIns="0" tIns="0" rIns="0" bIns="0" rtlCol="0" anchor="t"/>
          <a:lstStyle/>
          <a:p>
            <a:pPr indent="0" marL="0">
              <a:buNone/>
            </a:pPr>
            <a:r>
              <a:rPr lang="en-US" sz="1400" dirty="0">
                <a:solidFill>
                  <a:schemeClr val="accent5"/>
                </a:solidFill>
              </a:rPr>
              <a:t>Files, classes, methods and tests with their dependencies, as a substrate for dependency analysis.</a:t>
            </a:r>
            <a:endParaRPr lang="en-US" sz="1400" dirty="0"/>
          </a:p>
        </p:txBody>
      </p:sp>
      <p:sp>
        <p:nvSpPr>
          <p:cNvPr id="15" name="number badge"/>
          <p:cNvSpPr/>
          <p:nvPr/>
        </p:nvSpPr>
        <p:spPr>
          <a:xfrm>
            <a:off x="548640" y="4928616"/>
            <a:ext cx="566928" cy="566928"/>
          </a:xfrm>
          <a:prstGeom prst="ellipse">
            <a:avLst/>
          </a:prstGeom>
          <a:solidFill>
            <a:schemeClr val="accent1"/>
          </a:solidFill>
          <a:ln/>
        </p:spPr>
      </p:sp>
      <p:sp>
        <p:nvSpPr>
          <p:cNvPr id="16" name="Text 14"/>
          <p:cNvSpPr txBox="1"/>
          <p:nvPr/>
        </p:nvSpPr>
        <p:spPr>
          <a:xfrm>
            <a:off x="548640" y="4928616"/>
            <a:ext cx="566928" cy="566928"/>
          </a:xfrm>
          <a:prstGeom prst="rect">
            <a:avLst/>
          </a:prstGeom>
          <a:noFill/>
          <a:ln/>
        </p:spPr>
        <p:txBody>
          <a:bodyPr wrap="square" lIns="0" tIns="0" rIns="0" bIns="0" rtlCol="0" anchor="ctr"/>
          <a:lstStyle/>
          <a:p>
            <a:pPr algn="ctr" indent="0" marL="0">
              <a:buNone/>
            </a:pPr>
            <a:r>
              <a:rPr lang="en-US" sz="1900" b="1" dirty="0">
                <a:solidFill>
                  <a:schemeClr val="bg1"/>
                </a:solidFill>
              </a:rPr>
              <a:t>4</a:t>
            </a:r>
            <a:endParaRPr lang="en-US" sz="1900" dirty="0"/>
          </a:p>
        </p:txBody>
      </p:sp>
      <p:sp>
        <p:nvSpPr>
          <p:cNvPr id="17" name="Text 15"/>
          <p:cNvSpPr txBox="1"/>
          <p:nvPr/>
        </p:nvSpPr>
        <p:spPr>
          <a:xfrm>
            <a:off x="1325880" y="4910328"/>
            <a:ext cx="5394960" cy="365760"/>
          </a:xfrm>
          <a:prstGeom prst="rect">
            <a:avLst/>
          </a:prstGeom>
          <a:noFill/>
          <a:ln/>
        </p:spPr>
        <p:txBody>
          <a:bodyPr wrap="square" lIns="0" tIns="0" rIns="0" bIns="0" rtlCol="0" anchor="t"/>
          <a:lstStyle/>
          <a:p>
            <a:pPr indent="0" marL="0">
              <a:buNone/>
            </a:pPr>
            <a:r>
              <a:rPr lang="en-US" sz="1800" b="1" dirty="0">
                <a:solidFill>
                  <a:schemeClr val="tx1"/>
                </a:solidFill>
              </a:rPr>
              <a:t>Reproducible by construction</a:t>
            </a:r>
            <a:endParaRPr lang="en-US" sz="1800" dirty="0"/>
          </a:p>
        </p:txBody>
      </p:sp>
      <p:sp>
        <p:nvSpPr>
          <p:cNvPr id="18" name="Text 16"/>
          <p:cNvSpPr txBox="1"/>
          <p:nvPr/>
        </p:nvSpPr>
        <p:spPr>
          <a:xfrm>
            <a:off x="1325880" y="5294376"/>
            <a:ext cx="5394960" cy="685800"/>
          </a:xfrm>
          <a:prstGeom prst="rect">
            <a:avLst/>
          </a:prstGeom>
          <a:noFill/>
          <a:ln/>
        </p:spPr>
        <p:txBody>
          <a:bodyPr wrap="square" lIns="0" tIns="0" rIns="0" bIns="0" rtlCol="0" anchor="t"/>
          <a:lstStyle/>
          <a:p>
            <a:pPr indent="0" marL="0">
              <a:buNone/>
            </a:pPr>
            <a:r>
              <a:rPr lang="en-US" sz="1400" dirty="0">
                <a:solidFill>
                  <a:schemeClr val="accent5"/>
                </a:solidFill>
              </a:rPr>
              <a:t>Deterministic pipeline: every number regenerates from raw logs with one command.</a:t>
            </a:r>
            <a:endParaRPr lang="en-US" sz="1400" dirty="0"/>
          </a:p>
        </p:txBody>
      </p:sp>
      <p:sp>
        <p:nvSpPr>
          <p:cNvPr id="19" name="claim card"/>
          <p:cNvSpPr/>
          <p:nvPr/>
        </p:nvSpPr>
        <p:spPr>
          <a:xfrm>
            <a:off x="7178040" y="1417320"/>
            <a:ext cx="4462272" cy="4480560"/>
          </a:xfrm>
          <a:prstGeom prst="roundRect">
            <a:avLst>
              <a:gd name="adj" fmla="val 2049"/>
            </a:avLst>
          </a:prstGeom>
          <a:solidFill>
            <a:schemeClr val="tx2"/>
          </a:solidFill>
          <a:ln/>
        </p:spPr>
      </p:sp>
      <p:sp>
        <p:nvSpPr>
          <p:cNvPr id="20" name="icon circle"/>
          <p:cNvSpPr/>
          <p:nvPr/>
        </p:nvSpPr>
        <p:spPr>
          <a:xfrm>
            <a:off x="7498080" y="1737360"/>
            <a:ext cx="640080" cy="640080"/>
          </a:xfrm>
          <a:prstGeom prst="ellipse">
            <a:avLst/>
          </a:prstGeom>
          <a:solidFill>
            <a:schemeClr val="accent1"/>
          </a:solidFill>
          <a:ln/>
        </p:spPr>
      </p:sp>
      <p:pic>
        <p:nvPicPr>
          <p:cNvPr id="21" name="Image 0" descr="target icon">    </p:cNvPr>
          <p:cNvPicPr>
            <a:picLocks noChangeAspect="1"/>
          </p:cNvPicPr>
          <p:nvPr/>
        </p:nvPicPr>
        <p:blipFill>
          <a:blip r:embed="rId1"/>
          <a:stretch>
            <a:fillRect/>
          </a:stretch>
        </p:blipFill>
        <p:spPr>
          <a:xfrm>
            <a:off x="7651699" y="1890979"/>
            <a:ext cx="332842" cy="332842"/>
          </a:xfrm>
          <a:prstGeom prst="rect">
            <a:avLst/>
          </a:prstGeom>
        </p:spPr>
      </p:pic>
      <p:sp>
        <p:nvSpPr>
          <p:cNvPr id="22" name="Text 19"/>
          <p:cNvSpPr txBox="1"/>
          <p:nvPr/>
        </p:nvSpPr>
        <p:spPr>
          <a:xfrm>
            <a:off x="8275320" y="1737360"/>
            <a:ext cx="3200400" cy="640080"/>
          </a:xfrm>
          <a:prstGeom prst="rect">
            <a:avLst/>
          </a:prstGeom>
          <a:noFill/>
          <a:ln/>
        </p:spPr>
        <p:txBody>
          <a:bodyPr wrap="square" lIns="0" tIns="0" rIns="0" bIns="0" rtlCol="0" anchor="ctr"/>
          <a:lstStyle/>
          <a:p>
            <a:pPr indent="0" marL="0">
              <a:buNone/>
            </a:pPr>
            <a:r>
              <a:rPr lang="en-US" sz="2000" b="1" dirty="0">
                <a:solidFill>
                  <a:schemeClr val="bg1"/>
                </a:solidFill>
              </a:rPr>
              <a:t>What we claim</a:t>
            </a:r>
            <a:endParaRPr lang="en-US" sz="2000" dirty="0"/>
          </a:p>
        </p:txBody>
      </p:sp>
      <p:sp>
        <p:nvSpPr>
          <p:cNvPr id="23" name="Text 20"/>
          <p:cNvSpPr txBox="1"/>
          <p:nvPr/>
        </p:nvSpPr>
        <p:spPr>
          <a:xfrm>
            <a:off x="7498080" y="2606040"/>
            <a:ext cx="3840480" cy="3017520"/>
          </a:xfrm>
          <a:prstGeom prst="rect">
            <a:avLst/>
          </a:prstGeom>
          <a:noFill/>
          <a:ln/>
        </p:spPr>
        <p:txBody>
          <a:bodyPr wrap="square" lIns="0" tIns="0" rIns="0" bIns="0" rtlCol="0" anchor="t"/>
          <a:lstStyle/>
          <a:p>
            <a:pPr indent="0" marL="0">
              <a:buNone/>
            </a:pPr>
            <a:r>
              <a:rPr lang="en-US" sz="1500" dirty="0">
                <a:solidFill>
                  <a:schemeClr val="bg1"/>
                </a:solidFill>
              </a:rPr>
              <a:t>The contribution is the dataset and the measurement, not a new prediction model (decision D-02).</a:t>
            </a:r>
            <a:endParaRPr lang="en-US" sz="1500" dirty="0"/>
          </a:p>
          <a:p>
            <a:pPr indent="0" marL="0">
              <a:buNone/>
            </a:pPr>
            <a:r>
              <a:rPr lang="en-US" sz="800" dirty="0">
                <a:solidFill>
                  <a:schemeClr val="bg1"/>
                </a:solidFill>
              </a:rPr>
              <a:t> </a:t>
            </a:r>
            <a:endParaRPr lang="en-US" sz="1500" dirty="0"/>
          </a:p>
          <a:p>
            <a:pPr indent="0" marL="0">
              <a:buNone/>
            </a:pPr>
            <a:r>
              <a:rPr lang="en-US" sz="1500" dirty="0">
                <a:solidFill>
                  <a:schemeClr val="bg1"/>
                </a:solidFill>
              </a:rPr>
              <a:t>A predictor that loses to a simple baseline is still a publishable finding.</a:t>
            </a:r>
            <a:endParaRPr lang="en-US" sz="1500" dirty="0"/>
          </a:p>
          <a:p>
            <a:pPr indent="0" marL="0">
              <a:buNone/>
            </a:pPr>
            <a:r>
              <a:rPr lang="en-US" sz="800" dirty="0">
                <a:solidFill>
                  <a:schemeClr val="bg1"/>
                </a:solidFill>
              </a:rPr>
              <a:t> </a:t>
            </a:r>
            <a:endParaRPr lang="en-US" sz="1500" dirty="0"/>
          </a:p>
          <a:p>
            <a:pPr indent="0" marL="0">
              <a:buNone/>
            </a:pPr>
            <a:r>
              <a:rPr lang="en-US" sz="1500" b="1" dirty="0">
                <a:solidFill>
                  <a:schemeClr val="accent2"/>
                </a:solidFill>
              </a:rPr>
              <a:t>Target venue: MSR 2027 Data &amp; Tool Showcase.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Literature survey: the seven approved papers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743200"/>
                <a:gridCol w="4206240"/>
                <a:gridCol w="4142232"/>
              </a:tblGrid>
              <a:tr h="475488">
                <a:tc>
                  <a:txBody>
                    <a:bodyPr/>
                    <a:lstStyle/>
                    <a:p>
                      <a:pPr indent="0" marL="0">
                        <a:buNone/>
                      </a:pPr>
                      <a:r>
                        <a:rPr lang="en-US" sz="1300" b="1" dirty="0">
                          <a:solidFill>
                            <a:schemeClr val="bg1"/>
                          </a:solidFill>
                        </a:rPr>
                        <a:t>Paper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What it does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Gap BlastRadius addresses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75488">
                <a:tc>
                  <a:txBody>
                    <a:bodyPr/>
                    <a:lstStyle/>
                    <a:p>
                      <a:pPr indent="0" marL="0">
                        <a:buNone/>
                      </a:pPr>
                      <a:r>
                        <a:rPr lang="en-US" sz="1300" b="1" dirty="0">
                          <a:solidFill>
                            <a:schemeClr val="tx1"/>
                          </a:solidFill>
                        </a:rPr>
                        <a:t>Borg et al., IEEE TSE 2017</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Recommendation-based impact analysis in one industrial, safety-critical system</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Proprietary single system; ground truth from change requests, not CI</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300" b="1" dirty="0">
                          <a:solidFill>
                            <a:schemeClr val="tx1"/>
                          </a:solidFill>
                        </a:rPr>
                        <a:t>Huang et al., IEEE TSE 2022</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Change-pattern mining (co-change labels)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Predicts what changes together, not which tests fail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300" b="1" dirty="0">
                          <a:solidFill>
                            <a:schemeClr val="tx1"/>
                          </a:solidFill>
                        </a:rPr>
                        <a:t>Dai et al., Computer Comm. 2022</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Improved static impact analysis for C programs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Static only; no validation against execution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300" b="1" dirty="0">
                          <a:solidFill>
                            <a:schemeClr val="tx1"/>
                          </a:solidFill>
                        </a:rPr>
                        <a:t>Zhao et al., JSME 2002</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Architectural slicing; component-level impact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Architecture-level and analytical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300" b="1" dirty="0">
                          <a:solidFill>
                            <a:schemeClr val="tx1"/>
                          </a:solidFill>
                        </a:rPr>
                        <a:t>Angerer et al., ICSME 2016</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Modular impact analysis for configurable software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Configuration space; an orthogonal problem</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300" b="1" dirty="0">
                          <a:solidFill>
                            <a:schemeClr val="tx1"/>
                          </a:solidFill>
                        </a:rPr>
                        <a:t>Zhang et al., ICSM 2008</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Atomic-change impact analysis for AspectJ</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Taxonomy only; not validated against execution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300" b="1" dirty="0">
                          <a:solidFill>
                            <a:schemeClr val="tx1"/>
                          </a:solidFill>
                        </a:rPr>
                        <a:t>Gupta &amp; Gupta, IJSSOE 2015</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Computes and ranks impacted functions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Small examples; ranks functions, not tests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synthesis"/>
          <p:cNvSpPr/>
          <p:nvPr/>
        </p:nvSpPr>
        <p:spPr>
          <a:xfrm>
            <a:off x="548640" y="5394960"/>
            <a:ext cx="11091672" cy="640080"/>
          </a:xfrm>
          <a:prstGeom prst="roundRect">
            <a:avLst>
              <a:gd name="adj" fmla="val 14286"/>
            </a:avLst>
          </a:prstGeom>
          <a:solidFill>
            <a:schemeClr val="bg2"/>
          </a:solidFill>
          <a:ln/>
        </p:spPr>
      </p:sp>
      <p:sp>
        <p:nvSpPr>
          <p:cNvPr id="5" name="icon circle"/>
          <p:cNvSpPr/>
          <p:nvPr/>
        </p:nvSpPr>
        <p:spPr>
          <a:xfrm>
            <a:off x="713232" y="5468112"/>
            <a:ext cx="493776" cy="493776"/>
          </a:xfrm>
          <a:prstGeom prst="ellipse">
            <a:avLst/>
          </a:prstGeom>
          <a:solidFill>
            <a:schemeClr val="accent1"/>
          </a:solidFill>
          <a:ln/>
        </p:spPr>
      </p:sp>
      <p:pic>
        <p:nvPicPr>
          <p:cNvPr id="6" name="Image 0" descr="search icon">    </p:cNvPr>
          <p:cNvPicPr>
            <a:picLocks noChangeAspect="1"/>
          </p:cNvPicPr>
          <p:nvPr/>
        </p:nvPicPr>
        <p:blipFill>
          <a:blip r:embed="rId1"/>
          <a:stretch>
            <a:fillRect/>
          </a:stretch>
        </p:blipFill>
        <p:spPr>
          <a:xfrm>
            <a:off x="831738" y="5586618"/>
            <a:ext cx="256764" cy="256764"/>
          </a:xfrm>
          <a:prstGeom prst="rect">
            <a:avLst/>
          </a:prstGeom>
        </p:spPr>
      </p:pic>
      <p:sp>
        <p:nvSpPr>
          <p:cNvPr id="7" name="Text 3"/>
          <p:cNvSpPr txBox="1"/>
          <p:nvPr/>
        </p:nvSpPr>
        <p:spPr>
          <a:xfrm>
            <a:off x="1371600" y="5394960"/>
            <a:ext cx="10058400" cy="640080"/>
          </a:xfrm>
          <a:prstGeom prst="rect">
            <a:avLst/>
          </a:prstGeom>
          <a:noFill/>
          <a:ln/>
        </p:spPr>
        <p:txBody>
          <a:bodyPr wrap="square" lIns="0" tIns="0" rIns="0" bIns="0" rtlCol="0" anchor="ctr"/>
          <a:lstStyle/>
          <a:p>
            <a:pPr indent="0" marL="0">
              <a:buNone/>
            </a:pPr>
            <a:r>
              <a:rPr lang="en-US" sz="1500" b="1" dirty="0">
                <a:solidFill>
                  <a:schemeClr val="tx1"/>
                </a:solidFill>
              </a:rPr>
              <a:t>None of the seven validates its impact set against the tests that actually failed in a real CI pipeline, because no public dataset made that possible.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Closest work, and what BR-Bench adds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959352"/>
                <a:gridCol w="1828800"/>
                <a:gridCol w="1645920"/>
                <a:gridCol w="1645920"/>
                <a:gridCol w="2011680"/>
              </a:tblGrid>
              <a:tr h="512064">
                <a:tc>
                  <a:txBody>
                    <a:bodyPr/>
                    <a:lstStyle/>
                    <a:p>
                      <a:pPr indent="0" marL="0">
                        <a:buNone/>
                      </a:pPr>
                      <a:r>
                        <a:rPr lang="en-US" sz="1300" b="1" dirty="0">
                          <a:solidFill>
                            <a:schemeClr val="bg1"/>
                          </a:solidFill>
                        </a:rPr>
                        <a:t>Work</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rPr>
                        <a:t>Label = observed CI failure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rPr>
                        <a:t>Public data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rPr>
                        <a:t>Per-test verdicts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00" b="1" dirty="0">
                          <a:solidFill>
                            <a:schemeClr val="bg1"/>
                          </a:solidFill>
                        </a:rPr>
                        <a:t>Linked to the PR diff</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400" dirty="0">
                          <a:solidFill>
                            <a:schemeClr val="tx1"/>
                          </a:solidFill>
                        </a:rPr>
                        <a:t>Co-change impact analysis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6"/>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6"/>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dirty="0">
                          <a:solidFill>
                            <a:schemeClr val="tx1"/>
                          </a:solidFill>
                        </a:rPr>
                        <a:t>RTS tools (Ekstazi, STARTS)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i="1" dirty="0">
                          <a:solidFill>
                            <a:schemeClr val="accent5"/>
                          </a:solidFill>
                        </a:rPr>
                        <a:t>reachability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dirty="0">
                          <a:solidFill>
                            <a:schemeClr val="tx1"/>
                          </a:solidFill>
                        </a:rPr>
                        <a:t>Predictive test selection (Meta 2019, Google 2017)</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6"/>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dirty="0">
                          <a:solidFill>
                            <a:schemeClr val="tx1"/>
                          </a:solidFill>
                        </a:rPr>
                        <a:t>RTPTorrent (MSR 2020)</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i="1" dirty="0">
                          <a:solidFill>
                            <a:schemeClr val="accent5"/>
                          </a:solidFill>
                        </a:rPr>
                        <a:t>Travis build jobs, no PR diff</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dirty="0">
                          <a:solidFill>
                            <a:schemeClr val="tx1"/>
                          </a:solidFill>
                        </a:rPr>
                        <a:t>GHALogs (MSR 2025)</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i="1" dirty="0">
                          <a:solidFill>
                            <a:schemeClr val="accent5"/>
                          </a:solidFill>
                        </a:rPr>
                        <a:t>raw logs only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4"/>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6"/>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800" b="1" dirty="0">
                          <a:solidFill>
                            <a:schemeClr val="accent6"/>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b="1" dirty="0">
                          <a:solidFill>
                            <a:schemeClr val="bg1"/>
                          </a:solidFill>
                        </a:rPr>
                        <a:t>BR-Bench (ours)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1800" b="1" dirty="0">
                          <a:solidFill>
                            <a:schemeClr val="bg1"/>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1800" b="1" dirty="0">
                          <a:solidFill>
                            <a:schemeClr val="bg1"/>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1800" b="1" dirty="0">
                          <a:solidFill>
                            <a:schemeClr val="bg1"/>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1800" b="1" dirty="0">
                          <a:solidFill>
                            <a:schemeClr val="bg1"/>
                          </a:solidFill>
                        </a:rPr>
                        <a:t>✓</a:t>
                      </a:r>
                      <a:endParaRPr lang="en-US" sz="18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1"/>
                    </a:solidFill>
                  </a:tcPr>
                </a:tc>
              </a:tr>
            </a:tbl>
          </a:graphicData>
        </a:graphic>
      </p:graphicFrame>
      <p:sp>
        <p:nvSpPr>
          <p:cNvPr id="4" name="advantage"/>
          <p:cNvSpPr/>
          <p:nvPr/>
        </p:nvSpPr>
        <p:spPr>
          <a:xfrm>
            <a:off x="548640" y="5166360"/>
            <a:ext cx="11091672" cy="868680"/>
          </a:xfrm>
          <a:prstGeom prst="roundRect">
            <a:avLst>
              <a:gd name="adj" fmla="val 10526"/>
            </a:avLst>
          </a:prstGeom>
          <a:solidFill>
            <a:schemeClr val="bg2"/>
          </a:solidFill>
          <a:ln/>
        </p:spPr>
      </p:sp>
      <p:sp>
        <p:nvSpPr>
          <p:cNvPr id="5" name="icon circle"/>
          <p:cNvSpPr/>
          <p:nvPr/>
        </p:nvSpPr>
        <p:spPr>
          <a:xfrm>
            <a:off x="731520" y="5330952"/>
            <a:ext cx="548640" cy="548640"/>
          </a:xfrm>
          <a:prstGeom prst="ellipse">
            <a:avLst/>
          </a:prstGeom>
          <a:solidFill>
            <a:schemeClr val="accent1"/>
          </a:solidFill>
          <a:ln/>
        </p:spPr>
      </p:sp>
      <p:pic>
        <p:nvPicPr>
          <p:cNvPr id="6" name="Image 0" descr="shield icon">    </p:cNvPr>
          <p:cNvPicPr>
            <a:picLocks noChangeAspect="1"/>
          </p:cNvPicPr>
          <p:nvPr/>
        </p:nvPicPr>
        <p:blipFill>
          <a:blip r:embed="rId1"/>
          <a:stretch>
            <a:fillRect/>
          </a:stretch>
        </p:blipFill>
        <p:spPr>
          <a:xfrm>
            <a:off x="863194" y="5462626"/>
            <a:ext cx="285293" cy="285293"/>
          </a:xfrm>
          <a:prstGeom prst="rect">
            <a:avLst/>
          </a:prstGeom>
        </p:spPr>
      </p:pic>
      <p:sp>
        <p:nvSpPr>
          <p:cNvPr id="7" name="Text 3"/>
          <p:cNvSpPr txBox="1"/>
          <p:nvPr/>
        </p:nvSpPr>
        <p:spPr>
          <a:xfrm>
            <a:off x="1463040" y="5166360"/>
            <a:ext cx="9966960" cy="868680"/>
          </a:xfrm>
          <a:prstGeom prst="rect">
            <a:avLst/>
          </a:prstGeom>
          <a:noFill/>
          <a:ln/>
        </p:spPr>
        <p:txBody>
          <a:bodyPr wrap="square" lIns="0" tIns="0" rIns="0" bIns="0" rtlCol="0" anchor="ctr"/>
          <a:lstStyle/>
          <a:p>
            <a:pPr indent="0" marL="0">
              <a:buNone/>
            </a:pPr>
            <a:r>
              <a:rPr lang="en-US" sz="1500" b="1" dirty="0">
                <a:solidFill>
                  <a:schemeClr val="tx1"/>
                </a:solidFill>
              </a:rPr>
              <a:t>What only BR-Bench does: </a:t>
            </a:r>
            <a:pPr indent="0" marL="0">
              <a:buNone/>
            </a:pPr>
            <a:r>
              <a:rPr lang="en-US" sz="1500" dirty="0">
                <a:solidFill>
                  <a:schemeClr val="tx1"/>
                </a:solidFill>
              </a:rPr>
              <a:t>it resolves a base run for every change and removes pre-existing and flaky failures, so a label means "this change broke this test".</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Research questions and scope</a:t>
            </a:r>
            <a:endParaRPr lang="en-US" sz="3200" dirty="0"/>
          </a:p>
        </p:txBody>
      </p:sp>
      <p:sp>
        <p:nvSpPr>
          <p:cNvPr id="3" name="card"/>
          <p:cNvSpPr/>
          <p:nvPr/>
        </p:nvSpPr>
        <p:spPr>
          <a:xfrm>
            <a:off x="548640" y="1417320"/>
            <a:ext cx="5449824" cy="1600200"/>
          </a:xfrm>
          <a:prstGeom prst="roundRect">
            <a:avLst>
              <a:gd name="adj" fmla="val 5714"/>
            </a:avLst>
          </a:prstGeom>
          <a:solidFill>
            <a:schemeClr val="bg2"/>
          </a:solidFill>
          <a:ln/>
        </p:spPr>
      </p:sp>
      <p:sp>
        <p:nvSpPr>
          <p:cNvPr id="4" name="Text 2"/>
          <p:cNvSpPr txBox="1"/>
          <p:nvPr/>
        </p:nvSpPr>
        <p:spPr>
          <a:xfrm>
            <a:off x="822960" y="1645920"/>
            <a:ext cx="109728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RQ1</a:t>
            </a:r>
            <a:endParaRPr lang="en-US" sz="2400" dirty="0"/>
          </a:p>
        </p:txBody>
      </p:sp>
      <p:sp>
        <p:nvSpPr>
          <p:cNvPr id="5" name="status pill"/>
          <p:cNvSpPr/>
          <p:nvPr/>
        </p:nvSpPr>
        <p:spPr>
          <a:xfrm>
            <a:off x="4398264" y="1691640"/>
            <a:ext cx="1325880" cy="310896"/>
          </a:xfrm>
          <a:prstGeom prst="roundRect">
            <a:avLst>
              <a:gd name="adj" fmla="val 50000"/>
            </a:avLst>
          </a:prstGeom>
          <a:solidFill>
            <a:schemeClr val="accent4"/>
          </a:solidFill>
          <a:ln/>
        </p:spPr>
      </p:sp>
      <p:sp>
        <p:nvSpPr>
          <p:cNvPr id="6" name="Text 4"/>
          <p:cNvSpPr txBox="1"/>
          <p:nvPr/>
        </p:nvSpPr>
        <p:spPr>
          <a:xfrm>
            <a:off x="4398264" y="1691640"/>
            <a:ext cx="1325880" cy="310896"/>
          </a:xfrm>
          <a:prstGeom prst="rect">
            <a:avLst/>
          </a:prstGeom>
          <a:noFill/>
          <a:ln/>
        </p:spPr>
        <p:txBody>
          <a:bodyPr wrap="square" lIns="0" tIns="0" rIns="0" bIns="0" rtlCol="0" anchor="ctr"/>
          <a:lstStyle/>
          <a:p>
            <a:pPr algn="ctr" indent="0" marL="0">
              <a:buNone/>
            </a:pPr>
            <a:r>
              <a:rPr lang="en-US" sz="1100" b="1" dirty="0">
                <a:solidFill>
                  <a:schemeClr val="bg1"/>
                </a:solidFill>
              </a:rPr>
              <a:t>Answered</a:t>
            </a:r>
            <a:endParaRPr lang="en-US" sz="1100" dirty="0"/>
          </a:p>
        </p:txBody>
      </p:sp>
      <p:sp>
        <p:nvSpPr>
          <p:cNvPr id="7" name="Text 5"/>
          <p:cNvSpPr txBox="1"/>
          <p:nvPr/>
        </p:nvSpPr>
        <p:spPr>
          <a:xfrm>
            <a:off x="822960" y="2148840"/>
            <a:ext cx="4901184" cy="731520"/>
          </a:xfrm>
          <a:prstGeom prst="rect">
            <a:avLst/>
          </a:prstGeom>
          <a:noFill/>
          <a:ln/>
        </p:spPr>
        <p:txBody>
          <a:bodyPr wrap="square" lIns="0" tIns="0" rIns="0" bIns="0" rtlCol="0" anchor="t"/>
          <a:lstStyle/>
          <a:p>
            <a:pPr indent="0" marL="0">
              <a:buNone/>
            </a:pPr>
            <a:r>
              <a:rPr lang="en-US" sz="1600" dirty="0">
                <a:solidFill>
                  <a:schemeClr val="tx1"/>
                </a:solidFill>
              </a:rPr>
              <a:t>How far do co-change predictions diverge from the tests that actually failed?</a:t>
            </a:r>
            <a:endParaRPr lang="en-US" sz="1600" dirty="0"/>
          </a:p>
        </p:txBody>
      </p:sp>
      <p:sp>
        <p:nvSpPr>
          <p:cNvPr id="8" name="card"/>
          <p:cNvSpPr/>
          <p:nvPr/>
        </p:nvSpPr>
        <p:spPr>
          <a:xfrm>
            <a:off x="6190488" y="1417320"/>
            <a:ext cx="5449824" cy="1600200"/>
          </a:xfrm>
          <a:prstGeom prst="roundRect">
            <a:avLst>
              <a:gd name="adj" fmla="val 5714"/>
            </a:avLst>
          </a:prstGeom>
          <a:solidFill>
            <a:schemeClr val="bg2"/>
          </a:solidFill>
          <a:ln/>
        </p:spPr>
      </p:sp>
      <p:sp>
        <p:nvSpPr>
          <p:cNvPr id="9" name="Text 7"/>
          <p:cNvSpPr txBox="1"/>
          <p:nvPr/>
        </p:nvSpPr>
        <p:spPr>
          <a:xfrm>
            <a:off x="6464808" y="1645920"/>
            <a:ext cx="109728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RQ4</a:t>
            </a:r>
            <a:endParaRPr lang="en-US" sz="2400" dirty="0"/>
          </a:p>
        </p:txBody>
      </p:sp>
      <p:sp>
        <p:nvSpPr>
          <p:cNvPr id="10" name="status pill"/>
          <p:cNvSpPr/>
          <p:nvPr/>
        </p:nvSpPr>
        <p:spPr>
          <a:xfrm>
            <a:off x="10040112" y="1691640"/>
            <a:ext cx="1325880" cy="310896"/>
          </a:xfrm>
          <a:prstGeom prst="roundRect">
            <a:avLst>
              <a:gd name="adj" fmla="val 50000"/>
            </a:avLst>
          </a:prstGeom>
          <a:solidFill>
            <a:schemeClr val="accent4"/>
          </a:solidFill>
          <a:ln/>
        </p:spPr>
      </p:sp>
      <p:sp>
        <p:nvSpPr>
          <p:cNvPr id="11" name="Text 9"/>
          <p:cNvSpPr txBox="1"/>
          <p:nvPr/>
        </p:nvSpPr>
        <p:spPr>
          <a:xfrm>
            <a:off x="10040112" y="1691640"/>
            <a:ext cx="1325880" cy="310896"/>
          </a:xfrm>
          <a:prstGeom prst="rect">
            <a:avLst/>
          </a:prstGeom>
          <a:noFill/>
          <a:ln/>
        </p:spPr>
        <p:txBody>
          <a:bodyPr wrap="square" lIns="0" tIns="0" rIns="0" bIns="0" rtlCol="0" anchor="ctr"/>
          <a:lstStyle/>
          <a:p>
            <a:pPr algn="ctr" indent="0" marL="0">
              <a:buNone/>
            </a:pPr>
            <a:r>
              <a:rPr lang="en-US" sz="1100" b="1" dirty="0">
                <a:solidFill>
                  <a:schemeClr val="bg1"/>
                </a:solidFill>
              </a:rPr>
              <a:t>Answered</a:t>
            </a:r>
            <a:endParaRPr lang="en-US" sz="1100" dirty="0"/>
          </a:p>
        </p:txBody>
      </p:sp>
      <p:sp>
        <p:nvSpPr>
          <p:cNvPr id="12" name="Text 10"/>
          <p:cNvSpPr txBox="1"/>
          <p:nvPr/>
        </p:nvSpPr>
        <p:spPr>
          <a:xfrm>
            <a:off x="6464808" y="2148840"/>
            <a:ext cx="4901184" cy="731520"/>
          </a:xfrm>
          <a:prstGeom prst="rect">
            <a:avLst/>
          </a:prstGeom>
          <a:noFill/>
          <a:ln/>
        </p:spPr>
        <p:txBody>
          <a:bodyPr wrap="square" lIns="0" tIns="0" rIns="0" bIns="0" rtlCol="0" anchor="t"/>
          <a:lstStyle/>
          <a:p>
            <a:pPr indent="0" marL="0">
              <a:buNone/>
            </a:pPr>
            <a:r>
              <a:rPr lang="en-US" sz="1600" dirty="0">
                <a:solidFill>
                  <a:schemeClr val="tx1"/>
                </a:solidFill>
              </a:rPr>
              <a:t>What does the dataset contain, and how reliably was it labelled?</a:t>
            </a:r>
            <a:endParaRPr lang="en-US" sz="1600" dirty="0"/>
          </a:p>
        </p:txBody>
      </p:sp>
      <p:sp>
        <p:nvSpPr>
          <p:cNvPr id="13" name="card"/>
          <p:cNvSpPr/>
          <p:nvPr/>
        </p:nvSpPr>
        <p:spPr>
          <a:xfrm>
            <a:off x="548640" y="3200400"/>
            <a:ext cx="5449824" cy="1600200"/>
          </a:xfrm>
          <a:prstGeom prst="roundRect">
            <a:avLst>
              <a:gd name="adj" fmla="val 5714"/>
            </a:avLst>
          </a:prstGeom>
          <a:solidFill>
            <a:schemeClr val="bg2"/>
          </a:solidFill>
          <a:ln/>
        </p:spPr>
      </p:sp>
      <p:sp>
        <p:nvSpPr>
          <p:cNvPr id="14" name="Text 12"/>
          <p:cNvSpPr txBox="1"/>
          <p:nvPr/>
        </p:nvSpPr>
        <p:spPr>
          <a:xfrm>
            <a:off x="822960" y="3429000"/>
            <a:ext cx="109728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RQ2</a:t>
            </a:r>
            <a:endParaRPr lang="en-US" sz="2400" dirty="0"/>
          </a:p>
        </p:txBody>
      </p:sp>
      <p:sp>
        <p:nvSpPr>
          <p:cNvPr id="15" name="status pill"/>
          <p:cNvSpPr/>
          <p:nvPr/>
        </p:nvSpPr>
        <p:spPr>
          <a:xfrm>
            <a:off x="4398264" y="3474720"/>
            <a:ext cx="1325880" cy="310896"/>
          </a:xfrm>
          <a:prstGeom prst="roundRect">
            <a:avLst>
              <a:gd name="adj" fmla="val 50000"/>
            </a:avLst>
          </a:prstGeom>
          <a:solidFill>
            <a:schemeClr val="accent5"/>
          </a:solidFill>
          <a:ln/>
        </p:spPr>
      </p:sp>
      <p:sp>
        <p:nvSpPr>
          <p:cNvPr id="16" name="Text 14"/>
          <p:cNvSpPr txBox="1"/>
          <p:nvPr/>
        </p:nvSpPr>
        <p:spPr>
          <a:xfrm>
            <a:off x="4398264" y="3474720"/>
            <a:ext cx="1325880" cy="310896"/>
          </a:xfrm>
          <a:prstGeom prst="rect">
            <a:avLst/>
          </a:prstGeom>
          <a:noFill/>
          <a:ln/>
        </p:spPr>
        <p:txBody>
          <a:bodyPr wrap="square" lIns="0" tIns="0" rIns="0" bIns="0" rtlCol="0" anchor="ctr"/>
          <a:lstStyle/>
          <a:p>
            <a:pPr algn="ctr" indent="0" marL="0">
              <a:buNone/>
            </a:pPr>
            <a:r>
              <a:rPr lang="en-US" sz="1100" b="1" dirty="0">
                <a:solidFill>
                  <a:schemeClr val="bg1"/>
                </a:solidFill>
              </a:rPr>
              <a:t>Future work</a:t>
            </a:r>
            <a:endParaRPr lang="en-US" sz="1100" dirty="0"/>
          </a:p>
        </p:txBody>
      </p:sp>
      <p:sp>
        <p:nvSpPr>
          <p:cNvPr id="17" name="Text 15"/>
          <p:cNvSpPr txBox="1"/>
          <p:nvPr/>
        </p:nvSpPr>
        <p:spPr>
          <a:xfrm>
            <a:off x="822960" y="3931920"/>
            <a:ext cx="4901184" cy="731520"/>
          </a:xfrm>
          <a:prstGeom prst="rect">
            <a:avLst/>
          </a:prstGeom>
          <a:noFill/>
          <a:ln/>
        </p:spPr>
        <p:txBody>
          <a:bodyPr wrap="square" lIns="0" tIns="0" rIns="0" bIns="0" rtlCol="0" anchor="t"/>
          <a:lstStyle/>
          <a:p>
            <a:pPr indent="0" marL="0">
              <a:buNone/>
            </a:pPr>
            <a:r>
              <a:rPr lang="en-US" sz="1600" dirty="0">
                <a:solidFill>
                  <a:schemeClr val="tx1"/>
                </a:solidFill>
              </a:rPr>
              <a:t>Which change characteristics predict that divergence?</a:t>
            </a:r>
            <a:endParaRPr lang="en-US" sz="1600" dirty="0"/>
          </a:p>
        </p:txBody>
      </p:sp>
      <p:sp>
        <p:nvSpPr>
          <p:cNvPr id="18" name="card"/>
          <p:cNvSpPr/>
          <p:nvPr/>
        </p:nvSpPr>
        <p:spPr>
          <a:xfrm>
            <a:off x="6190488" y="3200400"/>
            <a:ext cx="5449824" cy="1600200"/>
          </a:xfrm>
          <a:prstGeom prst="roundRect">
            <a:avLst>
              <a:gd name="adj" fmla="val 5714"/>
            </a:avLst>
          </a:prstGeom>
          <a:solidFill>
            <a:schemeClr val="bg2"/>
          </a:solidFill>
          <a:ln/>
        </p:spPr>
      </p:sp>
      <p:sp>
        <p:nvSpPr>
          <p:cNvPr id="19" name="Text 17"/>
          <p:cNvSpPr txBox="1"/>
          <p:nvPr/>
        </p:nvSpPr>
        <p:spPr>
          <a:xfrm>
            <a:off x="6464808" y="3429000"/>
            <a:ext cx="109728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RQ3</a:t>
            </a:r>
            <a:endParaRPr lang="en-US" sz="2400" dirty="0"/>
          </a:p>
        </p:txBody>
      </p:sp>
      <p:sp>
        <p:nvSpPr>
          <p:cNvPr id="20" name="status pill"/>
          <p:cNvSpPr/>
          <p:nvPr/>
        </p:nvSpPr>
        <p:spPr>
          <a:xfrm>
            <a:off x="10040112" y="3474720"/>
            <a:ext cx="1325880" cy="310896"/>
          </a:xfrm>
          <a:prstGeom prst="roundRect">
            <a:avLst>
              <a:gd name="adj" fmla="val 50000"/>
            </a:avLst>
          </a:prstGeom>
          <a:solidFill>
            <a:schemeClr val="accent5"/>
          </a:solidFill>
          <a:ln/>
        </p:spPr>
      </p:sp>
      <p:sp>
        <p:nvSpPr>
          <p:cNvPr id="21" name="Text 19"/>
          <p:cNvSpPr txBox="1"/>
          <p:nvPr/>
        </p:nvSpPr>
        <p:spPr>
          <a:xfrm>
            <a:off x="10040112" y="3474720"/>
            <a:ext cx="1325880" cy="310896"/>
          </a:xfrm>
          <a:prstGeom prst="rect">
            <a:avLst/>
          </a:prstGeom>
          <a:noFill/>
          <a:ln/>
        </p:spPr>
        <p:txBody>
          <a:bodyPr wrap="square" lIns="0" tIns="0" rIns="0" bIns="0" rtlCol="0" anchor="ctr"/>
          <a:lstStyle/>
          <a:p>
            <a:pPr algn="ctr" indent="0" marL="0">
              <a:buNone/>
            </a:pPr>
            <a:r>
              <a:rPr lang="en-US" sz="1100" b="1" dirty="0">
                <a:solidFill>
                  <a:schemeClr val="bg1"/>
                </a:solidFill>
              </a:rPr>
              <a:t>Future work</a:t>
            </a:r>
            <a:endParaRPr lang="en-US" sz="1100" dirty="0"/>
          </a:p>
        </p:txBody>
      </p:sp>
      <p:sp>
        <p:nvSpPr>
          <p:cNvPr id="22" name="Text 20"/>
          <p:cNvSpPr txBox="1"/>
          <p:nvPr/>
        </p:nvSpPr>
        <p:spPr>
          <a:xfrm>
            <a:off x="6464808" y="3931920"/>
            <a:ext cx="4901184" cy="731520"/>
          </a:xfrm>
          <a:prstGeom prst="rect">
            <a:avLst/>
          </a:prstGeom>
          <a:noFill/>
          <a:ln/>
        </p:spPr>
        <p:txBody>
          <a:bodyPr wrap="square" lIns="0" tIns="0" rIns="0" bIns="0" rtlCol="0" anchor="t"/>
          <a:lstStyle/>
          <a:p>
            <a:pPr indent="0" marL="0">
              <a:buNone/>
            </a:pPr>
            <a:r>
              <a:rPr lang="en-US" sz="1600" dirty="0">
                <a:solidFill>
                  <a:schemeClr val="tx1"/>
                </a:solidFill>
              </a:rPr>
              <a:t>Can a model trained on execution outcomes beat the proxies?</a:t>
            </a:r>
            <a:endParaRPr lang="en-US" sz="1600" dirty="0"/>
          </a:p>
        </p:txBody>
      </p:sp>
      <p:sp>
        <p:nvSpPr>
          <p:cNvPr id="23" name="scope chip"/>
          <p:cNvSpPr/>
          <p:nvPr/>
        </p:nvSpPr>
        <p:spPr>
          <a:xfrm>
            <a:off x="548640" y="5120640"/>
            <a:ext cx="2377440" cy="457200"/>
          </a:xfrm>
          <a:prstGeom prst="roundRect">
            <a:avLst>
              <a:gd name="adj" fmla="val 50000"/>
            </a:avLst>
          </a:prstGeom>
          <a:solidFill>
            <a:schemeClr val="bg1"/>
          </a:solidFill>
          <a:ln w="12700">
            <a:solidFill>
              <a:schemeClr val="tx2"/>
            </a:solidFill>
            <a:prstDash val="solid"/>
          </a:ln>
        </p:spPr>
      </p:sp>
      <p:sp>
        <p:nvSpPr>
          <p:cNvPr id="24" name="Text 22"/>
          <p:cNvSpPr txBox="1"/>
          <p:nvPr/>
        </p:nvSpPr>
        <p:spPr>
          <a:xfrm>
            <a:off x="548640" y="5120640"/>
            <a:ext cx="2377440" cy="457200"/>
          </a:xfrm>
          <a:prstGeom prst="rect">
            <a:avLst/>
          </a:prstGeom>
          <a:noFill/>
          <a:ln/>
        </p:spPr>
        <p:txBody>
          <a:bodyPr wrap="square" lIns="0" tIns="0" rIns="0" bIns="0" rtlCol="0" anchor="ctr"/>
          <a:lstStyle/>
          <a:p>
            <a:pPr algn="ctr" indent="0" marL="0">
              <a:buNone/>
            </a:pPr>
            <a:r>
              <a:rPr lang="en-US" sz="1300" dirty="0">
                <a:solidFill>
                  <a:schemeClr val="tx1"/>
                </a:solidFill>
              </a:rPr>
              <a:t>Java + Python only (D-03)</a:t>
            </a:r>
            <a:endParaRPr lang="en-US" sz="1300" dirty="0"/>
          </a:p>
        </p:txBody>
      </p:sp>
      <p:sp>
        <p:nvSpPr>
          <p:cNvPr id="25" name="scope chip"/>
          <p:cNvSpPr/>
          <p:nvPr/>
        </p:nvSpPr>
        <p:spPr>
          <a:xfrm>
            <a:off x="3154680" y="5120640"/>
            <a:ext cx="3383280" cy="457200"/>
          </a:xfrm>
          <a:prstGeom prst="roundRect">
            <a:avLst>
              <a:gd name="adj" fmla="val 50000"/>
            </a:avLst>
          </a:prstGeom>
          <a:solidFill>
            <a:schemeClr val="bg1"/>
          </a:solidFill>
          <a:ln w="12700">
            <a:solidFill>
              <a:schemeClr val="tx2"/>
            </a:solidFill>
            <a:prstDash val="solid"/>
          </a:ln>
        </p:spPr>
      </p:sp>
      <p:sp>
        <p:nvSpPr>
          <p:cNvPr id="26" name="Text 24"/>
          <p:cNvSpPr txBox="1"/>
          <p:nvPr/>
        </p:nvSpPr>
        <p:spPr>
          <a:xfrm>
            <a:off x="3154680" y="5120640"/>
            <a:ext cx="3383280" cy="457200"/>
          </a:xfrm>
          <a:prstGeom prst="rect">
            <a:avLst/>
          </a:prstGeom>
          <a:noFill/>
          <a:ln/>
        </p:spPr>
        <p:txBody>
          <a:bodyPr wrap="square" lIns="0" tIns="0" rIns="0" bIns="0" rtlCol="0" anchor="ctr"/>
          <a:lstStyle/>
          <a:p>
            <a:pPr algn="ctr" indent="0" marL="0">
              <a:buNone/>
            </a:pPr>
            <a:r>
              <a:rPr lang="en-US" sz="1300" dirty="0">
                <a:solidFill>
                  <a:schemeClr val="tx1"/>
                </a:solidFill>
              </a:rPr>
              <a:t>No LLM anywhere in the pipeline (D-17)</a:t>
            </a:r>
            <a:endParaRPr lang="en-US" sz="1300" dirty="0"/>
          </a:p>
        </p:txBody>
      </p:sp>
      <p:sp>
        <p:nvSpPr>
          <p:cNvPr id="27" name="scope chip"/>
          <p:cNvSpPr/>
          <p:nvPr/>
        </p:nvSpPr>
        <p:spPr>
          <a:xfrm>
            <a:off x="6766560" y="5120640"/>
            <a:ext cx="4873752" cy="457200"/>
          </a:xfrm>
          <a:prstGeom prst="roundRect">
            <a:avLst>
              <a:gd name="adj" fmla="val 50000"/>
            </a:avLst>
          </a:prstGeom>
          <a:solidFill>
            <a:schemeClr val="bg1"/>
          </a:solidFill>
          <a:ln w="12700">
            <a:solidFill>
              <a:schemeClr val="tx2"/>
            </a:solidFill>
            <a:prstDash val="solid"/>
          </a:ln>
        </p:spPr>
      </p:sp>
      <p:sp>
        <p:nvSpPr>
          <p:cNvPr id="28" name="Text 26"/>
          <p:cNvSpPr txBox="1"/>
          <p:nvPr/>
        </p:nvSpPr>
        <p:spPr>
          <a:xfrm>
            <a:off x="6766560" y="5120640"/>
            <a:ext cx="4873752" cy="457200"/>
          </a:xfrm>
          <a:prstGeom prst="rect">
            <a:avLst/>
          </a:prstGeom>
          <a:noFill/>
          <a:ln/>
        </p:spPr>
        <p:txBody>
          <a:bodyPr wrap="square" lIns="0" tIns="0" rIns="0" bIns="0" rtlCol="0" anchor="ctr"/>
          <a:lstStyle/>
          <a:p>
            <a:pPr algn="ctr" indent="0" marL="0">
              <a:buNone/>
            </a:pPr>
            <a:r>
              <a:rPr lang="en-US" sz="1300" dirty="0">
                <a:solidFill>
                  <a:schemeClr val="tx1"/>
                </a:solidFill>
              </a:rPr>
              <a:t>Graph layer is a course deliverable, outside the paper (D-48)</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System architecture</a:t>
            </a:r>
            <a:endParaRPr lang="en-US" sz="3200" dirty="0"/>
          </a:p>
        </p:txBody>
      </p:sp>
      <p:sp>
        <p:nvSpPr>
          <p:cNvPr id="3" name="stage 1"/>
          <p:cNvSpPr/>
          <p:nvPr/>
        </p:nvSpPr>
        <p:spPr>
          <a:xfrm>
            <a:off x="548640" y="1371600"/>
            <a:ext cx="2450592" cy="1005840"/>
          </a:xfrm>
          <a:prstGeom prst="roundRect">
            <a:avLst>
              <a:gd name="adj" fmla="val 9091"/>
            </a:avLst>
          </a:prstGeom>
          <a:solidFill>
            <a:schemeClr val="bg2"/>
          </a:solidFill>
          <a:ln/>
        </p:spPr>
      </p:sp>
      <p:sp>
        <p:nvSpPr>
          <p:cNvPr id="4" name="number badge"/>
          <p:cNvSpPr/>
          <p:nvPr/>
        </p:nvSpPr>
        <p:spPr>
          <a:xfrm>
            <a:off x="685800" y="1508760"/>
            <a:ext cx="384048" cy="384048"/>
          </a:xfrm>
          <a:prstGeom prst="ellipse">
            <a:avLst/>
          </a:prstGeom>
          <a:solidFill>
            <a:schemeClr val="accent1"/>
          </a:solidFill>
          <a:ln/>
        </p:spPr>
      </p:sp>
      <p:sp>
        <p:nvSpPr>
          <p:cNvPr id="5" name="Text 3"/>
          <p:cNvSpPr txBox="1"/>
          <p:nvPr/>
        </p:nvSpPr>
        <p:spPr>
          <a:xfrm>
            <a:off x="685800" y="15087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170432" y="1481328"/>
            <a:ext cx="1719072" cy="411480"/>
          </a:xfrm>
          <a:prstGeom prst="rect">
            <a:avLst/>
          </a:prstGeom>
          <a:noFill/>
          <a:ln/>
        </p:spPr>
        <p:txBody>
          <a:bodyPr wrap="square" lIns="0" tIns="0" rIns="0" bIns="0" rtlCol="0" anchor="ctr"/>
          <a:lstStyle/>
          <a:p>
            <a:pPr indent="0" marL="0">
              <a:buNone/>
            </a:pPr>
            <a:r>
              <a:rPr lang="en-US" sz="1500" b="1" dirty="0">
                <a:solidFill>
                  <a:schemeClr val="tx1"/>
                </a:solidFill>
              </a:rPr>
              <a:t>SEART frame</a:t>
            </a:r>
            <a:endParaRPr lang="en-US" sz="1500" dirty="0"/>
          </a:p>
        </p:txBody>
      </p:sp>
      <p:sp>
        <p:nvSpPr>
          <p:cNvPr id="7" name="Text 5"/>
          <p:cNvSpPr txBox="1"/>
          <p:nvPr/>
        </p:nvSpPr>
        <p:spPr>
          <a:xfrm>
            <a:off x="731520" y="1938528"/>
            <a:ext cx="2130552" cy="365760"/>
          </a:xfrm>
          <a:prstGeom prst="rect">
            <a:avLst/>
          </a:prstGeom>
          <a:noFill/>
          <a:ln/>
        </p:spPr>
        <p:txBody>
          <a:bodyPr wrap="square" lIns="0" tIns="0" rIns="0" bIns="0" rtlCol="0" anchor="t"/>
          <a:lstStyle/>
          <a:p>
            <a:pPr indent="0" marL="0">
              <a:buNone/>
            </a:pPr>
            <a:r>
              <a:rPr lang="en-US" sz="1200" dirty="0">
                <a:solidFill>
                  <a:schemeClr val="accent5"/>
                </a:solidFill>
              </a:rPr>
              <a:t>300 candidate repositories</a:t>
            </a:r>
            <a:endParaRPr lang="en-US" sz="1200" dirty="0"/>
          </a:p>
        </p:txBody>
      </p:sp>
      <p:sp>
        <p:nvSpPr>
          <p:cNvPr id="8" name="stage 2"/>
          <p:cNvSpPr/>
          <p:nvPr/>
        </p:nvSpPr>
        <p:spPr>
          <a:xfrm>
            <a:off x="3429000" y="1371600"/>
            <a:ext cx="2450592" cy="1005840"/>
          </a:xfrm>
          <a:prstGeom prst="roundRect">
            <a:avLst>
              <a:gd name="adj" fmla="val 9091"/>
            </a:avLst>
          </a:prstGeom>
          <a:solidFill>
            <a:schemeClr val="bg2"/>
          </a:solidFill>
          <a:ln/>
        </p:spPr>
      </p:sp>
      <p:sp>
        <p:nvSpPr>
          <p:cNvPr id="9" name="number badge"/>
          <p:cNvSpPr/>
          <p:nvPr/>
        </p:nvSpPr>
        <p:spPr>
          <a:xfrm>
            <a:off x="3566160" y="1508760"/>
            <a:ext cx="384048" cy="384048"/>
          </a:xfrm>
          <a:prstGeom prst="ellipse">
            <a:avLst/>
          </a:prstGeom>
          <a:solidFill>
            <a:schemeClr val="accent1"/>
          </a:solidFill>
          <a:ln/>
        </p:spPr>
      </p:sp>
      <p:sp>
        <p:nvSpPr>
          <p:cNvPr id="10" name="Text 8"/>
          <p:cNvSpPr txBox="1"/>
          <p:nvPr/>
        </p:nvSpPr>
        <p:spPr>
          <a:xfrm>
            <a:off x="3566160" y="15087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4050792" y="1481328"/>
            <a:ext cx="1719072" cy="411480"/>
          </a:xfrm>
          <a:prstGeom prst="rect">
            <a:avLst/>
          </a:prstGeom>
          <a:noFill/>
          <a:ln/>
        </p:spPr>
        <p:txBody>
          <a:bodyPr wrap="square" lIns="0" tIns="0" rIns="0" bIns="0" rtlCol="0" anchor="ctr"/>
          <a:lstStyle/>
          <a:p>
            <a:pPr indent="0" marL="0">
              <a:buNone/>
            </a:pPr>
            <a:r>
              <a:rPr lang="en-US" sz="1500" b="1" dirty="0">
                <a:solidFill>
                  <a:schemeClr val="tx1"/>
                </a:solidFill>
              </a:rPr>
              <a:t>Harvester</a:t>
            </a:r>
            <a:endParaRPr lang="en-US" sz="1500" dirty="0"/>
          </a:p>
        </p:txBody>
      </p:sp>
      <p:sp>
        <p:nvSpPr>
          <p:cNvPr id="12" name="Text 10"/>
          <p:cNvSpPr txBox="1"/>
          <p:nvPr/>
        </p:nvSpPr>
        <p:spPr>
          <a:xfrm>
            <a:off x="3611880" y="1938528"/>
            <a:ext cx="2130552" cy="365760"/>
          </a:xfrm>
          <a:prstGeom prst="rect">
            <a:avLst/>
          </a:prstGeom>
          <a:noFill/>
          <a:ln/>
        </p:spPr>
        <p:txBody>
          <a:bodyPr wrap="square" lIns="0" tIns="0" rIns="0" bIns="0" rtlCol="0" anchor="t"/>
          <a:lstStyle/>
          <a:p>
            <a:pPr indent="0" marL="0">
              <a:buNone/>
            </a:pPr>
            <a:r>
              <a:rPr lang="en-US" sz="1200" dirty="0">
                <a:solidFill>
                  <a:schemeClr val="accent5"/>
                </a:solidFill>
              </a:rPr>
              <a:t>rate-limited, resumable</a:t>
            </a:r>
            <a:endParaRPr lang="en-US" sz="1200" dirty="0"/>
          </a:p>
        </p:txBody>
      </p:sp>
      <p:sp>
        <p:nvSpPr>
          <p:cNvPr id="13" name="stage 3"/>
          <p:cNvSpPr/>
          <p:nvPr/>
        </p:nvSpPr>
        <p:spPr>
          <a:xfrm>
            <a:off x="6309360" y="1371600"/>
            <a:ext cx="2450592" cy="1005840"/>
          </a:xfrm>
          <a:prstGeom prst="roundRect">
            <a:avLst>
              <a:gd name="adj" fmla="val 9091"/>
            </a:avLst>
          </a:prstGeom>
          <a:solidFill>
            <a:schemeClr val="bg2"/>
          </a:solidFill>
          <a:ln/>
        </p:spPr>
      </p:sp>
      <p:sp>
        <p:nvSpPr>
          <p:cNvPr id="14" name="number badge"/>
          <p:cNvSpPr/>
          <p:nvPr/>
        </p:nvSpPr>
        <p:spPr>
          <a:xfrm>
            <a:off x="6446520" y="1508760"/>
            <a:ext cx="384048" cy="384048"/>
          </a:xfrm>
          <a:prstGeom prst="ellipse">
            <a:avLst/>
          </a:prstGeom>
          <a:solidFill>
            <a:schemeClr val="accent1"/>
          </a:solidFill>
          <a:ln/>
        </p:spPr>
      </p:sp>
      <p:sp>
        <p:nvSpPr>
          <p:cNvPr id="15" name="Text 13"/>
          <p:cNvSpPr txBox="1"/>
          <p:nvPr/>
        </p:nvSpPr>
        <p:spPr>
          <a:xfrm>
            <a:off x="6446520" y="15087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6931152" y="1481328"/>
            <a:ext cx="1719072" cy="411480"/>
          </a:xfrm>
          <a:prstGeom prst="rect">
            <a:avLst/>
          </a:prstGeom>
          <a:noFill/>
          <a:ln/>
        </p:spPr>
        <p:txBody>
          <a:bodyPr wrap="square" lIns="0" tIns="0" rIns="0" bIns="0" rtlCol="0" anchor="ctr"/>
          <a:lstStyle/>
          <a:p>
            <a:pPr indent="0" marL="0">
              <a:buNone/>
            </a:pPr>
            <a:r>
              <a:rPr lang="en-US" sz="1500" b="1" dirty="0">
                <a:solidFill>
                  <a:schemeClr val="tx1"/>
                </a:solidFill>
              </a:rPr>
              <a:t>Raw store</a:t>
            </a:r>
            <a:endParaRPr lang="en-US" sz="1500" dirty="0"/>
          </a:p>
        </p:txBody>
      </p:sp>
      <p:sp>
        <p:nvSpPr>
          <p:cNvPr id="17" name="Text 15"/>
          <p:cNvSpPr txBox="1"/>
          <p:nvPr/>
        </p:nvSpPr>
        <p:spPr>
          <a:xfrm>
            <a:off x="6492240" y="1938528"/>
            <a:ext cx="2130552" cy="365760"/>
          </a:xfrm>
          <a:prstGeom prst="rect">
            <a:avLst/>
          </a:prstGeom>
          <a:noFill/>
          <a:ln/>
        </p:spPr>
        <p:txBody>
          <a:bodyPr wrap="square" lIns="0" tIns="0" rIns="0" bIns="0" rtlCol="0" anchor="t"/>
          <a:lstStyle/>
          <a:p>
            <a:pPr indent="0" marL="0">
              <a:buNone/>
            </a:pPr>
            <a:r>
              <a:rPr lang="en-US" sz="1200" dirty="0">
                <a:solidFill>
                  <a:schemeClr val="accent5"/>
                </a:solidFill>
              </a:rPr>
              <a:t>immutable CI logs</a:t>
            </a:r>
            <a:endParaRPr lang="en-US" sz="1200" dirty="0"/>
          </a:p>
        </p:txBody>
      </p:sp>
      <p:sp>
        <p:nvSpPr>
          <p:cNvPr id="18" name="stage 4"/>
          <p:cNvSpPr/>
          <p:nvPr/>
        </p:nvSpPr>
        <p:spPr>
          <a:xfrm>
            <a:off x="9189720" y="1371600"/>
            <a:ext cx="2450592" cy="1005840"/>
          </a:xfrm>
          <a:prstGeom prst="roundRect">
            <a:avLst>
              <a:gd name="adj" fmla="val 9091"/>
            </a:avLst>
          </a:prstGeom>
          <a:solidFill>
            <a:schemeClr val="bg2"/>
          </a:solidFill>
          <a:ln/>
        </p:spPr>
      </p:sp>
      <p:sp>
        <p:nvSpPr>
          <p:cNvPr id="19" name="number badge"/>
          <p:cNvSpPr/>
          <p:nvPr/>
        </p:nvSpPr>
        <p:spPr>
          <a:xfrm>
            <a:off x="9326880" y="1508760"/>
            <a:ext cx="384048" cy="384048"/>
          </a:xfrm>
          <a:prstGeom prst="ellipse">
            <a:avLst/>
          </a:prstGeom>
          <a:solidFill>
            <a:schemeClr val="accent1"/>
          </a:solidFill>
          <a:ln/>
        </p:spPr>
      </p:sp>
      <p:sp>
        <p:nvSpPr>
          <p:cNvPr id="20" name="Text 18"/>
          <p:cNvSpPr txBox="1"/>
          <p:nvPr/>
        </p:nvSpPr>
        <p:spPr>
          <a:xfrm>
            <a:off x="9326880" y="15087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9"/>
          <p:cNvSpPr txBox="1"/>
          <p:nvPr/>
        </p:nvSpPr>
        <p:spPr>
          <a:xfrm>
            <a:off x="9811512" y="1481328"/>
            <a:ext cx="1719072" cy="411480"/>
          </a:xfrm>
          <a:prstGeom prst="rect">
            <a:avLst/>
          </a:prstGeom>
          <a:noFill/>
          <a:ln/>
        </p:spPr>
        <p:txBody>
          <a:bodyPr wrap="square" lIns="0" tIns="0" rIns="0" bIns="0" rtlCol="0" anchor="ctr"/>
          <a:lstStyle/>
          <a:p>
            <a:pPr indent="0" marL="0">
              <a:buNone/>
            </a:pPr>
            <a:r>
              <a:rPr lang="en-US" sz="1500" b="1" dirty="0">
                <a:solidFill>
                  <a:schemeClr val="tx1"/>
                </a:solidFill>
              </a:rPr>
              <a:t>Parsers</a:t>
            </a:r>
            <a:endParaRPr lang="en-US" sz="1500" dirty="0"/>
          </a:p>
        </p:txBody>
      </p:sp>
      <p:sp>
        <p:nvSpPr>
          <p:cNvPr id="22" name="Text 20"/>
          <p:cNvSpPr txBox="1"/>
          <p:nvPr/>
        </p:nvSpPr>
        <p:spPr>
          <a:xfrm>
            <a:off x="9372600" y="1938528"/>
            <a:ext cx="2130552" cy="365760"/>
          </a:xfrm>
          <a:prstGeom prst="rect">
            <a:avLst/>
          </a:prstGeom>
          <a:noFill/>
          <a:ln/>
        </p:spPr>
        <p:txBody>
          <a:bodyPr wrap="square" lIns="0" tIns="0" rIns="0" bIns="0" rtlCol="0" anchor="t"/>
          <a:lstStyle/>
          <a:p>
            <a:pPr indent="0" marL="0">
              <a:buNone/>
            </a:pPr>
            <a:r>
              <a:rPr lang="en-US" sz="1200" dirty="0">
                <a:solidFill>
                  <a:schemeClr val="accent5"/>
                </a:solidFill>
              </a:rPr>
              <a:t>Gradle · Maven · pytest</a:t>
            </a:r>
            <a:endParaRPr lang="en-US" sz="1200" dirty="0"/>
          </a:p>
        </p:txBody>
      </p:sp>
      <p:sp>
        <p:nvSpPr>
          <p:cNvPr id="23" name="stage 5"/>
          <p:cNvSpPr/>
          <p:nvPr/>
        </p:nvSpPr>
        <p:spPr>
          <a:xfrm>
            <a:off x="9189720" y="2926080"/>
            <a:ext cx="2450592" cy="1005840"/>
          </a:xfrm>
          <a:prstGeom prst="roundRect">
            <a:avLst>
              <a:gd name="adj" fmla="val 9091"/>
            </a:avLst>
          </a:prstGeom>
          <a:solidFill>
            <a:schemeClr val="bg2"/>
          </a:solidFill>
          <a:ln/>
        </p:spPr>
      </p:sp>
      <p:sp>
        <p:nvSpPr>
          <p:cNvPr id="24" name="number badge"/>
          <p:cNvSpPr/>
          <p:nvPr/>
        </p:nvSpPr>
        <p:spPr>
          <a:xfrm>
            <a:off x="9326880" y="3063240"/>
            <a:ext cx="384048" cy="384048"/>
          </a:xfrm>
          <a:prstGeom prst="ellipse">
            <a:avLst/>
          </a:prstGeom>
          <a:solidFill>
            <a:schemeClr val="accent1"/>
          </a:solidFill>
          <a:ln/>
        </p:spPr>
      </p:sp>
      <p:sp>
        <p:nvSpPr>
          <p:cNvPr id="25" name="Text 23"/>
          <p:cNvSpPr txBox="1"/>
          <p:nvPr/>
        </p:nvSpPr>
        <p:spPr>
          <a:xfrm>
            <a:off x="9326880" y="30632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6" name="Text 24"/>
          <p:cNvSpPr txBox="1"/>
          <p:nvPr/>
        </p:nvSpPr>
        <p:spPr>
          <a:xfrm>
            <a:off x="9811512" y="3035808"/>
            <a:ext cx="1719072" cy="411480"/>
          </a:xfrm>
          <a:prstGeom prst="rect">
            <a:avLst/>
          </a:prstGeom>
          <a:noFill/>
          <a:ln/>
        </p:spPr>
        <p:txBody>
          <a:bodyPr wrap="square" lIns="0" tIns="0" rIns="0" bIns="0" rtlCol="0" anchor="ctr"/>
          <a:lstStyle/>
          <a:p>
            <a:pPr indent="0" marL="0">
              <a:buNone/>
            </a:pPr>
            <a:r>
              <a:rPr lang="en-US" sz="1500" b="1" dirty="0">
                <a:solidFill>
                  <a:schemeClr val="tx1"/>
                </a:solidFill>
              </a:rPr>
              <a:t>test_id normaliser</a:t>
            </a:r>
            <a:endParaRPr lang="en-US" sz="1500" dirty="0"/>
          </a:p>
        </p:txBody>
      </p:sp>
      <p:sp>
        <p:nvSpPr>
          <p:cNvPr id="27" name="Text 25"/>
          <p:cNvSpPr txBox="1"/>
          <p:nvPr/>
        </p:nvSpPr>
        <p:spPr>
          <a:xfrm>
            <a:off x="9372600" y="3493008"/>
            <a:ext cx="2130552" cy="365760"/>
          </a:xfrm>
          <a:prstGeom prst="rect">
            <a:avLst/>
          </a:prstGeom>
          <a:noFill/>
          <a:ln/>
        </p:spPr>
        <p:txBody>
          <a:bodyPr wrap="square" lIns="0" tIns="0" rIns="0" bIns="0" rtlCol="0" anchor="t"/>
          <a:lstStyle/>
          <a:p>
            <a:pPr indent="0" marL="0">
              <a:buNone/>
            </a:pPr>
            <a:r>
              <a:rPr lang="en-US" sz="1200" dirty="0">
                <a:solidFill>
                  <a:schemeClr val="accent5"/>
                </a:solidFill>
              </a:rPr>
              <a:t>one canonical join key</a:t>
            </a:r>
            <a:endParaRPr lang="en-US" sz="1200" dirty="0"/>
          </a:p>
        </p:txBody>
      </p:sp>
      <p:sp>
        <p:nvSpPr>
          <p:cNvPr id="28" name="stage 6"/>
          <p:cNvSpPr/>
          <p:nvPr/>
        </p:nvSpPr>
        <p:spPr>
          <a:xfrm>
            <a:off x="6309360" y="2926080"/>
            <a:ext cx="2450592" cy="1005840"/>
          </a:xfrm>
          <a:prstGeom prst="roundRect">
            <a:avLst>
              <a:gd name="adj" fmla="val 9091"/>
            </a:avLst>
          </a:prstGeom>
          <a:solidFill>
            <a:schemeClr val="tx2"/>
          </a:solidFill>
          <a:ln/>
        </p:spPr>
      </p:sp>
      <p:sp>
        <p:nvSpPr>
          <p:cNvPr id="29" name="number badge"/>
          <p:cNvSpPr/>
          <p:nvPr/>
        </p:nvSpPr>
        <p:spPr>
          <a:xfrm>
            <a:off x="6446520" y="3063240"/>
            <a:ext cx="384048" cy="384048"/>
          </a:xfrm>
          <a:prstGeom prst="ellipse">
            <a:avLst/>
          </a:prstGeom>
          <a:solidFill>
            <a:schemeClr val="accent1"/>
          </a:solidFill>
          <a:ln/>
        </p:spPr>
      </p:sp>
      <p:sp>
        <p:nvSpPr>
          <p:cNvPr id="30" name="Text 28"/>
          <p:cNvSpPr txBox="1"/>
          <p:nvPr/>
        </p:nvSpPr>
        <p:spPr>
          <a:xfrm>
            <a:off x="6446520" y="30632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1" name="Text 29"/>
          <p:cNvSpPr txBox="1"/>
          <p:nvPr/>
        </p:nvSpPr>
        <p:spPr>
          <a:xfrm>
            <a:off x="6931152" y="3035808"/>
            <a:ext cx="1719072" cy="411480"/>
          </a:xfrm>
          <a:prstGeom prst="rect">
            <a:avLst/>
          </a:prstGeom>
          <a:noFill/>
          <a:ln/>
        </p:spPr>
        <p:txBody>
          <a:bodyPr wrap="square" lIns="0" tIns="0" rIns="0" bIns="0" rtlCol="0" anchor="ctr"/>
          <a:lstStyle/>
          <a:p>
            <a:pPr indent="0" marL="0">
              <a:buNone/>
            </a:pPr>
            <a:r>
              <a:rPr lang="en-US" sz="1500" b="1" dirty="0">
                <a:solidFill>
                  <a:schemeClr val="bg1"/>
                </a:solidFill>
              </a:rPr>
              <a:t>Labelling engine</a:t>
            </a:r>
            <a:endParaRPr lang="en-US" sz="1500" dirty="0"/>
          </a:p>
        </p:txBody>
      </p:sp>
      <p:sp>
        <p:nvSpPr>
          <p:cNvPr id="32" name="Text 30"/>
          <p:cNvSpPr txBox="1"/>
          <p:nvPr/>
        </p:nvSpPr>
        <p:spPr>
          <a:xfrm>
            <a:off x="6492240" y="3493008"/>
            <a:ext cx="2130552" cy="365760"/>
          </a:xfrm>
          <a:prstGeom prst="rect">
            <a:avLst/>
          </a:prstGeom>
          <a:noFill/>
          <a:ln/>
        </p:spPr>
        <p:txBody>
          <a:bodyPr wrap="square" lIns="0" tIns="0" rIns="0" bIns="0" rtlCol="0" anchor="t"/>
          <a:lstStyle/>
          <a:p>
            <a:pPr indent="0" marL="0">
              <a:buNone/>
            </a:pPr>
            <a:r>
              <a:rPr lang="en-US" sz="1200" dirty="0">
                <a:solidFill>
                  <a:schemeClr val="bg2"/>
                </a:solidFill>
              </a:rPr>
              <a:t>base run · T_reveal · flakiness</a:t>
            </a:r>
            <a:endParaRPr lang="en-US" sz="1200" dirty="0"/>
          </a:p>
        </p:txBody>
      </p:sp>
      <p:sp>
        <p:nvSpPr>
          <p:cNvPr id="33" name="stage 7"/>
          <p:cNvSpPr/>
          <p:nvPr/>
        </p:nvSpPr>
        <p:spPr>
          <a:xfrm>
            <a:off x="3429000" y="2926080"/>
            <a:ext cx="2450592" cy="1005840"/>
          </a:xfrm>
          <a:prstGeom prst="roundRect">
            <a:avLst>
              <a:gd name="adj" fmla="val 9091"/>
            </a:avLst>
          </a:prstGeom>
          <a:solidFill>
            <a:schemeClr val="bg2"/>
          </a:solidFill>
          <a:ln/>
        </p:spPr>
      </p:sp>
      <p:sp>
        <p:nvSpPr>
          <p:cNvPr id="34" name="number badge"/>
          <p:cNvSpPr/>
          <p:nvPr/>
        </p:nvSpPr>
        <p:spPr>
          <a:xfrm>
            <a:off x="3566160" y="3063240"/>
            <a:ext cx="384048" cy="384048"/>
          </a:xfrm>
          <a:prstGeom prst="ellipse">
            <a:avLst/>
          </a:prstGeom>
          <a:solidFill>
            <a:schemeClr val="accent1"/>
          </a:solidFill>
          <a:ln/>
        </p:spPr>
      </p:sp>
      <p:sp>
        <p:nvSpPr>
          <p:cNvPr id="35" name="Text 33"/>
          <p:cNvSpPr txBox="1"/>
          <p:nvPr/>
        </p:nvSpPr>
        <p:spPr>
          <a:xfrm>
            <a:off x="3566160" y="30632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6" name="Text 34"/>
          <p:cNvSpPr txBox="1"/>
          <p:nvPr/>
        </p:nvSpPr>
        <p:spPr>
          <a:xfrm>
            <a:off x="4050792" y="3035808"/>
            <a:ext cx="1719072" cy="411480"/>
          </a:xfrm>
          <a:prstGeom prst="rect">
            <a:avLst/>
          </a:prstGeom>
          <a:noFill/>
          <a:ln/>
        </p:spPr>
        <p:txBody>
          <a:bodyPr wrap="square" lIns="0" tIns="0" rIns="0" bIns="0" rtlCol="0" anchor="ctr"/>
          <a:lstStyle/>
          <a:p>
            <a:pPr indent="0" marL="0">
              <a:buNone/>
            </a:pPr>
            <a:r>
              <a:rPr lang="en-US" sz="1500" b="1" dirty="0">
                <a:solidFill>
                  <a:schemeClr val="tx1"/>
                </a:solidFill>
              </a:rPr>
              <a:t>Binding</a:t>
            </a:r>
            <a:endParaRPr lang="en-US" sz="1500" dirty="0"/>
          </a:p>
        </p:txBody>
      </p:sp>
      <p:sp>
        <p:nvSpPr>
          <p:cNvPr id="37" name="Text 35"/>
          <p:cNvSpPr txBox="1"/>
          <p:nvPr/>
        </p:nvSpPr>
        <p:spPr>
          <a:xfrm>
            <a:off x="3611880" y="3493008"/>
            <a:ext cx="2130552" cy="365760"/>
          </a:xfrm>
          <a:prstGeom prst="rect">
            <a:avLst/>
          </a:prstGeom>
          <a:noFill/>
          <a:ln/>
        </p:spPr>
        <p:txBody>
          <a:bodyPr wrap="square" lIns="0" tIns="0" rIns="0" bIns="0" rtlCol="0" anchor="t"/>
          <a:lstStyle/>
          <a:p>
            <a:pPr indent="0" marL="0">
              <a:buNone/>
            </a:pPr>
            <a:r>
              <a:rPr lang="en-US" sz="1200" dirty="0">
                <a:solidFill>
                  <a:schemeClr val="accent5"/>
                </a:solidFill>
              </a:rPr>
              <a:t>test → file at pinned commit</a:t>
            </a:r>
            <a:endParaRPr lang="en-US" sz="1200" dirty="0"/>
          </a:p>
        </p:txBody>
      </p:sp>
      <p:sp>
        <p:nvSpPr>
          <p:cNvPr id="38" name="stage 8"/>
          <p:cNvSpPr/>
          <p:nvPr/>
        </p:nvSpPr>
        <p:spPr>
          <a:xfrm>
            <a:off x="548640" y="2926080"/>
            <a:ext cx="2450592" cy="1005840"/>
          </a:xfrm>
          <a:prstGeom prst="roundRect">
            <a:avLst>
              <a:gd name="adj" fmla="val 9091"/>
            </a:avLst>
          </a:prstGeom>
          <a:solidFill>
            <a:schemeClr val="tx2"/>
          </a:solidFill>
          <a:ln/>
        </p:spPr>
      </p:sp>
      <p:sp>
        <p:nvSpPr>
          <p:cNvPr id="39" name="number badge"/>
          <p:cNvSpPr/>
          <p:nvPr/>
        </p:nvSpPr>
        <p:spPr>
          <a:xfrm>
            <a:off x="685800" y="3063240"/>
            <a:ext cx="384048" cy="384048"/>
          </a:xfrm>
          <a:prstGeom prst="ellipse">
            <a:avLst/>
          </a:prstGeom>
          <a:solidFill>
            <a:schemeClr val="accent1"/>
          </a:solidFill>
          <a:ln/>
        </p:spPr>
      </p:sp>
      <p:sp>
        <p:nvSpPr>
          <p:cNvPr id="40" name="Text 38"/>
          <p:cNvSpPr txBox="1"/>
          <p:nvPr/>
        </p:nvSpPr>
        <p:spPr>
          <a:xfrm>
            <a:off x="685800" y="30632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1" name="Text 39"/>
          <p:cNvSpPr txBox="1"/>
          <p:nvPr/>
        </p:nvSpPr>
        <p:spPr>
          <a:xfrm>
            <a:off x="1170432" y="3035808"/>
            <a:ext cx="1719072" cy="411480"/>
          </a:xfrm>
          <a:prstGeom prst="rect">
            <a:avLst/>
          </a:prstGeom>
          <a:noFill/>
          <a:ln/>
        </p:spPr>
        <p:txBody>
          <a:bodyPr wrap="square" lIns="0" tIns="0" rIns="0" bIns="0" rtlCol="0" anchor="ctr"/>
          <a:lstStyle/>
          <a:p>
            <a:pPr indent="0" marL="0">
              <a:buNone/>
            </a:pPr>
            <a:r>
              <a:rPr lang="en-US" sz="1500" b="1" dirty="0">
                <a:solidFill>
                  <a:schemeClr val="bg1"/>
                </a:solidFill>
              </a:rPr>
              <a:t>make tables + release</a:t>
            </a:r>
            <a:endParaRPr lang="en-US" sz="1500" dirty="0"/>
          </a:p>
        </p:txBody>
      </p:sp>
      <p:sp>
        <p:nvSpPr>
          <p:cNvPr id="42" name="Text 40"/>
          <p:cNvSpPr txBox="1"/>
          <p:nvPr/>
        </p:nvSpPr>
        <p:spPr>
          <a:xfrm>
            <a:off x="731520" y="3493008"/>
            <a:ext cx="2130552" cy="365760"/>
          </a:xfrm>
          <a:prstGeom prst="rect">
            <a:avLst/>
          </a:prstGeom>
          <a:noFill/>
          <a:ln/>
        </p:spPr>
        <p:txBody>
          <a:bodyPr wrap="square" lIns="0" tIns="0" rIns="0" bIns="0" rtlCol="0" anchor="t"/>
          <a:lstStyle/>
          <a:p>
            <a:pPr indent="0" marL="0">
              <a:buNone/>
            </a:pPr>
            <a:r>
              <a:rPr lang="en-US" sz="1200" dirty="0">
                <a:solidFill>
                  <a:schemeClr val="bg2"/>
                </a:solidFill>
              </a:rPr>
              <a:t>BR-Bench on Zenodo</a:t>
            </a:r>
            <a:endParaRPr lang="en-US" sz="1200" dirty="0"/>
          </a:p>
        </p:txBody>
      </p:sp>
      <p:sp>
        <p:nvSpPr>
          <p:cNvPr id="43" name="arrow"/>
          <p:cNvSpPr/>
          <p:nvPr/>
        </p:nvSpPr>
        <p:spPr>
          <a:xfrm>
            <a:off x="3044952" y="1874520"/>
            <a:ext cx="338328" cy="0"/>
          </a:xfrm>
          <a:prstGeom prst="line">
            <a:avLst/>
          </a:prstGeom>
          <a:noFill/>
          <a:ln w="22225">
            <a:solidFill>
              <a:schemeClr val="accent5"/>
            </a:solidFill>
            <a:prstDash val="solid"/>
            <a:tailEnd type="triangle"/>
          </a:ln>
        </p:spPr>
      </p:sp>
      <p:sp>
        <p:nvSpPr>
          <p:cNvPr id="44" name="arrow"/>
          <p:cNvSpPr/>
          <p:nvPr/>
        </p:nvSpPr>
        <p:spPr>
          <a:xfrm>
            <a:off x="5925312" y="1874520"/>
            <a:ext cx="338328" cy="0"/>
          </a:xfrm>
          <a:prstGeom prst="line">
            <a:avLst/>
          </a:prstGeom>
          <a:noFill/>
          <a:ln w="22225">
            <a:solidFill>
              <a:schemeClr val="accent5"/>
            </a:solidFill>
            <a:prstDash val="solid"/>
            <a:tailEnd type="triangle"/>
          </a:ln>
        </p:spPr>
      </p:sp>
      <p:sp>
        <p:nvSpPr>
          <p:cNvPr id="45" name="arrow"/>
          <p:cNvSpPr/>
          <p:nvPr/>
        </p:nvSpPr>
        <p:spPr>
          <a:xfrm>
            <a:off x="8805672" y="1874520"/>
            <a:ext cx="338328" cy="0"/>
          </a:xfrm>
          <a:prstGeom prst="line">
            <a:avLst/>
          </a:prstGeom>
          <a:noFill/>
          <a:ln w="22225">
            <a:solidFill>
              <a:schemeClr val="accent5"/>
            </a:solidFill>
            <a:prstDash val="solid"/>
            <a:tailEnd type="triangle"/>
          </a:ln>
        </p:spPr>
      </p:sp>
      <p:sp>
        <p:nvSpPr>
          <p:cNvPr id="46" name="arrow"/>
          <p:cNvSpPr/>
          <p:nvPr/>
        </p:nvSpPr>
        <p:spPr>
          <a:xfrm>
            <a:off x="10415016" y="2423160"/>
            <a:ext cx="0" cy="457200"/>
          </a:xfrm>
          <a:prstGeom prst="line">
            <a:avLst/>
          </a:prstGeom>
          <a:noFill/>
          <a:ln w="22225">
            <a:solidFill>
              <a:schemeClr val="accent5"/>
            </a:solidFill>
            <a:prstDash val="solid"/>
            <a:tailEnd type="triangle"/>
          </a:ln>
        </p:spPr>
      </p:sp>
      <p:sp>
        <p:nvSpPr>
          <p:cNvPr id="47" name="arrow"/>
          <p:cNvSpPr/>
          <p:nvPr/>
        </p:nvSpPr>
        <p:spPr>
          <a:xfrm flipH="1">
            <a:off x="8805672" y="3429000"/>
            <a:ext cx="338328" cy="0"/>
          </a:xfrm>
          <a:prstGeom prst="line">
            <a:avLst/>
          </a:prstGeom>
          <a:noFill/>
          <a:ln w="22225">
            <a:solidFill>
              <a:schemeClr val="accent5"/>
            </a:solidFill>
            <a:prstDash val="solid"/>
            <a:tailEnd type="triangle"/>
          </a:ln>
        </p:spPr>
      </p:sp>
      <p:sp>
        <p:nvSpPr>
          <p:cNvPr id="48" name="arrow"/>
          <p:cNvSpPr/>
          <p:nvPr/>
        </p:nvSpPr>
        <p:spPr>
          <a:xfrm flipH="1">
            <a:off x="5925312" y="3429000"/>
            <a:ext cx="338328" cy="0"/>
          </a:xfrm>
          <a:prstGeom prst="line">
            <a:avLst/>
          </a:prstGeom>
          <a:noFill/>
          <a:ln w="22225">
            <a:solidFill>
              <a:schemeClr val="accent5"/>
            </a:solidFill>
            <a:prstDash val="solid"/>
            <a:tailEnd type="triangle"/>
          </a:ln>
        </p:spPr>
      </p:sp>
      <p:sp>
        <p:nvSpPr>
          <p:cNvPr id="49" name="arrow"/>
          <p:cNvSpPr/>
          <p:nvPr/>
        </p:nvSpPr>
        <p:spPr>
          <a:xfrm flipH="1">
            <a:off x="3044952" y="3429000"/>
            <a:ext cx="338328" cy="0"/>
          </a:xfrm>
          <a:prstGeom prst="line">
            <a:avLst/>
          </a:prstGeom>
          <a:noFill/>
          <a:ln w="22225">
            <a:solidFill>
              <a:schemeClr val="accent5"/>
            </a:solidFill>
            <a:prstDash val="solid"/>
            <a:tailEnd type="triangle"/>
          </a:ln>
        </p:spPr>
      </p:sp>
      <p:sp>
        <p:nvSpPr>
          <p:cNvPr id="50" name="arrow"/>
          <p:cNvSpPr/>
          <p:nvPr/>
        </p:nvSpPr>
        <p:spPr>
          <a:xfrm>
            <a:off x="4654296" y="3977640"/>
            <a:ext cx="0" cy="411480"/>
          </a:xfrm>
          <a:prstGeom prst="line">
            <a:avLst/>
          </a:prstGeom>
          <a:noFill/>
          <a:ln w="22225">
            <a:solidFill>
              <a:schemeClr val="accent3"/>
            </a:solidFill>
            <a:prstDash val="solid"/>
            <a:tailEnd type="triangle"/>
          </a:ln>
        </p:spPr>
      </p:sp>
      <p:sp>
        <p:nvSpPr>
          <p:cNvPr id="51" name="graph layer outline"/>
          <p:cNvSpPr/>
          <p:nvPr/>
        </p:nvSpPr>
        <p:spPr>
          <a:xfrm>
            <a:off x="3429000" y="4434840"/>
            <a:ext cx="8229600" cy="822960"/>
          </a:xfrm>
          <a:prstGeom prst="roundRect">
            <a:avLst>
              <a:gd name="adj" fmla="val 11111"/>
            </a:avLst>
          </a:prstGeom>
          <a:solidFill>
            <a:schemeClr val="bg1"/>
          </a:solidFill>
          <a:ln w="19050">
            <a:solidFill>
              <a:schemeClr val="accent3"/>
            </a:solidFill>
            <a:prstDash val="dash"/>
          </a:ln>
        </p:spPr>
      </p:sp>
      <p:sp>
        <p:nvSpPr>
          <p:cNvPr id="52" name="Text 50"/>
          <p:cNvSpPr txBox="1"/>
          <p:nvPr/>
        </p:nvSpPr>
        <p:spPr>
          <a:xfrm>
            <a:off x="3657600" y="4434840"/>
            <a:ext cx="7863840" cy="822960"/>
          </a:xfrm>
          <a:prstGeom prst="rect">
            <a:avLst/>
          </a:prstGeom>
          <a:noFill/>
          <a:ln/>
        </p:spPr>
        <p:txBody>
          <a:bodyPr wrap="square" lIns="0" tIns="0" rIns="0" bIns="0" rtlCol="0" anchor="ctr"/>
          <a:lstStyle/>
          <a:p>
            <a:pPr indent="0" marL="0">
              <a:buNone/>
            </a:pPr>
            <a:r>
              <a:rPr lang="en-US" sz="1400" b="1" dirty="0">
                <a:solidFill>
                  <a:schemeClr val="accent3"/>
                </a:solidFill>
              </a:rPr>
              <a:t>Graph layer  </a:t>
            </a:r>
            <a:pPr indent="0" marL="0">
              <a:buNone/>
            </a:pPr>
            <a:r>
              <a:rPr lang="en-US" sz="1400" dirty="0">
                <a:solidFill>
                  <a:schemeClr val="tx1"/>
                </a:solidFill>
              </a:rPr>
              <a:t>commit-pinned code graphs · test nodes bound to test_id · 5-primitive query API</a:t>
            </a:r>
            <a:endParaRPr lang="en-US" sz="1400" dirty="0"/>
          </a:p>
        </p:txBody>
      </p:sp>
      <p:sp>
        <p:nvSpPr>
          <p:cNvPr id="53" name="Text 51"/>
          <p:cNvSpPr txBox="1"/>
          <p:nvPr/>
        </p:nvSpPr>
        <p:spPr>
          <a:xfrm>
            <a:off x="548640" y="5669280"/>
            <a:ext cx="11091672" cy="365760"/>
          </a:xfrm>
          <a:prstGeom prst="rect">
            <a:avLst/>
          </a:prstGeom>
          <a:noFill/>
          <a:ln/>
        </p:spPr>
        <p:txBody>
          <a:bodyPr wrap="square" lIns="0" tIns="0" rIns="0" bIns="0" rtlCol="0" anchor="t"/>
          <a:lstStyle/>
          <a:p>
            <a:pPr algn="ctr" indent="0" marL="0">
              <a:buNone/>
            </a:pPr>
            <a:r>
              <a:rPr lang="en-US" sz="1300" dirty="0">
                <a:solidFill>
                  <a:schemeClr val="accent5"/>
                </a:solidFill>
              </a:rPr>
              <a:t>Python 3.11 · uv · DuckDB + Parquet · tree-sitter · NetworkX · pytest · Streamlit · Next.js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Harvester: racing the 90-day log expiry</a:t>
            </a:r>
            <a:endParaRPr lang="en-US" sz="3200" dirty="0"/>
          </a:p>
        </p:txBody>
      </p:sp>
      <p:sp>
        <p:nvSpPr>
          <p:cNvPr id="3" name="icon circle"/>
          <p:cNvSpPr/>
          <p:nvPr/>
        </p:nvSpPr>
        <p:spPr>
          <a:xfrm>
            <a:off x="548640" y="1417320"/>
            <a:ext cx="566928" cy="566928"/>
          </a:xfrm>
          <a:prstGeom prst="ellipse">
            <a:avLst/>
          </a:prstGeom>
          <a:solidFill>
            <a:schemeClr val="accent1"/>
          </a:solidFill>
          <a:ln/>
        </p:spPr>
      </p:sp>
      <p:pic>
        <p:nvPicPr>
          <p:cNvPr id="4" name="Image 0" descr="github icon">    </p:cNvPr>
          <p:cNvPicPr>
            <a:picLocks noChangeAspect="1"/>
          </p:cNvPicPr>
          <p:nvPr/>
        </p:nvPicPr>
        <p:blipFill>
          <a:blip r:embed="rId1"/>
          <a:stretch>
            <a:fillRect/>
          </a:stretch>
        </p:blipFill>
        <p:spPr>
          <a:xfrm>
            <a:off x="684703" y="1553383"/>
            <a:ext cx="294803" cy="294803"/>
          </a:xfrm>
          <a:prstGeom prst="rect">
            <a:avLst/>
          </a:prstGeom>
        </p:spPr>
      </p:pic>
      <p:sp>
        <p:nvSpPr>
          <p:cNvPr id="5" name="Text 2"/>
          <p:cNvSpPr txBox="1"/>
          <p:nvPr/>
        </p:nvSpPr>
        <p:spPr>
          <a:xfrm>
            <a:off x="1280160" y="1389888"/>
            <a:ext cx="4343400" cy="1005840"/>
          </a:xfrm>
          <a:prstGeom prst="rect">
            <a:avLst/>
          </a:prstGeom>
          <a:noFill/>
          <a:ln/>
        </p:spPr>
        <p:txBody>
          <a:bodyPr wrap="square" lIns="0" tIns="0" rIns="0" bIns="0" rtlCol="0" anchor="t"/>
          <a:lstStyle/>
          <a:p>
            <a:pPr indent="0" marL="0">
              <a:buNone/>
            </a:pPr>
            <a:r>
              <a:rPr lang="en-US" sz="1500" dirty="0">
                <a:solidFill>
                  <a:schemeClr val="tx1"/>
                </a:solidFill>
              </a:rPr>
              <a:t>Sampling frame from SEART: 300 repositories, 150 Java and 150 Python.</a:t>
            </a:r>
            <a:endParaRPr lang="en-US" sz="1500" dirty="0"/>
          </a:p>
        </p:txBody>
      </p:sp>
      <p:sp>
        <p:nvSpPr>
          <p:cNvPr id="6" name="icon circle"/>
          <p:cNvSpPr/>
          <p:nvPr/>
        </p:nvSpPr>
        <p:spPr>
          <a:xfrm>
            <a:off x="548640" y="2532888"/>
            <a:ext cx="566928" cy="566928"/>
          </a:xfrm>
          <a:prstGeom prst="ellipse">
            <a:avLst/>
          </a:prstGeom>
          <a:solidFill>
            <a:schemeClr val="accent1"/>
          </a:solidFill>
          <a:ln/>
        </p:spPr>
      </p:sp>
      <p:pic>
        <p:nvPicPr>
          <p:cNvPr id="7" name="Image 1" descr="gauge icon">    </p:cNvPr>
          <p:cNvPicPr>
            <a:picLocks noChangeAspect="1"/>
          </p:cNvPicPr>
          <p:nvPr/>
        </p:nvPicPr>
        <p:blipFill>
          <a:blip r:embed="rId2"/>
          <a:stretch>
            <a:fillRect/>
          </a:stretch>
        </p:blipFill>
        <p:spPr>
          <a:xfrm>
            <a:off x="684703" y="2668951"/>
            <a:ext cx="294803" cy="294803"/>
          </a:xfrm>
          <a:prstGeom prst="rect">
            <a:avLst/>
          </a:prstGeom>
        </p:spPr>
      </p:pic>
      <p:sp>
        <p:nvSpPr>
          <p:cNvPr id="8" name="Text 4"/>
          <p:cNvSpPr txBox="1"/>
          <p:nvPr/>
        </p:nvSpPr>
        <p:spPr>
          <a:xfrm>
            <a:off x="1280160" y="2505456"/>
            <a:ext cx="4343400" cy="1005840"/>
          </a:xfrm>
          <a:prstGeom prst="rect">
            <a:avLst/>
          </a:prstGeom>
          <a:noFill/>
          <a:ln/>
        </p:spPr>
        <p:txBody>
          <a:bodyPr wrap="square" lIns="0" tIns="0" rIns="0" bIns="0" rtlCol="0" anchor="t"/>
          <a:lstStyle/>
          <a:p>
            <a:pPr indent="0" marL="0">
              <a:buNone/>
            </a:pPr>
            <a:r>
              <a:rPr lang="en-US" sz="1500" dirty="0">
                <a:solidFill>
                  <a:schemeClr val="tx1"/>
                </a:solidFill>
              </a:rPr>
              <a:t>3 tokens × 5,000 requests/hour. Every request goes through one function, get_with_backoff(): quota, Retry-After, backoff, resumable cursors.</a:t>
            </a:r>
            <a:endParaRPr lang="en-US" sz="1500" dirty="0"/>
          </a:p>
        </p:txBody>
      </p:sp>
      <p:sp>
        <p:nvSpPr>
          <p:cNvPr id="9" name="icon circle"/>
          <p:cNvSpPr/>
          <p:nvPr/>
        </p:nvSpPr>
        <p:spPr>
          <a:xfrm>
            <a:off x="548640" y="3648456"/>
            <a:ext cx="566928" cy="566928"/>
          </a:xfrm>
          <a:prstGeom prst="ellipse">
            <a:avLst/>
          </a:prstGeom>
          <a:solidFill>
            <a:schemeClr val="accent1"/>
          </a:solidFill>
          <a:ln/>
        </p:spPr>
      </p:sp>
      <p:pic>
        <p:nvPicPr>
          <p:cNvPr id="10" name="Image 2" descr="hourglass icon">    </p:cNvPr>
          <p:cNvPicPr>
            <a:picLocks noChangeAspect="1"/>
          </p:cNvPicPr>
          <p:nvPr/>
        </p:nvPicPr>
        <p:blipFill>
          <a:blip r:embed="rId3"/>
          <a:stretch>
            <a:fillRect/>
          </a:stretch>
        </p:blipFill>
        <p:spPr>
          <a:xfrm>
            <a:off x="684703" y="3784519"/>
            <a:ext cx="294803" cy="294803"/>
          </a:xfrm>
          <a:prstGeom prst="rect">
            <a:avLst/>
          </a:prstGeom>
        </p:spPr>
      </p:pic>
      <p:sp>
        <p:nvSpPr>
          <p:cNvPr id="11" name="Text 6"/>
          <p:cNvSpPr txBox="1"/>
          <p:nvPr/>
        </p:nvSpPr>
        <p:spPr>
          <a:xfrm>
            <a:off x="1280160" y="3621024"/>
            <a:ext cx="4343400" cy="1005840"/>
          </a:xfrm>
          <a:prstGeom prst="rect">
            <a:avLst/>
          </a:prstGeom>
          <a:noFill/>
          <a:ln/>
        </p:spPr>
        <p:txBody>
          <a:bodyPr wrap="square" lIns="0" tIns="0" rIns="0" bIns="0" rtlCol="0" anchor="t"/>
          <a:lstStyle/>
          <a:p>
            <a:pPr indent="0" marL="0">
              <a:buNone/>
            </a:pPr>
            <a:r>
              <a:rPr lang="en-US" sz="1500" dirty="0">
                <a:solidFill>
                  <a:schemeClr val="tx1"/>
                </a:solidFill>
              </a:rPr>
              <a:t>Logs expire after 90 days, so capture ran continuously for about 61 days, until 29 Aug 2026.</a:t>
            </a:r>
            <a:endParaRPr lang="en-US" sz="1500" dirty="0"/>
          </a:p>
        </p:txBody>
      </p:sp>
      <p:sp>
        <p:nvSpPr>
          <p:cNvPr id="12" name="icon circle"/>
          <p:cNvSpPr/>
          <p:nvPr/>
        </p:nvSpPr>
        <p:spPr>
          <a:xfrm>
            <a:off x="548640" y="4764024"/>
            <a:ext cx="566928" cy="566928"/>
          </a:xfrm>
          <a:prstGeom prst="ellipse">
            <a:avLst/>
          </a:prstGeom>
          <a:solidFill>
            <a:schemeClr val="accent1"/>
          </a:solidFill>
          <a:ln/>
        </p:spPr>
      </p:sp>
      <p:pic>
        <p:nvPicPr>
          <p:cNvPr id="13" name="Image 3" descr="db icon">    </p:cNvPr>
          <p:cNvPicPr>
            <a:picLocks noChangeAspect="1"/>
          </p:cNvPicPr>
          <p:nvPr/>
        </p:nvPicPr>
        <p:blipFill>
          <a:blip r:embed="rId4"/>
          <a:stretch>
            <a:fillRect/>
          </a:stretch>
        </p:blipFill>
        <p:spPr>
          <a:xfrm>
            <a:off x="684703" y="4900087"/>
            <a:ext cx="294803" cy="294803"/>
          </a:xfrm>
          <a:prstGeom prst="rect">
            <a:avLst/>
          </a:prstGeom>
        </p:spPr>
      </p:pic>
      <p:sp>
        <p:nvSpPr>
          <p:cNvPr id="14" name="Text 8"/>
          <p:cNvSpPr txBox="1"/>
          <p:nvPr/>
        </p:nvSpPr>
        <p:spPr>
          <a:xfrm>
            <a:off x="1280160" y="4736592"/>
            <a:ext cx="4343400" cy="1005840"/>
          </a:xfrm>
          <a:prstGeom prst="rect">
            <a:avLst/>
          </a:prstGeom>
          <a:noFill/>
          <a:ln/>
        </p:spPr>
        <p:txBody>
          <a:bodyPr wrap="square" lIns="0" tIns="0" rIns="0" bIns="0" rtlCol="0" anchor="t"/>
          <a:lstStyle/>
          <a:p>
            <a:pPr indent="0" marL="0">
              <a:buNone/>
            </a:pPr>
            <a:r>
              <a:rPr lang="en-US" sz="1500" dirty="0">
                <a:solidFill>
                  <a:schemeClr val="tx1"/>
                </a:solidFill>
              </a:rPr>
              <a:t>77 repositories captured (71 Java, 6 Python) into an immutable raw store.</a:t>
            </a:r>
            <a:endParaRPr lang="en-US" sz="1500" dirty="0"/>
          </a:p>
        </p:txBody>
      </p:sp>
      <p:pic>
        <p:nvPicPr>
          <p:cNvPr id="15" name="Image 4" descr="Streamlit corpus dashboard showing 77 of 300 repositories touched">    </p:cNvPr>
          <p:cNvPicPr>
            <a:picLocks noChangeAspect="1"/>
          </p:cNvPicPr>
          <p:nvPr/>
        </p:nvPicPr>
        <p:blipFill>
          <a:blip r:embed="rId5"/>
          <a:stretch>
            <a:fillRect/>
          </a:stretch>
        </p:blipFill>
        <p:spPr>
          <a:xfrm>
            <a:off x="5833872" y="1554480"/>
            <a:ext cx="5806440" cy="2701797"/>
          </a:xfrm>
          <a:prstGeom prst="rect">
            <a:avLst/>
          </a:prstGeom>
          <a:effectLst>
            <a:outerShdw sx="100000" sy="100000" kx="0" ky="0" algn="bl" rotWithShape="0" blurRad="76200" dist="25400" dir="5400000">
              <a:srgbClr val="000000">
                <a:alpha val="25000"/>
              </a:srgbClr>
            </a:outerShdw>
          </a:effectLst>
        </p:spPr>
      </p:pic>
      <p:sp>
        <p:nvSpPr>
          <p:cNvPr id="16" name="Text 9"/>
          <p:cNvSpPr txBox="1"/>
          <p:nvPr/>
        </p:nvSpPr>
        <p:spPr>
          <a:xfrm>
            <a:off x="5833872" y="4439157"/>
            <a:ext cx="5806440" cy="548640"/>
          </a:xfrm>
          <a:prstGeom prst="rect">
            <a:avLst/>
          </a:prstGeom>
          <a:noFill/>
          <a:ln/>
        </p:spPr>
        <p:txBody>
          <a:bodyPr wrap="square" lIns="0" tIns="0" rIns="0" bIns="0" rtlCol="0" anchor="t"/>
          <a:lstStyle/>
          <a:p>
            <a:pPr indent="0" marL="0">
              <a:buNone/>
            </a:pPr>
            <a:r>
              <a:rPr lang="en-US" sz="1200" i="1" dirty="0">
                <a:solidFill>
                  <a:schemeClr val="accent5"/>
                </a:solidFill>
              </a:rPr>
              <a:t>Live corpus dashboard (Streamlit): 300,565 of 302,245 capture units complete (99.4%), 0 join mismatches.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From raw CI logs to per-test outcomes</a:t>
            </a:r>
            <a:endParaRPr lang="en-US" sz="3200" dirty="0"/>
          </a:p>
        </p:txBody>
      </p:sp>
      <p:sp>
        <p:nvSpPr>
          <p:cNvPr id="3" name="card"/>
          <p:cNvSpPr/>
          <p:nvPr/>
        </p:nvSpPr>
        <p:spPr>
          <a:xfrm>
            <a:off x="548640" y="1417320"/>
            <a:ext cx="3447288" cy="2651760"/>
          </a:xfrm>
          <a:prstGeom prst="roundRect">
            <a:avLst>
              <a:gd name="adj" fmla="val 3448"/>
            </a:avLst>
          </a:prstGeom>
          <a:solidFill>
            <a:schemeClr val="bg2"/>
          </a:solidFill>
          <a:ln/>
        </p:spPr>
      </p:sp>
      <p:sp>
        <p:nvSpPr>
          <p:cNvPr id="4" name="icon circle"/>
          <p:cNvSpPr/>
          <p:nvPr/>
        </p:nvSpPr>
        <p:spPr>
          <a:xfrm>
            <a:off x="822960" y="1645920"/>
            <a:ext cx="640080" cy="640080"/>
          </a:xfrm>
          <a:prstGeom prst="ellipse">
            <a:avLst/>
          </a:prstGeom>
          <a:solidFill>
            <a:schemeClr val="tx2"/>
          </a:solidFill>
          <a:ln/>
        </p:spPr>
      </p:sp>
      <p:pic>
        <p:nvPicPr>
          <p:cNvPr id="5" name="Image 0" descr="file icon">    </p:cNvPr>
          <p:cNvPicPr>
            <a:picLocks noChangeAspect="1"/>
          </p:cNvPicPr>
          <p:nvPr/>
        </p:nvPicPr>
        <p:blipFill>
          <a:blip r:embed="rId1"/>
          <a:stretch>
            <a:fillRect/>
          </a:stretch>
        </p:blipFill>
        <p:spPr>
          <a:xfrm>
            <a:off x="976579" y="1799539"/>
            <a:ext cx="332842" cy="332842"/>
          </a:xfrm>
          <a:prstGeom prst="rect">
            <a:avLst/>
          </a:prstGeom>
        </p:spPr>
      </p:pic>
      <p:sp>
        <p:nvSpPr>
          <p:cNvPr id="6" name="Text 3"/>
          <p:cNvSpPr txBox="1"/>
          <p:nvPr/>
        </p:nvSpPr>
        <p:spPr>
          <a:xfrm>
            <a:off x="1600200" y="1645920"/>
            <a:ext cx="2258568" cy="640080"/>
          </a:xfrm>
          <a:prstGeom prst="rect">
            <a:avLst/>
          </a:prstGeom>
          <a:noFill/>
          <a:ln/>
        </p:spPr>
        <p:txBody>
          <a:bodyPr wrap="square" lIns="0" tIns="0" rIns="0" bIns="0" rtlCol="0" anchor="ctr"/>
          <a:lstStyle/>
          <a:p>
            <a:pPr indent="0" marL="0">
              <a:buNone/>
            </a:pPr>
            <a:r>
              <a:rPr lang="en-US" sz="1800" b="1" dirty="0">
                <a:solidFill>
                  <a:schemeClr val="tx1"/>
                </a:solidFill>
              </a:rPr>
              <a:t>Raw job log</a:t>
            </a:r>
            <a:endParaRPr lang="en-US" sz="1800" dirty="0"/>
          </a:p>
        </p:txBody>
      </p:sp>
      <p:sp>
        <p:nvSpPr>
          <p:cNvPr id="7" name="Text 4"/>
          <p:cNvSpPr txBox="1"/>
          <p:nvPr/>
        </p:nvSpPr>
        <p:spPr>
          <a:xfrm>
            <a:off x="822960" y="2468880"/>
            <a:ext cx="2898648" cy="1463040"/>
          </a:xfrm>
          <a:prstGeom prst="rect">
            <a:avLst/>
          </a:prstGeom>
          <a:noFill/>
          <a:ln/>
        </p:spPr>
        <p:txBody>
          <a:bodyPr wrap="square" lIns="0" tIns="0" rIns="0" bIns="0" rtlCol="0" anchor="t"/>
          <a:lstStyle/>
          <a:p>
            <a:pPr indent="0" marL="0">
              <a:buNone/>
            </a:pPr>
            <a:r>
              <a:rPr lang="en-US" sz="1400" dirty="0">
                <a:solidFill>
                  <a:schemeClr val="accent5"/>
                </a:solidFill>
              </a:rPr>
              <a:t>Strip ANSI codes and timestamps, handle ::group:: blocks and interleaved parallel output.</a:t>
            </a:r>
            <a:endParaRPr lang="en-US" sz="1400" dirty="0"/>
          </a:p>
        </p:txBody>
      </p:sp>
      <p:sp>
        <p:nvSpPr>
          <p:cNvPr id="8" name="arrow"/>
          <p:cNvSpPr/>
          <p:nvPr/>
        </p:nvSpPr>
        <p:spPr>
          <a:xfrm>
            <a:off x="4041648" y="2743200"/>
            <a:ext cx="283464" cy="0"/>
          </a:xfrm>
          <a:prstGeom prst="line">
            <a:avLst/>
          </a:prstGeom>
          <a:noFill/>
          <a:ln w="22225">
            <a:solidFill>
              <a:schemeClr val="accent1"/>
            </a:solidFill>
            <a:prstDash val="solid"/>
            <a:tailEnd type="triangle"/>
          </a:ln>
        </p:spPr>
      </p:sp>
      <p:sp>
        <p:nvSpPr>
          <p:cNvPr id="9" name="card"/>
          <p:cNvSpPr/>
          <p:nvPr/>
        </p:nvSpPr>
        <p:spPr>
          <a:xfrm>
            <a:off x="4370832" y="1417320"/>
            <a:ext cx="3447288" cy="2651760"/>
          </a:xfrm>
          <a:prstGeom prst="roundRect">
            <a:avLst>
              <a:gd name="adj" fmla="val 3448"/>
            </a:avLst>
          </a:prstGeom>
          <a:solidFill>
            <a:schemeClr val="bg2"/>
          </a:solidFill>
          <a:ln/>
        </p:spPr>
      </p:sp>
      <p:sp>
        <p:nvSpPr>
          <p:cNvPr id="10" name="icon circle"/>
          <p:cNvSpPr/>
          <p:nvPr/>
        </p:nvSpPr>
        <p:spPr>
          <a:xfrm>
            <a:off x="4645152" y="1645920"/>
            <a:ext cx="640080" cy="640080"/>
          </a:xfrm>
          <a:prstGeom prst="ellipse">
            <a:avLst/>
          </a:prstGeom>
          <a:solidFill>
            <a:schemeClr val="tx2"/>
          </a:solidFill>
          <a:ln/>
        </p:spPr>
      </p:sp>
      <p:pic>
        <p:nvPicPr>
          <p:cNvPr id="11" name="Image 1" descr="list icon">    </p:cNvPr>
          <p:cNvPicPr>
            <a:picLocks noChangeAspect="1"/>
          </p:cNvPicPr>
          <p:nvPr/>
        </p:nvPicPr>
        <p:blipFill>
          <a:blip r:embed="rId2"/>
          <a:stretch>
            <a:fillRect/>
          </a:stretch>
        </p:blipFill>
        <p:spPr>
          <a:xfrm>
            <a:off x="4798771" y="1799539"/>
            <a:ext cx="332842" cy="332842"/>
          </a:xfrm>
          <a:prstGeom prst="rect">
            <a:avLst/>
          </a:prstGeom>
        </p:spPr>
      </p:pic>
      <p:sp>
        <p:nvSpPr>
          <p:cNvPr id="12" name="Text 8"/>
          <p:cNvSpPr txBox="1"/>
          <p:nvPr/>
        </p:nvSpPr>
        <p:spPr>
          <a:xfrm>
            <a:off x="5422392" y="1645920"/>
            <a:ext cx="2258568" cy="640080"/>
          </a:xfrm>
          <a:prstGeom prst="rect">
            <a:avLst/>
          </a:prstGeom>
          <a:noFill/>
          <a:ln/>
        </p:spPr>
        <p:txBody>
          <a:bodyPr wrap="square" lIns="0" tIns="0" rIns="0" bIns="0" rtlCol="0" anchor="ctr"/>
          <a:lstStyle/>
          <a:p>
            <a:pPr indent="0" marL="0">
              <a:buNone/>
            </a:pPr>
            <a:r>
              <a:rPr lang="en-US" sz="1800" b="1" dirty="0">
                <a:solidFill>
                  <a:schemeClr val="tx1"/>
                </a:solidFill>
              </a:rPr>
              <a:t>Parsed outcome</a:t>
            </a:r>
            <a:endParaRPr lang="en-US" sz="1800" dirty="0"/>
          </a:p>
        </p:txBody>
      </p:sp>
      <p:sp>
        <p:nvSpPr>
          <p:cNvPr id="13" name="Text 9"/>
          <p:cNvSpPr txBox="1"/>
          <p:nvPr/>
        </p:nvSpPr>
        <p:spPr>
          <a:xfrm>
            <a:off x="4645152" y="2468880"/>
            <a:ext cx="2898648" cy="1463040"/>
          </a:xfrm>
          <a:prstGeom prst="rect">
            <a:avLst/>
          </a:prstGeom>
          <a:noFill/>
          <a:ln/>
        </p:spPr>
        <p:txBody>
          <a:bodyPr wrap="square" lIns="0" tIns="0" rIns="0" bIns="0" rtlCol="0" anchor="t"/>
          <a:lstStyle/>
          <a:p>
            <a:pPr indent="0" marL="0">
              <a:buNone/>
            </a:pPr>
            <a:r>
              <a:rPr lang="en-US" sz="1400" dirty="0">
                <a:solidFill>
                  <a:schemeClr val="accent5"/>
                </a:solidFill>
              </a:rPr>
              <a:t>One record per test: name, verdict, failure message. Parsers for Gradle, Maven and pytest.</a:t>
            </a:r>
            <a:endParaRPr lang="en-US" sz="1400" dirty="0"/>
          </a:p>
        </p:txBody>
      </p:sp>
      <p:sp>
        <p:nvSpPr>
          <p:cNvPr id="14" name="arrow"/>
          <p:cNvSpPr/>
          <p:nvPr/>
        </p:nvSpPr>
        <p:spPr>
          <a:xfrm>
            <a:off x="7863840" y="2743200"/>
            <a:ext cx="283464" cy="0"/>
          </a:xfrm>
          <a:prstGeom prst="line">
            <a:avLst/>
          </a:prstGeom>
          <a:noFill/>
          <a:ln w="22225">
            <a:solidFill>
              <a:schemeClr val="accent1"/>
            </a:solidFill>
            <a:prstDash val="solid"/>
            <a:tailEnd type="triangle"/>
          </a:ln>
        </p:spPr>
      </p:sp>
      <p:sp>
        <p:nvSpPr>
          <p:cNvPr id="15" name="card"/>
          <p:cNvSpPr/>
          <p:nvPr/>
        </p:nvSpPr>
        <p:spPr>
          <a:xfrm>
            <a:off x="8193024" y="1417320"/>
            <a:ext cx="3447288" cy="2651760"/>
          </a:xfrm>
          <a:prstGeom prst="roundRect">
            <a:avLst>
              <a:gd name="adj" fmla="val 3448"/>
            </a:avLst>
          </a:prstGeom>
          <a:solidFill>
            <a:schemeClr val="bg2"/>
          </a:solidFill>
          <a:ln/>
        </p:spPr>
      </p:sp>
      <p:sp>
        <p:nvSpPr>
          <p:cNvPr id="16" name="icon circle"/>
          <p:cNvSpPr/>
          <p:nvPr/>
        </p:nvSpPr>
        <p:spPr>
          <a:xfrm>
            <a:off x="8467344" y="1645920"/>
            <a:ext cx="640080" cy="640080"/>
          </a:xfrm>
          <a:prstGeom prst="ellipse">
            <a:avLst/>
          </a:prstGeom>
          <a:solidFill>
            <a:schemeClr val="tx2"/>
          </a:solidFill>
          <a:ln/>
        </p:spPr>
      </p:sp>
      <p:pic>
        <p:nvPicPr>
          <p:cNvPr id="17" name="Image 2" descr="finger icon">    </p:cNvPr>
          <p:cNvPicPr>
            <a:picLocks noChangeAspect="1"/>
          </p:cNvPicPr>
          <p:nvPr/>
        </p:nvPicPr>
        <p:blipFill>
          <a:blip r:embed="rId3"/>
          <a:stretch>
            <a:fillRect/>
          </a:stretch>
        </p:blipFill>
        <p:spPr>
          <a:xfrm>
            <a:off x="8620963" y="1799539"/>
            <a:ext cx="332842" cy="332842"/>
          </a:xfrm>
          <a:prstGeom prst="rect">
            <a:avLst/>
          </a:prstGeom>
        </p:spPr>
      </p:pic>
      <p:sp>
        <p:nvSpPr>
          <p:cNvPr id="18" name="Text 13"/>
          <p:cNvSpPr txBox="1"/>
          <p:nvPr/>
        </p:nvSpPr>
        <p:spPr>
          <a:xfrm>
            <a:off x="9244584" y="1645920"/>
            <a:ext cx="2258568" cy="640080"/>
          </a:xfrm>
          <a:prstGeom prst="rect">
            <a:avLst/>
          </a:prstGeom>
          <a:noFill/>
          <a:ln/>
        </p:spPr>
        <p:txBody>
          <a:bodyPr wrap="square" lIns="0" tIns="0" rIns="0" bIns="0" rtlCol="0" anchor="ctr"/>
          <a:lstStyle/>
          <a:p>
            <a:pPr indent="0" marL="0">
              <a:buNone/>
            </a:pPr>
            <a:r>
              <a:rPr lang="en-US" sz="1800" b="1" dirty="0">
                <a:solidFill>
                  <a:schemeClr val="tx1"/>
                </a:solidFill>
              </a:rPr>
              <a:t>Canonical test_id</a:t>
            </a:r>
            <a:endParaRPr lang="en-US" sz="1800" dirty="0"/>
          </a:p>
        </p:txBody>
      </p:sp>
      <p:sp>
        <p:nvSpPr>
          <p:cNvPr id="19" name="Text 14"/>
          <p:cNvSpPr txBox="1"/>
          <p:nvPr/>
        </p:nvSpPr>
        <p:spPr>
          <a:xfrm>
            <a:off x="8467344" y="2468880"/>
            <a:ext cx="2898648" cy="1463040"/>
          </a:xfrm>
          <a:prstGeom prst="rect">
            <a:avLst/>
          </a:prstGeom>
          <a:noFill/>
          <a:ln/>
        </p:spPr>
        <p:txBody>
          <a:bodyPr wrap="square" lIns="0" tIns="0" rIns="0" bIns="0" rtlCol="0" anchor="t"/>
          <a:lstStyle/>
          <a:p>
            <a:pPr indent="0" marL="0">
              <a:buNone/>
            </a:pPr>
            <a:r>
              <a:rPr lang="en-US" sz="1400" dirty="0">
                <a:solidFill>
                  <a:schemeClr val="accent5"/>
                </a:solidFill>
              </a:rPr>
              <a:t>One normaliser (NFKC + casefold, Class#method). The project-wide join key, contract-tested on every merge.</a:t>
            </a:r>
            <a:endParaRPr lang="en-US" sz="1400" dirty="0"/>
          </a:p>
        </p:txBody>
      </p:sp>
      <p:sp>
        <p:nvSpPr>
          <p:cNvPr id="20" name="Text 15"/>
          <p:cNvSpPr txBox="1"/>
          <p:nvPr/>
        </p:nvSpPr>
        <p:spPr>
          <a:xfrm>
            <a:off x="548640" y="4389120"/>
            <a:ext cx="5486400" cy="365760"/>
          </a:xfrm>
          <a:prstGeom prst="rect">
            <a:avLst/>
          </a:prstGeom>
          <a:noFill/>
          <a:ln/>
        </p:spPr>
        <p:txBody>
          <a:bodyPr wrap="square" lIns="0" tIns="0" rIns="0" bIns="0" rtlCol="0" anchor="t"/>
          <a:lstStyle/>
          <a:p>
            <a:pPr indent="0" marL="0">
              <a:buNone/>
            </a:pPr>
            <a:r>
              <a:rPr lang="en-US" sz="1600" b="1" dirty="0">
                <a:solidFill>
                  <a:schemeClr val="tx1"/>
                </a:solidFill>
              </a:rPr>
              <a:t>Parser precision (development sets)</a:t>
            </a:r>
            <a:endParaRPr lang="en-US" sz="1600" dirty="0"/>
          </a:p>
        </p:txBody>
      </p:sp>
      <p:sp>
        <p:nvSpPr>
          <p:cNvPr id="21" name="Text 16"/>
          <p:cNvSpPr txBox="1"/>
          <p:nvPr/>
        </p:nvSpPr>
        <p:spPr>
          <a:xfrm>
            <a:off x="548640" y="4800600"/>
            <a:ext cx="256032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46/46</a:t>
            </a:r>
            <a:endParaRPr lang="en-US" sz="3600" dirty="0"/>
          </a:p>
        </p:txBody>
      </p:sp>
      <p:sp>
        <p:nvSpPr>
          <p:cNvPr id="22" name="Text 17"/>
          <p:cNvSpPr txBox="1"/>
          <p:nvPr/>
        </p:nvSpPr>
        <p:spPr>
          <a:xfrm>
            <a:off x="548640" y="5486400"/>
            <a:ext cx="2560320" cy="320040"/>
          </a:xfrm>
          <a:prstGeom prst="rect">
            <a:avLst/>
          </a:prstGeom>
          <a:noFill/>
          <a:ln/>
        </p:spPr>
        <p:txBody>
          <a:bodyPr wrap="square" lIns="0" tIns="0" rIns="0" bIns="0" rtlCol="0" anchor="t"/>
          <a:lstStyle/>
          <a:p>
            <a:pPr indent="0" marL="0">
              <a:buNone/>
            </a:pPr>
            <a:r>
              <a:rPr lang="en-US" sz="1300" dirty="0">
                <a:solidFill>
                  <a:schemeClr val="accent5"/>
                </a:solidFill>
              </a:rPr>
              <a:t>fixture corpus</a:t>
            </a:r>
            <a:endParaRPr lang="en-US" sz="1300" dirty="0"/>
          </a:p>
        </p:txBody>
      </p:sp>
      <p:sp>
        <p:nvSpPr>
          <p:cNvPr id="23" name="Text 18"/>
          <p:cNvSpPr txBox="1"/>
          <p:nvPr/>
        </p:nvSpPr>
        <p:spPr>
          <a:xfrm>
            <a:off x="3383280" y="4800600"/>
            <a:ext cx="256032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30/30</a:t>
            </a:r>
            <a:endParaRPr lang="en-US" sz="3600" dirty="0"/>
          </a:p>
        </p:txBody>
      </p:sp>
      <p:sp>
        <p:nvSpPr>
          <p:cNvPr id="24" name="Text 19"/>
          <p:cNvSpPr txBox="1"/>
          <p:nvPr/>
        </p:nvSpPr>
        <p:spPr>
          <a:xfrm>
            <a:off x="3383280" y="5486400"/>
            <a:ext cx="2560320" cy="320040"/>
          </a:xfrm>
          <a:prstGeom prst="rect">
            <a:avLst/>
          </a:prstGeom>
          <a:noFill/>
          <a:ln/>
        </p:spPr>
        <p:txBody>
          <a:bodyPr wrap="square" lIns="0" tIns="0" rIns="0" bIns="0" rtlCol="0" anchor="t"/>
          <a:lstStyle/>
          <a:p>
            <a:pPr indent="0" marL="0">
              <a:buNone/>
            </a:pPr>
            <a:r>
              <a:rPr lang="en-US" sz="1300" dirty="0">
                <a:solidFill>
                  <a:schemeClr val="accent5"/>
                </a:solidFill>
              </a:rPr>
              <a:t>holdout v1</a:t>
            </a:r>
            <a:endParaRPr lang="en-US" sz="1300" dirty="0"/>
          </a:p>
        </p:txBody>
      </p:sp>
      <p:sp>
        <p:nvSpPr>
          <p:cNvPr id="25" name="precision caveat"/>
          <p:cNvSpPr/>
          <p:nvPr/>
        </p:nvSpPr>
        <p:spPr>
          <a:xfrm>
            <a:off x="6263640" y="4434840"/>
            <a:ext cx="5376672" cy="1463040"/>
          </a:xfrm>
          <a:prstGeom prst="roundRect">
            <a:avLst>
              <a:gd name="adj" fmla="val 6250"/>
            </a:avLst>
          </a:prstGeom>
          <a:solidFill>
            <a:schemeClr val="bg2"/>
          </a:solidFill>
          <a:ln/>
        </p:spPr>
      </p:sp>
      <p:sp>
        <p:nvSpPr>
          <p:cNvPr id="26" name="icon circle"/>
          <p:cNvSpPr/>
          <p:nvPr/>
        </p:nvSpPr>
        <p:spPr>
          <a:xfrm>
            <a:off x="6446520" y="4617720"/>
            <a:ext cx="502920" cy="502920"/>
          </a:xfrm>
          <a:prstGeom prst="ellipse">
            <a:avLst/>
          </a:prstGeom>
          <a:solidFill>
            <a:schemeClr val="accent2"/>
          </a:solidFill>
          <a:ln/>
        </p:spPr>
      </p:sp>
      <p:pic>
        <p:nvPicPr>
          <p:cNvPr id="27" name="Image 3" descr="exclam icon">    </p:cNvPr>
          <p:cNvPicPr>
            <a:picLocks noChangeAspect="1"/>
          </p:cNvPicPr>
          <p:nvPr/>
        </p:nvPicPr>
        <p:blipFill>
          <a:blip r:embed="rId4"/>
          <a:stretch>
            <a:fillRect/>
          </a:stretch>
        </p:blipFill>
        <p:spPr>
          <a:xfrm>
            <a:off x="6567221" y="4738421"/>
            <a:ext cx="261518" cy="261518"/>
          </a:xfrm>
          <a:prstGeom prst="rect">
            <a:avLst/>
          </a:prstGeom>
        </p:spPr>
      </p:pic>
      <p:sp>
        <p:nvSpPr>
          <p:cNvPr id="28" name="Text 22"/>
          <p:cNvSpPr txBox="1"/>
          <p:nvPr/>
        </p:nvSpPr>
        <p:spPr>
          <a:xfrm>
            <a:off x="7132320" y="4526280"/>
            <a:ext cx="4343400" cy="1280160"/>
          </a:xfrm>
          <a:prstGeom prst="rect">
            <a:avLst/>
          </a:prstGeom>
          <a:noFill/>
          <a:ln/>
        </p:spPr>
        <p:txBody>
          <a:bodyPr wrap="square" lIns="0" tIns="0" rIns="0" bIns="0" rtlCol="0" anchor="ctr"/>
          <a:lstStyle/>
          <a:p>
            <a:pPr indent="0" marL="0">
              <a:buNone/>
            </a:pPr>
            <a:r>
              <a:rPr lang="en-US" sz="1400" dirty="0">
                <a:solidFill>
                  <a:schemeClr val="tx1"/>
                </a:solidFill>
              </a:rPr>
              <a:t>Both sets were used during development. The blind holdout (v5, 40 logs) is not yet scored, so independent precision is not claimed (D-53).</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Fault-revealing labels: base-run resolution</a:t>
            </a:r>
            <a:endParaRPr lang="en-US" sz="3200" dirty="0"/>
          </a:p>
        </p:txBody>
      </p:sp>
      <p:sp>
        <p:nvSpPr>
          <p:cNvPr id="3" name="equation"/>
          <p:cNvSpPr/>
          <p:nvPr/>
        </p:nvSpPr>
        <p:spPr>
          <a:xfrm>
            <a:off x="548640" y="1371600"/>
            <a:ext cx="11091672" cy="960120"/>
          </a:xfrm>
          <a:prstGeom prst="roundRect">
            <a:avLst>
              <a:gd name="adj" fmla="val 9524"/>
            </a:avLst>
          </a:prstGeom>
          <a:solidFill>
            <a:schemeClr val="tx2"/>
          </a:solidFill>
          <a:ln/>
        </p:spPr>
      </p:sp>
      <p:sp>
        <p:nvSpPr>
          <p:cNvPr id="4" name="Text 2"/>
          <p:cNvSpPr txBox="1"/>
          <p:nvPr/>
        </p:nvSpPr>
        <p:spPr>
          <a:xfrm>
            <a:off x="822960" y="1371600"/>
            <a:ext cx="6858000" cy="96012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T</a:t>
            </a:r>
            <a:pPr indent="0" marL="0">
              <a:buNone/>
            </a:pPr>
            <a:r>
              <a:rPr lang="en-US" sz="2600" baseline="-40000" dirty="0">
                <a:solidFill>
                  <a:schemeClr val="bg1"/>
                </a:solidFill>
                <a:latin typeface="Cambria" pitchFamily="34" charset="0"/>
                <a:ea typeface="Cambria" pitchFamily="34" charset="-122"/>
                <a:cs typeface="Cambria" pitchFamily="34" charset="-120"/>
              </a:rPr>
              <a:t>reveal</a:t>
            </a:r>
            <a:pPr indent="0" marL="0">
              <a:buNone/>
            </a:pPr>
            <a:r>
              <a:rPr lang="en-US" sz="2600" dirty="0">
                <a:solidFill>
                  <a:schemeClr val="bg1"/>
                </a:solidFill>
                <a:latin typeface="Cambria" pitchFamily="34" charset="0"/>
                <a:ea typeface="Cambria" pitchFamily="34" charset="-122"/>
                <a:cs typeface="Cambria" pitchFamily="34" charset="-120"/>
              </a:rPr>
              <a:t>  =  T</a:t>
            </a:r>
            <a:pPr indent="0" marL="0">
              <a:buNone/>
            </a:pPr>
            <a:r>
              <a:rPr lang="en-US" sz="2600" baseline="-40000" dirty="0">
                <a:solidFill>
                  <a:schemeClr val="bg1"/>
                </a:solidFill>
                <a:latin typeface="Cambria" pitchFamily="34" charset="0"/>
                <a:ea typeface="Cambria" pitchFamily="34" charset="-122"/>
                <a:cs typeface="Cambria" pitchFamily="34" charset="-120"/>
              </a:rPr>
              <a:t>head_fail</a:t>
            </a:r>
            <a:pPr indent="0" marL="0">
              <a:buNone/>
            </a:pPr>
            <a:r>
              <a:rPr lang="en-US" sz="2600" dirty="0">
                <a:solidFill>
                  <a:schemeClr val="bg1"/>
                </a:solidFill>
                <a:latin typeface="Cambria" pitchFamily="34" charset="0"/>
                <a:ea typeface="Cambria" pitchFamily="34" charset="-122"/>
                <a:cs typeface="Cambria" pitchFamily="34" charset="-120"/>
              </a:rPr>
              <a:t>  −  T</a:t>
            </a:r>
            <a:pPr indent="0" marL="0">
              <a:buNone/>
            </a:pPr>
            <a:r>
              <a:rPr lang="en-US" sz="2600" baseline="-40000" dirty="0">
                <a:solidFill>
                  <a:schemeClr val="bg1"/>
                </a:solidFill>
                <a:latin typeface="Cambria" pitchFamily="34" charset="0"/>
                <a:ea typeface="Cambria" pitchFamily="34" charset="-122"/>
                <a:cs typeface="Cambria" pitchFamily="34" charset="-120"/>
              </a:rPr>
              <a:t>base_fail</a:t>
            </a:r>
            <a:pPr indent="0" marL="0">
              <a:buNone/>
            </a:pPr>
            <a:r>
              <a:rPr lang="en-US" sz="2600" dirty="0">
                <a:solidFill>
                  <a:schemeClr val="bg1"/>
                </a:solidFill>
                <a:latin typeface="Cambria" pitchFamily="34" charset="0"/>
                <a:ea typeface="Cambria" pitchFamily="34" charset="-122"/>
                <a:cs typeface="Cambria" pitchFamily="34" charset="-120"/>
              </a:rPr>
              <a:t>  −  T</a:t>
            </a:r>
            <a:pPr indent="0" marL="0">
              <a:buNone/>
            </a:pPr>
            <a:r>
              <a:rPr lang="en-US" sz="2600" baseline="-40000" dirty="0">
                <a:solidFill>
                  <a:schemeClr val="bg1"/>
                </a:solidFill>
                <a:latin typeface="Cambria" pitchFamily="34" charset="0"/>
                <a:ea typeface="Cambria" pitchFamily="34" charset="-122"/>
                <a:cs typeface="Cambria" pitchFamily="34" charset="-120"/>
              </a:rPr>
              <a:t>flaky</a:t>
            </a:r>
            <a:endParaRPr lang="en-US" sz="2600" dirty="0"/>
          </a:p>
        </p:txBody>
      </p:sp>
      <p:sp>
        <p:nvSpPr>
          <p:cNvPr id="5" name="Text 3"/>
          <p:cNvSpPr txBox="1"/>
          <p:nvPr/>
        </p:nvSpPr>
        <p:spPr>
          <a:xfrm>
            <a:off x="7315200" y="1371600"/>
            <a:ext cx="4114800" cy="960120"/>
          </a:xfrm>
          <a:prstGeom prst="rect">
            <a:avLst/>
          </a:prstGeom>
          <a:noFill/>
          <a:ln/>
        </p:spPr>
        <p:txBody>
          <a:bodyPr wrap="square" lIns="0" tIns="0" rIns="0" bIns="0" rtlCol="0" anchor="ctr"/>
          <a:lstStyle/>
          <a:p>
            <a:pPr indent="0" marL="0">
              <a:buNone/>
            </a:pPr>
            <a:r>
              <a:rPr lang="en-US" sz="1400" i="1" dirty="0">
                <a:solidFill>
                  <a:schemeClr val="accent2"/>
                </a:solidFill>
              </a:rPr>
              <a:t>failed at head, not at base, and never flipped on the same commit</a:t>
            </a:r>
            <a:endParaRPr lang="en-US" sz="1400" dirty="0"/>
          </a:p>
        </p:txBody>
      </p:sp>
      <p:sp>
        <p:nvSpPr>
          <p:cNvPr id="6" name="card"/>
          <p:cNvSpPr/>
          <p:nvPr/>
        </p:nvSpPr>
        <p:spPr>
          <a:xfrm>
            <a:off x="548640" y="2697480"/>
            <a:ext cx="2606040" cy="1737360"/>
          </a:xfrm>
          <a:prstGeom prst="roundRect">
            <a:avLst>
              <a:gd name="adj" fmla="val 5263"/>
            </a:avLst>
          </a:prstGeom>
          <a:solidFill>
            <a:schemeClr val="bg2"/>
          </a:solidFill>
          <a:ln/>
        </p:spPr>
      </p:sp>
      <p:sp>
        <p:nvSpPr>
          <p:cNvPr id="7" name="number badge"/>
          <p:cNvSpPr/>
          <p:nvPr/>
        </p:nvSpPr>
        <p:spPr>
          <a:xfrm>
            <a:off x="731520" y="2852928"/>
            <a:ext cx="457200" cy="457200"/>
          </a:xfrm>
          <a:prstGeom prst="ellipse">
            <a:avLst/>
          </a:prstGeom>
          <a:solidFill>
            <a:schemeClr val="accent1"/>
          </a:solidFill>
          <a:ln/>
        </p:spPr>
      </p:sp>
      <p:sp>
        <p:nvSpPr>
          <p:cNvPr id="8" name="Text 6"/>
          <p:cNvSpPr txBox="1"/>
          <p:nvPr/>
        </p:nvSpPr>
        <p:spPr>
          <a:xfrm>
            <a:off x="731520" y="285292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7"/>
          <p:cNvSpPr txBox="1"/>
          <p:nvPr/>
        </p:nvSpPr>
        <p:spPr>
          <a:xfrm>
            <a:off x="731520" y="3429000"/>
            <a:ext cx="2240280" cy="960120"/>
          </a:xfrm>
          <a:prstGeom prst="rect">
            <a:avLst/>
          </a:prstGeom>
          <a:noFill/>
          <a:ln/>
        </p:spPr>
        <p:txBody>
          <a:bodyPr wrap="square" lIns="0" tIns="0" rIns="0" bIns="0" rtlCol="0" anchor="t"/>
          <a:lstStyle/>
          <a:p>
            <a:pPr indent="0" marL="0">
              <a:buNone/>
            </a:pPr>
            <a:r>
              <a:rPr lang="en-US" sz="1400" dirty="0">
                <a:solidFill>
                  <a:schemeClr val="tx1"/>
                </a:solidFill>
              </a:rPr>
              <a:t>Find the tests failing at the head commit</a:t>
            </a:r>
            <a:endParaRPr lang="en-US" sz="1400" dirty="0"/>
          </a:p>
        </p:txBody>
      </p:sp>
      <p:sp>
        <p:nvSpPr>
          <p:cNvPr id="10" name="card"/>
          <p:cNvSpPr/>
          <p:nvPr/>
        </p:nvSpPr>
        <p:spPr>
          <a:xfrm>
            <a:off x="3364992" y="2697480"/>
            <a:ext cx="2606040" cy="1737360"/>
          </a:xfrm>
          <a:prstGeom prst="roundRect">
            <a:avLst>
              <a:gd name="adj" fmla="val 5263"/>
            </a:avLst>
          </a:prstGeom>
          <a:solidFill>
            <a:schemeClr val="bg2"/>
          </a:solidFill>
          <a:ln/>
        </p:spPr>
      </p:sp>
      <p:sp>
        <p:nvSpPr>
          <p:cNvPr id="11" name="number badge"/>
          <p:cNvSpPr/>
          <p:nvPr/>
        </p:nvSpPr>
        <p:spPr>
          <a:xfrm>
            <a:off x="3547872" y="2852928"/>
            <a:ext cx="457200" cy="457200"/>
          </a:xfrm>
          <a:prstGeom prst="ellipse">
            <a:avLst/>
          </a:prstGeom>
          <a:solidFill>
            <a:schemeClr val="accent1"/>
          </a:solidFill>
          <a:ln/>
        </p:spPr>
      </p:sp>
      <p:sp>
        <p:nvSpPr>
          <p:cNvPr id="12" name="Text 10"/>
          <p:cNvSpPr txBox="1"/>
          <p:nvPr/>
        </p:nvSpPr>
        <p:spPr>
          <a:xfrm>
            <a:off x="3547872" y="285292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1"/>
          <p:cNvSpPr txBox="1"/>
          <p:nvPr/>
        </p:nvSpPr>
        <p:spPr>
          <a:xfrm>
            <a:off x="3547872" y="3429000"/>
            <a:ext cx="2240280" cy="960120"/>
          </a:xfrm>
          <a:prstGeom prst="rect">
            <a:avLst/>
          </a:prstGeom>
          <a:noFill/>
          <a:ln/>
        </p:spPr>
        <p:txBody>
          <a:bodyPr wrap="square" lIns="0" tIns="0" rIns="0" bIns="0" rtlCol="0" anchor="t"/>
          <a:lstStyle/>
          <a:p>
            <a:pPr indent="0" marL="0">
              <a:buNone/>
            </a:pPr>
            <a:r>
              <a:rPr lang="en-US" sz="1400" dirty="0">
                <a:solidFill>
                  <a:schemeClr val="tx1"/>
                </a:solidFill>
              </a:rPr>
              <a:t>Base run = latest run of the same workflow at the base commit; else walk back up to 10 ancestors</a:t>
            </a:r>
            <a:endParaRPr lang="en-US" sz="1400" dirty="0"/>
          </a:p>
        </p:txBody>
      </p:sp>
      <p:sp>
        <p:nvSpPr>
          <p:cNvPr id="14" name="card"/>
          <p:cNvSpPr/>
          <p:nvPr/>
        </p:nvSpPr>
        <p:spPr>
          <a:xfrm>
            <a:off x="6181344" y="2697480"/>
            <a:ext cx="2606040" cy="1737360"/>
          </a:xfrm>
          <a:prstGeom prst="roundRect">
            <a:avLst>
              <a:gd name="adj" fmla="val 5263"/>
            </a:avLst>
          </a:prstGeom>
          <a:solidFill>
            <a:schemeClr val="bg2"/>
          </a:solidFill>
          <a:ln/>
        </p:spPr>
      </p:sp>
      <p:sp>
        <p:nvSpPr>
          <p:cNvPr id="15" name="number badge"/>
          <p:cNvSpPr/>
          <p:nvPr/>
        </p:nvSpPr>
        <p:spPr>
          <a:xfrm>
            <a:off x="6364224" y="2852928"/>
            <a:ext cx="457200" cy="457200"/>
          </a:xfrm>
          <a:prstGeom prst="ellipse">
            <a:avLst/>
          </a:prstGeom>
          <a:solidFill>
            <a:schemeClr val="accent6"/>
          </a:solidFill>
          <a:ln/>
        </p:spPr>
      </p:sp>
      <p:sp>
        <p:nvSpPr>
          <p:cNvPr id="16" name="Text 14"/>
          <p:cNvSpPr txBox="1"/>
          <p:nvPr/>
        </p:nvSpPr>
        <p:spPr>
          <a:xfrm>
            <a:off x="6364224" y="285292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6364224" y="3429000"/>
            <a:ext cx="2240280" cy="960120"/>
          </a:xfrm>
          <a:prstGeom prst="rect">
            <a:avLst/>
          </a:prstGeom>
          <a:noFill/>
          <a:ln/>
        </p:spPr>
        <p:txBody>
          <a:bodyPr wrap="square" lIns="0" tIns="0" rIns="0" bIns="0" rtlCol="0" anchor="t"/>
          <a:lstStyle/>
          <a:p>
            <a:pPr indent="0" marL="0">
              <a:buNone/>
            </a:pPr>
            <a:r>
              <a:rPr lang="en-US" sz="1400" dirty="0">
                <a:solidFill>
                  <a:schemeClr val="tx1"/>
                </a:solidFill>
              </a:rPr>
              <a:t>No base found → status no_base, emit no labels</a:t>
            </a:r>
            <a:endParaRPr lang="en-US" sz="1400" dirty="0"/>
          </a:p>
        </p:txBody>
      </p:sp>
      <p:sp>
        <p:nvSpPr>
          <p:cNvPr id="18" name="card"/>
          <p:cNvSpPr/>
          <p:nvPr/>
        </p:nvSpPr>
        <p:spPr>
          <a:xfrm>
            <a:off x="8997696" y="2697480"/>
            <a:ext cx="2606040" cy="1737360"/>
          </a:xfrm>
          <a:prstGeom prst="roundRect">
            <a:avLst>
              <a:gd name="adj" fmla="val 5263"/>
            </a:avLst>
          </a:prstGeom>
          <a:solidFill>
            <a:schemeClr val="bg2"/>
          </a:solidFill>
          <a:ln/>
        </p:spPr>
      </p:sp>
      <p:sp>
        <p:nvSpPr>
          <p:cNvPr id="19" name="number badge"/>
          <p:cNvSpPr/>
          <p:nvPr/>
        </p:nvSpPr>
        <p:spPr>
          <a:xfrm>
            <a:off x="9180576" y="2852928"/>
            <a:ext cx="457200" cy="457200"/>
          </a:xfrm>
          <a:prstGeom prst="ellipse">
            <a:avLst/>
          </a:prstGeom>
          <a:solidFill>
            <a:schemeClr val="accent1"/>
          </a:solidFill>
          <a:ln/>
        </p:spPr>
      </p:sp>
      <p:sp>
        <p:nvSpPr>
          <p:cNvPr id="20" name="Text 18"/>
          <p:cNvSpPr txBox="1"/>
          <p:nvPr/>
        </p:nvSpPr>
        <p:spPr>
          <a:xfrm>
            <a:off x="9180576" y="285292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9180576" y="3429000"/>
            <a:ext cx="2240280" cy="960120"/>
          </a:xfrm>
          <a:prstGeom prst="rect">
            <a:avLst/>
          </a:prstGeom>
          <a:noFill/>
          <a:ln/>
        </p:spPr>
        <p:txBody>
          <a:bodyPr wrap="square" lIns="0" tIns="0" rIns="0" bIns="0" rtlCol="0" anchor="t"/>
          <a:lstStyle/>
          <a:p>
            <a:pPr indent="0" marL="0">
              <a:buNone/>
            </a:pPr>
            <a:r>
              <a:rPr lang="en-US" sz="1400" dirty="0">
                <a:solidFill>
                  <a:schemeClr val="tx1"/>
                </a:solidFill>
              </a:rPr>
              <a:t>Subtract base failures, then remove same-commit flips</a:t>
            </a:r>
            <a:endParaRPr lang="en-US" sz="1400" dirty="0"/>
          </a:p>
        </p:txBody>
      </p:sp>
      <p:sp>
        <p:nvSpPr>
          <p:cNvPr id="22" name="invariant outline"/>
          <p:cNvSpPr/>
          <p:nvPr/>
        </p:nvSpPr>
        <p:spPr>
          <a:xfrm>
            <a:off x="548640" y="4754880"/>
            <a:ext cx="11091672" cy="1188720"/>
          </a:xfrm>
          <a:prstGeom prst="roundRect">
            <a:avLst>
              <a:gd name="adj" fmla="val 7692"/>
            </a:avLst>
          </a:prstGeom>
          <a:solidFill>
            <a:schemeClr val="bg1"/>
          </a:solidFill>
          <a:ln w="19050">
            <a:solidFill>
              <a:schemeClr val="accent6"/>
            </a:solidFill>
            <a:prstDash val="solid"/>
          </a:ln>
        </p:spPr>
      </p:sp>
      <p:sp>
        <p:nvSpPr>
          <p:cNvPr id="23" name="icon circle"/>
          <p:cNvSpPr/>
          <p:nvPr/>
        </p:nvSpPr>
        <p:spPr>
          <a:xfrm>
            <a:off x="777240" y="5010912"/>
            <a:ext cx="658368" cy="658368"/>
          </a:xfrm>
          <a:prstGeom prst="ellipse">
            <a:avLst/>
          </a:prstGeom>
          <a:solidFill>
            <a:schemeClr val="accent6"/>
          </a:solidFill>
          <a:ln/>
        </p:spPr>
      </p:sp>
      <p:pic>
        <p:nvPicPr>
          <p:cNvPr id="24" name="Image 0" descr="exclam icon">    </p:cNvPr>
          <p:cNvPicPr>
            <a:picLocks noChangeAspect="1"/>
          </p:cNvPicPr>
          <p:nvPr/>
        </p:nvPicPr>
        <p:blipFill>
          <a:blip r:embed="rId1"/>
          <a:stretch>
            <a:fillRect/>
          </a:stretch>
        </p:blipFill>
        <p:spPr>
          <a:xfrm>
            <a:off x="935248" y="5168920"/>
            <a:ext cx="342351" cy="342351"/>
          </a:xfrm>
          <a:prstGeom prst="rect">
            <a:avLst/>
          </a:prstGeom>
        </p:spPr>
      </p:pic>
      <p:sp>
        <p:nvSpPr>
          <p:cNvPr id="25" name="Text 22"/>
          <p:cNvSpPr txBox="1"/>
          <p:nvPr/>
        </p:nvSpPr>
        <p:spPr>
          <a:xfrm>
            <a:off x="1645920" y="4754880"/>
            <a:ext cx="9784080" cy="1188720"/>
          </a:xfrm>
          <a:prstGeom prst="rect">
            <a:avLst/>
          </a:prstGeom>
          <a:noFill/>
          <a:ln/>
        </p:spPr>
        <p:txBody>
          <a:bodyPr wrap="square" lIns="0" tIns="0" rIns="0" bIns="0" rtlCol="0" anchor="ctr"/>
          <a:lstStyle/>
          <a:p>
            <a:pPr indent="0" marL="0">
              <a:buNone/>
            </a:pPr>
            <a:r>
              <a:rPr lang="en-US" sz="1500" b="1" dirty="0">
                <a:solidFill>
                  <a:schemeClr val="accent6"/>
                </a:solidFill>
              </a:rPr>
              <a:t>Critical invariant: </a:t>
            </a:r>
            <a:pPr indent="0" marL="0">
              <a:buNone/>
            </a:pPr>
            <a:r>
              <a:rPr lang="en-US" sz="1500" dirty="0">
                <a:solidFill>
                  <a:schemeClr val="tx1"/>
                </a:solidFill>
              </a:rPr>
              <a:t>an empty base failure set is never read as "the base was green". Otherwise every failure at head would become a fault-revealing label, manufacturing false positives at scale.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Binding each test to its file</a:t>
            </a:r>
            <a:endParaRPr lang="en-US" sz="3200" dirty="0"/>
          </a:p>
        </p:txBody>
      </p:sp>
      <p:graphicFrame>
        <p:nvGraphicFramePr>
          <p:cNvPr id="3" name="Chart 0" descr=""/>
          <p:cNvGraphicFramePr/>
          <p:nvPr/>
        </p:nvGraphicFramePr>
        <p:xfrm>
          <a:off x="457200" y="1280160"/>
          <a:ext cx="548640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0" y="1463040"/>
            <a:ext cx="2743200" cy="777240"/>
          </a:xfrm>
          <a:prstGeom prst="rect">
            <a:avLst/>
          </a:prstGeom>
          <a:noFill/>
          <a:ln/>
        </p:spPr>
        <p:txBody>
          <a:bodyPr wrap="square" lIns="0" tIns="0" rIns="0" bIns="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94.29%</a:t>
            </a:r>
            <a:endParaRPr lang="en-US" sz="4000" dirty="0"/>
          </a:p>
        </p:txBody>
      </p:sp>
      <p:sp>
        <p:nvSpPr>
          <p:cNvPr id="5" name="status pill"/>
          <p:cNvSpPr/>
          <p:nvPr/>
        </p:nvSpPr>
        <p:spPr>
          <a:xfrm>
            <a:off x="9418320" y="1691640"/>
            <a:ext cx="1280160" cy="310896"/>
          </a:xfrm>
          <a:prstGeom prst="roundRect">
            <a:avLst>
              <a:gd name="adj" fmla="val 50000"/>
            </a:avLst>
          </a:prstGeom>
          <a:solidFill>
            <a:schemeClr val="accent4"/>
          </a:solidFill>
          <a:ln/>
        </p:spPr>
      </p:sp>
      <p:sp>
        <p:nvSpPr>
          <p:cNvPr id="6" name="Text 3"/>
          <p:cNvSpPr txBox="1"/>
          <p:nvPr/>
        </p:nvSpPr>
        <p:spPr>
          <a:xfrm>
            <a:off x="9418320" y="1691640"/>
            <a:ext cx="1280160" cy="310896"/>
          </a:xfrm>
          <a:prstGeom prst="rect">
            <a:avLst/>
          </a:prstGeom>
          <a:noFill/>
          <a:ln/>
        </p:spPr>
        <p:txBody>
          <a:bodyPr wrap="square" lIns="0" tIns="0" rIns="0" bIns="0" rtlCol="0" anchor="ctr"/>
          <a:lstStyle/>
          <a:p>
            <a:pPr algn="ctr" indent="0" marL="0">
              <a:buNone/>
            </a:pPr>
            <a:r>
              <a:rPr lang="en-US" sz="1100" b="1" dirty="0">
                <a:solidFill>
                  <a:schemeClr val="bg1"/>
                </a:solidFill>
              </a:rPr>
              <a:t>MET</a:t>
            </a:r>
            <a:endParaRPr lang="en-US" sz="1100" dirty="0"/>
          </a:p>
        </p:txBody>
      </p:sp>
      <p:sp>
        <p:nvSpPr>
          <p:cNvPr id="7" name="Text 4"/>
          <p:cNvSpPr txBox="1"/>
          <p:nvPr/>
        </p:nvSpPr>
        <p:spPr>
          <a:xfrm>
            <a:off x="6400800" y="2240280"/>
            <a:ext cx="5212080" cy="365760"/>
          </a:xfrm>
          <a:prstGeom prst="rect">
            <a:avLst/>
          </a:prstGeom>
          <a:noFill/>
          <a:ln/>
        </p:spPr>
        <p:txBody>
          <a:bodyPr wrap="square" lIns="0" tIns="0" rIns="0" bIns="0" rtlCol="0" anchor="t"/>
          <a:lstStyle/>
          <a:p>
            <a:pPr indent="0" marL="0">
              <a:buNone/>
            </a:pPr>
            <a:r>
              <a:rPr lang="en-US" sz="1400" dirty="0">
                <a:solidFill>
                  <a:schemeClr val="accent5"/>
                </a:solidFill>
              </a:rPr>
              <a:t>combined (5,643 / 5,985) · Gate 1.5 needs ≥ 70%</a:t>
            </a:r>
            <a:endParaRPr lang="en-US" sz="1400" dirty="0"/>
          </a:p>
        </p:txBody>
      </p:sp>
      <p:sp>
        <p:nvSpPr>
          <p:cNvPr id="8" name="Text 5"/>
          <p:cNvSpPr txBox="1"/>
          <p:nvPr/>
        </p:nvSpPr>
        <p:spPr>
          <a:xfrm>
            <a:off x="6400800" y="2926080"/>
            <a:ext cx="274320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63.83%</a:t>
            </a:r>
            <a:endParaRPr lang="en-US" sz="4000" dirty="0"/>
          </a:p>
        </p:txBody>
      </p:sp>
      <p:sp>
        <p:nvSpPr>
          <p:cNvPr id="9" name="status pill"/>
          <p:cNvSpPr/>
          <p:nvPr/>
        </p:nvSpPr>
        <p:spPr>
          <a:xfrm>
            <a:off x="9418320" y="3154680"/>
            <a:ext cx="1280160" cy="310896"/>
          </a:xfrm>
          <a:prstGeom prst="roundRect">
            <a:avLst>
              <a:gd name="adj" fmla="val 50000"/>
            </a:avLst>
          </a:prstGeom>
          <a:solidFill>
            <a:schemeClr val="accent6"/>
          </a:solidFill>
          <a:ln/>
        </p:spPr>
      </p:sp>
      <p:sp>
        <p:nvSpPr>
          <p:cNvPr id="10" name="Text 7"/>
          <p:cNvSpPr txBox="1"/>
          <p:nvPr/>
        </p:nvSpPr>
        <p:spPr>
          <a:xfrm>
            <a:off x="9418320" y="3154680"/>
            <a:ext cx="1280160" cy="310896"/>
          </a:xfrm>
          <a:prstGeom prst="rect">
            <a:avLst/>
          </a:prstGeom>
          <a:noFill/>
          <a:ln/>
        </p:spPr>
        <p:txBody>
          <a:bodyPr wrap="square" lIns="0" tIns="0" rIns="0" bIns="0" rtlCol="0" anchor="ctr"/>
          <a:lstStyle/>
          <a:p>
            <a:pPr algn="ctr" indent="0" marL="0">
              <a:buNone/>
            </a:pPr>
            <a:r>
              <a:rPr lang="en-US" sz="1100" b="1" dirty="0">
                <a:solidFill>
                  <a:schemeClr val="bg1"/>
                </a:solidFill>
              </a:rPr>
              <a:t>NOT MET</a:t>
            </a:r>
            <a:endParaRPr lang="en-US" sz="1100" dirty="0"/>
          </a:p>
        </p:txBody>
      </p:sp>
      <p:sp>
        <p:nvSpPr>
          <p:cNvPr id="11" name="Text 8"/>
          <p:cNvSpPr txBox="1"/>
          <p:nvPr/>
        </p:nvSpPr>
        <p:spPr>
          <a:xfrm>
            <a:off x="6400800" y="3703320"/>
            <a:ext cx="5212080" cy="365760"/>
          </a:xfrm>
          <a:prstGeom prst="rect">
            <a:avLst/>
          </a:prstGeom>
          <a:noFill/>
          <a:ln/>
        </p:spPr>
        <p:txBody>
          <a:bodyPr wrap="square" lIns="0" tIns="0" rIns="0" bIns="0" rtlCol="0" anchor="t"/>
          <a:lstStyle/>
          <a:p>
            <a:pPr indent="0" marL="0">
              <a:buNone/>
            </a:pPr>
            <a:r>
              <a:rPr lang="en-US" sz="1400" dirty="0">
                <a:solidFill>
                  <a:schemeClr val="accent5"/>
                </a:solidFill>
              </a:rPr>
              <a:t>full confidence (3,820 / 5,985) · Gate 1.5 needs ≥ 70%</a:t>
            </a:r>
            <a:endParaRPr lang="en-US" sz="1400" dirty="0"/>
          </a:p>
        </p:txBody>
      </p:sp>
      <p:sp>
        <p:nvSpPr>
          <p:cNvPr id="12" name="binding notes"/>
          <p:cNvSpPr/>
          <p:nvPr/>
        </p:nvSpPr>
        <p:spPr>
          <a:xfrm>
            <a:off x="6400800" y="4526280"/>
            <a:ext cx="5239512" cy="1417320"/>
          </a:xfrm>
          <a:prstGeom prst="roundRect">
            <a:avLst>
              <a:gd name="adj" fmla="val 6452"/>
            </a:avLst>
          </a:prstGeom>
          <a:solidFill>
            <a:schemeClr val="bg2"/>
          </a:solidFill>
          <a:ln/>
        </p:spPr>
      </p:sp>
      <p:sp>
        <p:nvSpPr>
          <p:cNvPr id="13" name="Text 10"/>
          <p:cNvSpPr txBox="1"/>
          <p:nvPr/>
        </p:nvSpPr>
        <p:spPr>
          <a:xfrm>
            <a:off x="6629400" y="4617720"/>
            <a:ext cx="4846320" cy="123444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Clones are pinned to a fixed commit per repository (D-50), so figures no longer drift as upstream code changes.</a:t>
            </a:r>
            <a:endParaRPr lang="en-US" sz="1400" dirty="0"/>
          </a:p>
          <a:p>
            <a:pPr indent="0" marL="0">
              <a:spcAft>
                <a:spcPts val="400"/>
              </a:spcAft>
              <a:buNone/>
            </a:pPr>
            <a:r>
              <a:rPr lang="en-US" sz="1400" b="1" dirty="0">
                <a:solidFill>
                  <a:schemeClr val="tx1"/>
                </a:solidFill>
              </a:rPr>
              <a:t>Both numbers are always reported together (D-47).</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Graph layer design</a:t>
            </a:r>
            <a:endParaRPr lang="en-US" sz="3200" dirty="0"/>
          </a:p>
        </p:txBody>
      </p:sp>
      <p:sp>
        <p:nvSpPr>
          <p:cNvPr id="3" name="card"/>
          <p:cNvSpPr/>
          <p:nvPr/>
        </p:nvSpPr>
        <p:spPr>
          <a:xfrm>
            <a:off x="548640" y="1417320"/>
            <a:ext cx="2606040" cy="3840480"/>
          </a:xfrm>
          <a:prstGeom prst="roundRect">
            <a:avLst>
              <a:gd name="adj" fmla="val 3509"/>
            </a:avLst>
          </a:prstGeom>
          <a:solidFill>
            <a:schemeClr val="bg2"/>
          </a:solidFill>
          <a:ln/>
        </p:spPr>
      </p:sp>
      <p:sp>
        <p:nvSpPr>
          <p:cNvPr id="4" name="icon circle"/>
          <p:cNvSpPr/>
          <p:nvPr/>
        </p:nvSpPr>
        <p:spPr>
          <a:xfrm>
            <a:off x="777240" y="1645920"/>
            <a:ext cx="685800" cy="685800"/>
          </a:xfrm>
          <a:prstGeom prst="ellipse">
            <a:avLst/>
          </a:prstGeom>
          <a:solidFill>
            <a:schemeClr val="accent3"/>
          </a:solidFill>
          <a:ln/>
        </p:spPr>
      </p:sp>
      <p:pic>
        <p:nvPicPr>
          <p:cNvPr id="5" name="Image 0" descr="cut icon">    </p:cNvPr>
          <p:cNvPicPr>
            <a:picLocks noChangeAspect="1"/>
          </p:cNvPicPr>
          <p:nvPr/>
        </p:nvPicPr>
        <p:blipFill>
          <a:blip r:embed="rId1"/>
          <a:stretch>
            <a:fillRect/>
          </a:stretch>
        </p:blipFill>
        <p:spPr>
          <a:xfrm>
            <a:off x="941832" y="1810512"/>
            <a:ext cx="356616" cy="356616"/>
          </a:xfrm>
          <a:prstGeom prst="rect">
            <a:avLst/>
          </a:prstGeom>
        </p:spPr>
      </p:pic>
      <p:sp>
        <p:nvSpPr>
          <p:cNvPr id="6" name="Text 3"/>
          <p:cNvSpPr txBox="1"/>
          <p:nvPr/>
        </p:nvSpPr>
        <p:spPr>
          <a:xfrm>
            <a:off x="777240" y="2514600"/>
            <a:ext cx="2148840" cy="685800"/>
          </a:xfrm>
          <a:prstGeom prst="rect">
            <a:avLst/>
          </a:prstGeom>
          <a:noFill/>
          <a:ln/>
        </p:spPr>
        <p:txBody>
          <a:bodyPr wrap="square" lIns="0" tIns="0" rIns="0" bIns="0" rtlCol="0" anchor="t"/>
          <a:lstStyle/>
          <a:p>
            <a:pPr indent="0" marL="0">
              <a:buNone/>
            </a:pPr>
            <a:r>
              <a:rPr lang="en-US" sz="1800" b="1" dirty="0">
                <a:solidFill>
                  <a:schemeClr val="tx1"/>
                </a:solidFill>
              </a:rPr>
              <a:t>Fork &amp; strip</a:t>
            </a:r>
            <a:endParaRPr lang="en-US" sz="1800" dirty="0"/>
          </a:p>
        </p:txBody>
      </p:sp>
      <p:sp>
        <p:nvSpPr>
          <p:cNvPr id="7" name="Text 4"/>
          <p:cNvSpPr txBox="1"/>
          <p:nvPr/>
        </p:nvSpPr>
        <p:spPr>
          <a:xfrm>
            <a:off x="777240" y="3246120"/>
            <a:ext cx="2148840" cy="1920240"/>
          </a:xfrm>
          <a:prstGeom prst="rect">
            <a:avLst/>
          </a:prstGeom>
          <a:noFill/>
          <a:ln/>
        </p:spPr>
        <p:txBody>
          <a:bodyPr wrap="square" lIns="0" tIns="0" rIns="0" bIns="0" rtlCol="0" anchor="t"/>
          <a:lstStyle/>
          <a:p>
            <a:pPr indent="0" marL="0">
              <a:buNone/>
            </a:pPr>
            <a:r>
              <a:rPr lang="en-US" sz="1400" dirty="0">
                <a:solidFill>
                  <a:schemeClr val="accent5"/>
                </a:solidFill>
              </a:rPr>
              <a:t>Graphify vendored at a fixed commit; 12 modules removed (−20,158 / +253 lines), including its LLM pass. 0 test regressions.</a:t>
            </a:r>
            <a:endParaRPr lang="en-US" sz="1400" dirty="0"/>
          </a:p>
        </p:txBody>
      </p:sp>
      <p:sp>
        <p:nvSpPr>
          <p:cNvPr id="8" name="arrow"/>
          <p:cNvSpPr/>
          <p:nvPr/>
        </p:nvSpPr>
        <p:spPr>
          <a:xfrm>
            <a:off x="3182112" y="1984248"/>
            <a:ext cx="155448" cy="0"/>
          </a:xfrm>
          <a:prstGeom prst="line">
            <a:avLst/>
          </a:prstGeom>
          <a:noFill/>
          <a:ln w="22225">
            <a:solidFill>
              <a:schemeClr val="accent3"/>
            </a:solidFill>
            <a:prstDash val="solid"/>
            <a:tailEnd type="triangle"/>
          </a:ln>
        </p:spPr>
      </p:sp>
      <p:sp>
        <p:nvSpPr>
          <p:cNvPr id="9" name="card"/>
          <p:cNvSpPr/>
          <p:nvPr/>
        </p:nvSpPr>
        <p:spPr>
          <a:xfrm>
            <a:off x="3364992" y="1417320"/>
            <a:ext cx="2606040" cy="3840480"/>
          </a:xfrm>
          <a:prstGeom prst="roundRect">
            <a:avLst>
              <a:gd name="adj" fmla="val 3509"/>
            </a:avLst>
          </a:prstGeom>
          <a:solidFill>
            <a:schemeClr val="bg2"/>
          </a:solidFill>
          <a:ln/>
        </p:spPr>
      </p:sp>
      <p:sp>
        <p:nvSpPr>
          <p:cNvPr id="10" name="icon circle"/>
          <p:cNvSpPr/>
          <p:nvPr/>
        </p:nvSpPr>
        <p:spPr>
          <a:xfrm>
            <a:off x="3593592" y="1645920"/>
            <a:ext cx="685800" cy="685800"/>
          </a:xfrm>
          <a:prstGeom prst="ellipse">
            <a:avLst/>
          </a:prstGeom>
          <a:solidFill>
            <a:schemeClr val="accent3"/>
          </a:solidFill>
          <a:ln/>
        </p:spPr>
      </p:sp>
      <p:pic>
        <p:nvPicPr>
          <p:cNvPr id="11" name="Image 1" descr="code icon">    </p:cNvPr>
          <p:cNvPicPr>
            <a:picLocks noChangeAspect="1"/>
          </p:cNvPicPr>
          <p:nvPr/>
        </p:nvPicPr>
        <p:blipFill>
          <a:blip r:embed="rId2"/>
          <a:stretch>
            <a:fillRect/>
          </a:stretch>
        </p:blipFill>
        <p:spPr>
          <a:xfrm>
            <a:off x="3758184" y="1810512"/>
            <a:ext cx="356616" cy="356616"/>
          </a:xfrm>
          <a:prstGeom prst="rect">
            <a:avLst/>
          </a:prstGeom>
        </p:spPr>
      </p:pic>
      <p:sp>
        <p:nvSpPr>
          <p:cNvPr id="12" name="Text 8"/>
          <p:cNvSpPr txBox="1"/>
          <p:nvPr/>
        </p:nvSpPr>
        <p:spPr>
          <a:xfrm>
            <a:off x="3593592" y="2514600"/>
            <a:ext cx="2148840" cy="685800"/>
          </a:xfrm>
          <a:prstGeom prst="rect">
            <a:avLst/>
          </a:prstGeom>
          <a:noFill/>
          <a:ln/>
        </p:spPr>
        <p:txBody>
          <a:bodyPr wrap="square" lIns="0" tIns="0" rIns="0" bIns="0" rtlCol="0" anchor="t"/>
          <a:lstStyle/>
          <a:p>
            <a:pPr indent="0" marL="0">
              <a:buNone/>
            </a:pPr>
            <a:r>
              <a:rPr lang="en-US" sz="1800" b="1" dirty="0">
                <a:solidFill>
                  <a:schemeClr val="tx1"/>
                </a:solidFill>
              </a:rPr>
              <a:t>Commit-pinned builder</a:t>
            </a:r>
            <a:endParaRPr lang="en-US" sz="1800" dirty="0"/>
          </a:p>
        </p:txBody>
      </p:sp>
      <p:sp>
        <p:nvSpPr>
          <p:cNvPr id="13" name="Text 9"/>
          <p:cNvSpPr txBox="1"/>
          <p:nvPr/>
        </p:nvSpPr>
        <p:spPr>
          <a:xfrm>
            <a:off x="3593592" y="3246120"/>
            <a:ext cx="2148840" cy="1920240"/>
          </a:xfrm>
          <a:prstGeom prst="rect">
            <a:avLst/>
          </a:prstGeom>
          <a:noFill/>
          <a:ln/>
        </p:spPr>
        <p:txBody>
          <a:bodyPr wrap="square" lIns="0" tIns="0" rIns="0" bIns="0" rtlCol="0" anchor="t"/>
          <a:lstStyle/>
          <a:p>
            <a:pPr indent="0" marL="0">
              <a:buNone/>
            </a:pPr>
            <a:r>
              <a:rPr lang="en-US" sz="1400" dirty="0">
                <a:solidFill>
                  <a:schemeClr val="accent5"/>
                </a:solidFill>
              </a:rPr>
              <a:t>Git worktree at a given commit → tree-sitter on .java and .py → compressed node-link JSON keyed by (repo, sha).</a:t>
            </a:r>
            <a:endParaRPr lang="en-US" sz="1400" dirty="0"/>
          </a:p>
        </p:txBody>
      </p:sp>
      <p:sp>
        <p:nvSpPr>
          <p:cNvPr id="14" name="arrow"/>
          <p:cNvSpPr/>
          <p:nvPr/>
        </p:nvSpPr>
        <p:spPr>
          <a:xfrm>
            <a:off x="5998464" y="1984248"/>
            <a:ext cx="155448" cy="0"/>
          </a:xfrm>
          <a:prstGeom prst="line">
            <a:avLst/>
          </a:prstGeom>
          <a:noFill/>
          <a:ln w="22225">
            <a:solidFill>
              <a:schemeClr val="accent3"/>
            </a:solidFill>
            <a:prstDash val="solid"/>
            <a:tailEnd type="triangle"/>
          </a:ln>
        </p:spPr>
      </p:sp>
      <p:sp>
        <p:nvSpPr>
          <p:cNvPr id="15" name="card"/>
          <p:cNvSpPr/>
          <p:nvPr/>
        </p:nvSpPr>
        <p:spPr>
          <a:xfrm>
            <a:off x="6181344" y="1417320"/>
            <a:ext cx="2606040" cy="3840480"/>
          </a:xfrm>
          <a:prstGeom prst="roundRect">
            <a:avLst>
              <a:gd name="adj" fmla="val 3509"/>
            </a:avLst>
          </a:prstGeom>
          <a:solidFill>
            <a:schemeClr val="bg2"/>
          </a:solidFill>
          <a:ln/>
        </p:spPr>
      </p:sp>
      <p:sp>
        <p:nvSpPr>
          <p:cNvPr id="16" name="icon circle"/>
          <p:cNvSpPr/>
          <p:nvPr/>
        </p:nvSpPr>
        <p:spPr>
          <a:xfrm>
            <a:off x="6409944" y="1645920"/>
            <a:ext cx="685800" cy="685800"/>
          </a:xfrm>
          <a:prstGeom prst="ellipse">
            <a:avLst/>
          </a:prstGeom>
          <a:solidFill>
            <a:schemeClr val="accent3"/>
          </a:solidFill>
          <a:ln/>
        </p:spPr>
      </p:sp>
      <p:pic>
        <p:nvPicPr>
          <p:cNvPr id="17" name="Image 2" descr="project icon">    </p:cNvPr>
          <p:cNvPicPr>
            <a:picLocks noChangeAspect="1"/>
          </p:cNvPicPr>
          <p:nvPr/>
        </p:nvPicPr>
        <p:blipFill>
          <a:blip r:embed="rId3"/>
          <a:stretch>
            <a:fillRect/>
          </a:stretch>
        </p:blipFill>
        <p:spPr>
          <a:xfrm>
            <a:off x="6574536" y="1810512"/>
            <a:ext cx="356616" cy="356616"/>
          </a:xfrm>
          <a:prstGeom prst="rect">
            <a:avLst/>
          </a:prstGeom>
        </p:spPr>
      </p:pic>
      <p:sp>
        <p:nvSpPr>
          <p:cNvPr id="18" name="Text 13"/>
          <p:cNvSpPr txBox="1"/>
          <p:nvPr/>
        </p:nvSpPr>
        <p:spPr>
          <a:xfrm>
            <a:off x="6409944" y="2514600"/>
            <a:ext cx="2148840" cy="685800"/>
          </a:xfrm>
          <a:prstGeom prst="rect">
            <a:avLst/>
          </a:prstGeom>
          <a:noFill/>
          <a:ln/>
        </p:spPr>
        <p:txBody>
          <a:bodyPr wrap="square" lIns="0" tIns="0" rIns="0" bIns="0" rtlCol="0" anchor="t"/>
          <a:lstStyle/>
          <a:p>
            <a:pPr indent="0" marL="0">
              <a:buNone/>
            </a:pPr>
            <a:r>
              <a:rPr lang="en-US" sz="1800" b="1" dirty="0">
                <a:solidFill>
                  <a:schemeClr val="tx1"/>
                </a:solidFill>
              </a:rPr>
              <a:t>Test nodes &amp; edges</a:t>
            </a:r>
            <a:endParaRPr lang="en-US" sz="1800" dirty="0"/>
          </a:p>
        </p:txBody>
      </p:sp>
      <p:sp>
        <p:nvSpPr>
          <p:cNvPr id="19" name="Text 14"/>
          <p:cNvSpPr txBox="1"/>
          <p:nvPr/>
        </p:nvSpPr>
        <p:spPr>
          <a:xfrm>
            <a:off x="6409944" y="3246120"/>
            <a:ext cx="2148840" cy="1920240"/>
          </a:xfrm>
          <a:prstGeom prst="rect">
            <a:avLst/>
          </a:prstGeom>
          <a:noFill/>
          <a:ln/>
        </p:spPr>
        <p:txBody>
          <a:bodyPr wrap="square" lIns="0" tIns="0" rIns="0" bIns="0" rtlCol="0" anchor="t"/>
          <a:lstStyle/>
          <a:p>
            <a:pPr indent="0" marL="0">
              <a:buNone/>
            </a:pPr>
            <a:r>
              <a:rPr lang="en-US" sz="1400" dirty="0">
                <a:solidFill>
                  <a:schemeClr val="accent5"/>
                </a:solidFill>
              </a:rPr>
              <a:t>Tests bound to test_id. Edges: direct calls, naming convention, mirrored layout. MultiDiGraph keyed by edge type.</a:t>
            </a:r>
            <a:endParaRPr lang="en-US" sz="1400" dirty="0"/>
          </a:p>
        </p:txBody>
      </p:sp>
      <p:sp>
        <p:nvSpPr>
          <p:cNvPr id="20" name="arrow"/>
          <p:cNvSpPr/>
          <p:nvPr/>
        </p:nvSpPr>
        <p:spPr>
          <a:xfrm>
            <a:off x="8814816" y="1984248"/>
            <a:ext cx="155448" cy="0"/>
          </a:xfrm>
          <a:prstGeom prst="line">
            <a:avLst/>
          </a:prstGeom>
          <a:noFill/>
          <a:ln w="22225">
            <a:solidFill>
              <a:schemeClr val="accent3"/>
            </a:solidFill>
            <a:prstDash val="solid"/>
            <a:tailEnd type="triangle"/>
          </a:ln>
        </p:spPr>
      </p:sp>
      <p:sp>
        <p:nvSpPr>
          <p:cNvPr id="21" name="card"/>
          <p:cNvSpPr/>
          <p:nvPr/>
        </p:nvSpPr>
        <p:spPr>
          <a:xfrm>
            <a:off x="8997696" y="1417320"/>
            <a:ext cx="2606040" cy="3840480"/>
          </a:xfrm>
          <a:prstGeom prst="roundRect">
            <a:avLst>
              <a:gd name="adj" fmla="val 3509"/>
            </a:avLst>
          </a:prstGeom>
          <a:solidFill>
            <a:schemeClr val="bg2"/>
          </a:solidFill>
          <a:ln/>
        </p:spPr>
      </p:sp>
      <p:sp>
        <p:nvSpPr>
          <p:cNvPr id="22" name="icon circle"/>
          <p:cNvSpPr/>
          <p:nvPr/>
        </p:nvSpPr>
        <p:spPr>
          <a:xfrm>
            <a:off x="9226296" y="1645920"/>
            <a:ext cx="685800" cy="685800"/>
          </a:xfrm>
          <a:prstGeom prst="ellipse">
            <a:avLst/>
          </a:prstGeom>
          <a:solidFill>
            <a:schemeClr val="accent3"/>
          </a:solidFill>
          <a:ln/>
        </p:spPr>
      </p:sp>
      <p:pic>
        <p:nvPicPr>
          <p:cNvPr id="23" name="Image 3" descr="search icon">    </p:cNvPr>
          <p:cNvPicPr>
            <a:picLocks noChangeAspect="1"/>
          </p:cNvPicPr>
          <p:nvPr/>
        </p:nvPicPr>
        <p:blipFill>
          <a:blip r:embed="rId4"/>
          <a:stretch>
            <a:fillRect/>
          </a:stretch>
        </p:blipFill>
        <p:spPr>
          <a:xfrm>
            <a:off x="9390888" y="1810512"/>
            <a:ext cx="356616" cy="356616"/>
          </a:xfrm>
          <a:prstGeom prst="rect">
            <a:avLst/>
          </a:prstGeom>
        </p:spPr>
      </p:pic>
      <p:sp>
        <p:nvSpPr>
          <p:cNvPr id="24" name="Text 18"/>
          <p:cNvSpPr txBox="1"/>
          <p:nvPr/>
        </p:nvSpPr>
        <p:spPr>
          <a:xfrm>
            <a:off x="9226296" y="2514600"/>
            <a:ext cx="2148840" cy="685800"/>
          </a:xfrm>
          <a:prstGeom prst="rect">
            <a:avLst/>
          </a:prstGeom>
          <a:noFill/>
          <a:ln/>
        </p:spPr>
        <p:txBody>
          <a:bodyPr wrap="square" lIns="0" tIns="0" rIns="0" bIns="0" rtlCol="0" anchor="t"/>
          <a:lstStyle/>
          <a:p>
            <a:pPr indent="0" marL="0">
              <a:buNone/>
            </a:pPr>
            <a:r>
              <a:rPr lang="en-US" sz="1800" b="1" dirty="0">
                <a:solidFill>
                  <a:schemeClr val="tx1"/>
                </a:solidFill>
              </a:rPr>
              <a:t>Query API</a:t>
            </a:r>
            <a:endParaRPr lang="en-US" sz="1800" dirty="0"/>
          </a:p>
        </p:txBody>
      </p:sp>
      <p:sp>
        <p:nvSpPr>
          <p:cNvPr id="25" name="Text 19"/>
          <p:cNvSpPr txBox="1"/>
          <p:nvPr/>
        </p:nvSpPr>
        <p:spPr>
          <a:xfrm>
            <a:off x="9226296" y="3246120"/>
            <a:ext cx="2148840" cy="1920240"/>
          </a:xfrm>
          <a:prstGeom prst="rect">
            <a:avLst/>
          </a:prstGeom>
          <a:noFill/>
          <a:ln/>
        </p:spPr>
        <p:txBody>
          <a:bodyPr wrap="square" lIns="0" tIns="0" rIns="0" bIns="0" rtlCol="0" anchor="t"/>
          <a:lstStyle/>
          <a:p>
            <a:pPr indent="0" marL="0">
              <a:buNone/>
            </a:pPr>
            <a:r>
              <a:rPr lang="en-US" sz="1400" dirty="0">
                <a:solidFill>
                  <a:schemeClr val="accent5"/>
                </a:solidFill>
              </a:rPr>
              <a:t>5 primitives: shortest path, distance to any changed node, k-hop neighbourhood, same community, PageRank delta.</a:t>
            </a:r>
            <a:endParaRPr lang="en-US" sz="1400" dirty="0"/>
          </a:p>
        </p:txBody>
      </p:sp>
      <p:sp>
        <p:nvSpPr>
          <p:cNvPr id="26" name="Text 20"/>
          <p:cNvSpPr txBox="1"/>
          <p:nvPr/>
        </p:nvSpPr>
        <p:spPr>
          <a:xfrm>
            <a:off x="548640" y="5486400"/>
            <a:ext cx="11091672" cy="457200"/>
          </a:xfrm>
          <a:prstGeom prst="rect">
            <a:avLst/>
          </a:prstGeom>
          <a:noFill/>
          <a:ln/>
        </p:spPr>
        <p:txBody>
          <a:bodyPr wrap="square" lIns="0" tIns="0" rIns="0" bIns="0" rtlCol="0" anchor="t"/>
          <a:lstStyle/>
          <a:p>
            <a:pPr indent="0" marL="0">
              <a:buNone/>
            </a:pPr>
            <a:r>
              <a:rPr lang="en-US" sz="1400" i="1" dirty="0">
                <a:solidFill>
                  <a:schemeClr val="accent5"/>
                </a:solidFill>
              </a:rPr>
              <a:t>Incremental builds reuse a SHA-256 content cache; a blocking test checks the incremental graph equals a cold build exactly.</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Graph layer results (3-repository mini-corpus)</a:t>
            </a:r>
            <a:endParaRPr lang="en-US" sz="3200" dirty="0"/>
          </a:p>
        </p:txBody>
      </p:sp>
      <p:sp>
        <p:nvSpPr>
          <p:cNvPr id="3" name="Text 1"/>
          <p:cNvSpPr txBox="1"/>
          <p:nvPr/>
        </p:nvSpPr>
        <p:spPr>
          <a:xfrm>
            <a:off x="548640" y="1371600"/>
            <a:ext cx="3840480" cy="91440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427 / 427</a:t>
            </a:r>
            <a:endParaRPr lang="en-US" sz="4800" dirty="0"/>
          </a:p>
        </p:txBody>
      </p:sp>
      <p:sp>
        <p:nvSpPr>
          <p:cNvPr id="4" name="Text 2"/>
          <p:cNvSpPr txBox="1"/>
          <p:nvPr/>
        </p:nvSpPr>
        <p:spPr>
          <a:xfrm>
            <a:off x="548640" y="2286000"/>
            <a:ext cx="3840480" cy="365760"/>
          </a:xfrm>
          <a:prstGeom prst="rect">
            <a:avLst/>
          </a:prstGeom>
          <a:noFill/>
          <a:ln/>
        </p:spPr>
        <p:txBody>
          <a:bodyPr wrap="square" lIns="0" tIns="0" rIns="0" bIns="0" rtlCol="0" anchor="t"/>
          <a:lstStyle/>
          <a:p>
            <a:pPr indent="0" marL="0">
              <a:buNone/>
            </a:pPr>
            <a:r>
              <a:rPr lang="en-US" sz="1500" dirty="0">
                <a:solidFill>
                  <a:schemeClr val="accent5"/>
                </a:solidFill>
              </a:rPr>
              <a:t>commit-pinned graphs built, 0 failures</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754880" y="1371600"/>
          <a:ext cx="6885432" cy="914400"/>
        </p:xfrm>
        <a:graphic>
          <a:graphicData uri="http://schemas.openxmlformats.org/drawingml/2006/table">
            <a:tbl>
              <a:tblPr/>
              <a:tblGrid>
                <a:gridCol w="3136392"/>
                <a:gridCol w="1097280"/>
                <a:gridCol w="1097280"/>
                <a:gridCol w="1554480"/>
              </a:tblGrid>
              <a:tr h="457200">
                <a:tc>
                  <a:txBody>
                    <a:bodyPr/>
                    <a:lstStyle/>
                    <a:p>
                      <a:pPr indent="0" marL="0">
                        <a:buNone/>
                      </a:pPr>
                      <a:r>
                        <a:rPr lang="en-US" sz="1400" b="1" dirty="0">
                          <a:solidFill>
                            <a:schemeClr val="bg1"/>
                          </a:solidFill>
                        </a:rPr>
                        <a:t>Repository</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Build</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Graphs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Query (ms)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algn="l" indent="0" marL="0">
                        <a:buNone/>
                      </a:pPr>
                      <a:r>
                        <a:rPr lang="en-US" sz="1400" dirty="0">
                          <a:solidFill>
                            <a:schemeClr val="tx1"/>
                          </a:solidFill>
                        </a:rPr>
                        <a:t>fla-org/flash-linear-attention</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pytest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107</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47.7</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dirty="0">
                          <a:solidFill>
                            <a:schemeClr val="tx1"/>
                          </a:solidFill>
                        </a:rPr>
                        <a:t>Stirling-Tools/Stirling-PDF</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Gradle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140</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99.7</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dirty="0">
                          <a:solidFill>
                            <a:schemeClr val="tx1"/>
                          </a:solidFill>
                        </a:rPr>
                        <a:t>spiculedata/saiku</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Maven</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180</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43.5</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card"/>
          <p:cNvSpPr/>
          <p:nvPr/>
        </p:nvSpPr>
        <p:spPr>
          <a:xfrm>
            <a:off x="548640" y="3429000"/>
            <a:ext cx="3520440" cy="1417320"/>
          </a:xfrm>
          <a:prstGeom prst="roundRect">
            <a:avLst>
              <a:gd name="adj" fmla="val 6452"/>
            </a:avLst>
          </a:prstGeom>
          <a:solidFill>
            <a:schemeClr val="bg2"/>
          </a:solidFill>
          <a:ln/>
        </p:spPr>
      </p:sp>
      <p:sp>
        <p:nvSpPr>
          <p:cNvPr id="7" name="Text 4"/>
          <p:cNvSpPr txBox="1"/>
          <p:nvPr/>
        </p:nvSpPr>
        <p:spPr>
          <a:xfrm>
            <a:off x="777240" y="3566160"/>
            <a:ext cx="3063240" cy="365760"/>
          </a:xfrm>
          <a:prstGeom prst="rect">
            <a:avLst/>
          </a:prstGeom>
          <a:noFill/>
          <a:ln/>
        </p:spPr>
        <p:txBody>
          <a:bodyPr wrap="square" lIns="0" tIns="0" rIns="0" bIns="0" rtlCol="0" anchor="t"/>
          <a:lstStyle/>
          <a:p>
            <a:pPr indent="0" marL="0">
              <a:buNone/>
            </a:pPr>
            <a:r>
              <a:rPr lang="en-US" sz="1500" b="1" dirty="0">
                <a:solidFill>
                  <a:schemeClr val="tx1"/>
                </a:solidFill>
              </a:rPr>
              <a:t>Query latency ≤ 100 ms</a:t>
            </a:r>
            <a:endParaRPr lang="en-US" sz="1500" dirty="0"/>
          </a:p>
        </p:txBody>
      </p:sp>
      <p:sp>
        <p:nvSpPr>
          <p:cNvPr id="8" name="Text 5"/>
          <p:cNvSpPr txBox="1"/>
          <p:nvPr/>
        </p:nvSpPr>
        <p:spPr>
          <a:xfrm>
            <a:off x="777240" y="4023360"/>
            <a:ext cx="1783080" cy="640080"/>
          </a:xfrm>
          <a:prstGeom prst="rect">
            <a:avLst/>
          </a:prstGeom>
          <a:noFill/>
          <a:ln/>
        </p:spPr>
        <p:txBody>
          <a:bodyPr wrap="square" lIns="0" tIns="0" rIns="0" bIns="0" rtlCol="0" anchor="ctr"/>
          <a:lstStyle/>
          <a:p>
            <a:pPr indent="0" marL="0">
              <a:buNone/>
            </a:pPr>
            <a:r>
              <a:rPr lang="en-US" sz="1500" dirty="0">
                <a:solidFill>
                  <a:schemeClr val="accent5"/>
                </a:solidFill>
              </a:rPr>
              <a:t>47.7 / 99.7 / 43.5 ms</a:t>
            </a:r>
            <a:endParaRPr lang="en-US" sz="1500" dirty="0"/>
          </a:p>
        </p:txBody>
      </p:sp>
      <p:sp>
        <p:nvSpPr>
          <p:cNvPr id="9" name="status pill"/>
          <p:cNvSpPr/>
          <p:nvPr/>
        </p:nvSpPr>
        <p:spPr>
          <a:xfrm>
            <a:off x="2606040" y="4187952"/>
            <a:ext cx="1234440" cy="310896"/>
          </a:xfrm>
          <a:prstGeom prst="roundRect">
            <a:avLst>
              <a:gd name="adj" fmla="val 50000"/>
            </a:avLst>
          </a:prstGeom>
          <a:solidFill>
            <a:schemeClr val="accent4"/>
          </a:solidFill>
          <a:ln/>
        </p:spPr>
      </p:sp>
      <p:sp>
        <p:nvSpPr>
          <p:cNvPr id="10" name="Text 7"/>
          <p:cNvSpPr txBox="1"/>
          <p:nvPr/>
        </p:nvSpPr>
        <p:spPr>
          <a:xfrm>
            <a:off x="2606040" y="4187952"/>
            <a:ext cx="1234440" cy="310896"/>
          </a:xfrm>
          <a:prstGeom prst="rect">
            <a:avLst/>
          </a:prstGeom>
          <a:noFill/>
          <a:ln/>
        </p:spPr>
        <p:txBody>
          <a:bodyPr wrap="square" lIns="0" tIns="0" rIns="0" bIns="0" rtlCol="0" anchor="ctr"/>
          <a:lstStyle/>
          <a:p>
            <a:pPr algn="ctr" indent="0" marL="0">
              <a:buNone/>
            </a:pPr>
            <a:r>
              <a:rPr lang="en-US" sz="1100" b="1" dirty="0">
                <a:solidFill>
                  <a:schemeClr val="bg1"/>
                </a:solidFill>
              </a:rPr>
              <a:t>MET</a:t>
            </a:r>
            <a:endParaRPr lang="en-US" sz="1100" dirty="0"/>
          </a:p>
        </p:txBody>
      </p:sp>
      <p:sp>
        <p:nvSpPr>
          <p:cNvPr id="11" name="card"/>
          <p:cNvSpPr/>
          <p:nvPr/>
        </p:nvSpPr>
        <p:spPr>
          <a:xfrm>
            <a:off x="4370832" y="3429000"/>
            <a:ext cx="3520440" cy="1417320"/>
          </a:xfrm>
          <a:prstGeom prst="roundRect">
            <a:avLst>
              <a:gd name="adj" fmla="val 6452"/>
            </a:avLst>
          </a:prstGeom>
          <a:solidFill>
            <a:schemeClr val="bg2"/>
          </a:solidFill>
          <a:ln/>
        </p:spPr>
      </p:sp>
      <p:sp>
        <p:nvSpPr>
          <p:cNvPr id="12" name="Text 9"/>
          <p:cNvSpPr txBox="1"/>
          <p:nvPr/>
        </p:nvSpPr>
        <p:spPr>
          <a:xfrm>
            <a:off x="4599432" y="3566160"/>
            <a:ext cx="3063240" cy="365760"/>
          </a:xfrm>
          <a:prstGeom prst="rect">
            <a:avLst/>
          </a:prstGeom>
          <a:noFill/>
          <a:ln/>
        </p:spPr>
        <p:txBody>
          <a:bodyPr wrap="square" lIns="0" tIns="0" rIns="0" bIns="0" rtlCol="0" anchor="t"/>
          <a:lstStyle/>
          <a:p>
            <a:pPr indent="0" marL="0">
              <a:buNone/>
            </a:pPr>
            <a:r>
              <a:rPr lang="en-US" sz="1500" b="1" dirty="0">
                <a:solidFill>
                  <a:schemeClr val="tx1"/>
                </a:solidFill>
              </a:rPr>
              <a:t>Incremental build ≤ 10 s</a:t>
            </a:r>
            <a:endParaRPr lang="en-US" sz="1500" dirty="0"/>
          </a:p>
        </p:txBody>
      </p:sp>
      <p:sp>
        <p:nvSpPr>
          <p:cNvPr id="13" name="Text 10"/>
          <p:cNvSpPr txBox="1"/>
          <p:nvPr/>
        </p:nvSpPr>
        <p:spPr>
          <a:xfrm>
            <a:off x="4599432" y="4023360"/>
            <a:ext cx="1783080" cy="640080"/>
          </a:xfrm>
          <a:prstGeom prst="rect">
            <a:avLst/>
          </a:prstGeom>
          <a:noFill/>
          <a:ln/>
        </p:spPr>
        <p:txBody>
          <a:bodyPr wrap="square" lIns="0" tIns="0" rIns="0" bIns="0" rtlCol="0" anchor="ctr"/>
          <a:lstStyle/>
          <a:p>
            <a:pPr indent="0" marL="0">
              <a:buNone/>
            </a:pPr>
            <a:r>
              <a:rPr lang="en-US" sz="1500" dirty="0">
                <a:solidFill>
                  <a:schemeClr val="accent5"/>
                </a:solidFill>
              </a:rPr>
              <a:t>25–29 s</a:t>
            </a:r>
            <a:endParaRPr lang="en-US" sz="1500" dirty="0"/>
          </a:p>
        </p:txBody>
      </p:sp>
      <p:sp>
        <p:nvSpPr>
          <p:cNvPr id="14" name="status pill"/>
          <p:cNvSpPr/>
          <p:nvPr/>
        </p:nvSpPr>
        <p:spPr>
          <a:xfrm>
            <a:off x="6428232" y="4187952"/>
            <a:ext cx="1234440" cy="310896"/>
          </a:xfrm>
          <a:prstGeom prst="roundRect">
            <a:avLst>
              <a:gd name="adj" fmla="val 50000"/>
            </a:avLst>
          </a:prstGeom>
          <a:solidFill>
            <a:schemeClr val="accent6"/>
          </a:solidFill>
          <a:ln/>
        </p:spPr>
      </p:sp>
      <p:sp>
        <p:nvSpPr>
          <p:cNvPr id="15" name="Text 12"/>
          <p:cNvSpPr txBox="1"/>
          <p:nvPr/>
        </p:nvSpPr>
        <p:spPr>
          <a:xfrm>
            <a:off x="6428232" y="4187952"/>
            <a:ext cx="1234440" cy="310896"/>
          </a:xfrm>
          <a:prstGeom prst="rect">
            <a:avLst/>
          </a:prstGeom>
          <a:noFill/>
          <a:ln/>
        </p:spPr>
        <p:txBody>
          <a:bodyPr wrap="square" lIns="0" tIns="0" rIns="0" bIns="0" rtlCol="0" anchor="ctr"/>
          <a:lstStyle/>
          <a:p>
            <a:pPr algn="ctr" indent="0" marL="0">
              <a:buNone/>
            </a:pPr>
            <a:r>
              <a:rPr lang="en-US" sz="1100" b="1" dirty="0">
                <a:solidFill>
                  <a:schemeClr val="bg1"/>
                </a:solidFill>
              </a:rPr>
              <a:t>NOT MET</a:t>
            </a:r>
            <a:endParaRPr lang="en-US" sz="1100" dirty="0"/>
          </a:p>
        </p:txBody>
      </p:sp>
      <p:sp>
        <p:nvSpPr>
          <p:cNvPr id="16" name="card"/>
          <p:cNvSpPr/>
          <p:nvPr/>
        </p:nvSpPr>
        <p:spPr>
          <a:xfrm>
            <a:off x="8193024" y="3429000"/>
            <a:ext cx="3520440" cy="1417320"/>
          </a:xfrm>
          <a:prstGeom prst="roundRect">
            <a:avLst>
              <a:gd name="adj" fmla="val 6452"/>
            </a:avLst>
          </a:prstGeom>
          <a:solidFill>
            <a:schemeClr val="bg2"/>
          </a:solidFill>
          <a:ln/>
        </p:spPr>
      </p:sp>
      <p:sp>
        <p:nvSpPr>
          <p:cNvPr id="17" name="Text 14"/>
          <p:cNvSpPr txBox="1"/>
          <p:nvPr/>
        </p:nvSpPr>
        <p:spPr>
          <a:xfrm>
            <a:off x="8421624" y="3566160"/>
            <a:ext cx="3063240" cy="365760"/>
          </a:xfrm>
          <a:prstGeom prst="rect">
            <a:avLst/>
          </a:prstGeom>
          <a:noFill/>
          <a:ln/>
        </p:spPr>
        <p:txBody>
          <a:bodyPr wrap="square" lIns="0" tIns="0" rIns="0" bIns="0" rtlCol="0" anchor="t"/>
          <a:lstStyle/>
          <a:p>
            <a:pPr indent="0" marL="0">
              <a:buNone/>
            </a:pPr>
            <a:r>
              <a:rPr lang="en-US" sz="1500" b="1" dirty="0">
                <a:solidFill>
                  <a:schemeClr val="tx1"/>
                </a:solidFill>
              </a:rPr>
              <a:t>Cold build ≤ 10 min</a:t>
            </a:r>
            <a:endParaRPr lang="en-US" sz="1500" dirty="0"/>
          </a:p>
        </p:txBody>
      </p:sp>
      <p:sp>
        <p:nvSpPr>
          <p:cNvPr id="18" name="Text 15"/>
          <p:cNvSpPr txBox="1"/>
          <p:nvPr/>
        </p:nvSpPr>
        <p:spPr>
          <a:xfrm>
            <a:off x="8421624" y="4023360"/>
            <a:ext cx="1783080" cy="640080"/>
          </a:xfrm>
          <a:prstGeom prst="rect">
            <a:avLst/>
          </a:prstGeom>
          <a:noFill/>
          <a:ln/>
        </p:spPr>
        <p:txBody>
          <a:bodyPr wrap="square" lIns="0" tIns="0" rIns="0" bIns="0" rtlCol="0" anchor="ctr"/>
          <a:lstStyle/>
          <a:p>
            <a:pPr indent="0" marL="0">
              <a:buNone/>
            </a:pPr>
            <a:r>
              <a:rPr lang="en-US" sz="1500" dirty="0">
                <a:solidFill>
                  <a:schemeClr val="accent5"/>
                </a:solidFill>
              </a:rPr>
              <a:t>mini-corpus only</a:t>
            </a:r>
            <a:endParaRPr lang="en-US" sz="1500" dirty="0"/>
          </a:p>
        </p:txBody>
      </p:sp>
      <p:sp>
        <p:nvSpPr>
          <p:cNvPr id="19" name="status pill"/>
          <p:cNvSpPr/>
          <p:nvPr/>
        </p:nvSpPr>
        <p:spPr>
          <a:xfrm>
            <a:off x="10250424" y="4187952"/>
            <a:ext cx="1234440" cy="310896"/>
          </a:xfrm>
          <a:prstGeom prst="roundRect">
            <a:avLst>
              <a:gd name="adj" fmla="val 50000"/>
            </a:avLst>
          </a:prstGeom>
          <a:solidFill>
            <a:schemeClr val="accent2"/>
          </a:solidFill>
          <a:ln/>
        </p:spPr>
      </p:sp>
      <p:sp>
        <p:nvSpPr>
          <p:cNvPr id="20" name="Text 17"/>
          <p:cNvSpPr txBox="1"/>
          <p:nvPr/>
        </p:nvSpPr>
        <p:spPr>
          <a:xfrm>
            <a:off x="10250424" y="4187952"/>
            <a:ext cx="1234440" cy="310896"/>
          </a:xfrm>
          <a:prstGeom prst="rect">
            <a:avLst/>
          </a:prstGeom>
          <a:noFill/>
          <a:ln/>
        </p:spPr>
        <p:txBody>
          <a:bodyPr wrap="square" lIns="0" tIns="0" rIns="0" bIns="0" rtlCol="0" anchor="ctr"/>
          <a:lstStyle/>
          <a:p>
            <a:pPr algn="ctr" indent="0" marL="0">
              <a:buNone/>
            </a:pPr>
            <a:r>
              <a:rPr lang="en-US" sz="1100" b="1" dirty="0">
                <a:solidFill>
                  <a:schemeClr val="bg1"/>
                </a:solidFill>
              </a:rPr>
              <a:t>PARTIAL</a:t>
            </a:r>
            <a:endParaRPr lang="en-US" sz="1100" dirty="0"/>
          </a:p>
        </p:txBody>
      </p:sp>
      <p:sp>
        <p:nvSpPr>
          <p:cNvPr id="21" name="defect"/>
          <p:cNvSpPr/>
          <p:nvPr/>
        </p:nvSpPr>
        <p:spPr>
          <a:xfrm>
            <a:off x="548640" y="5074920"/>
            <a:ext cx="11091672" cy="914400"/>
          </a:xfrm>
          <a:prstGeom prst="roundRect">
            <a:avLst>
              <a:gd name="adj" fmla="val 10000"/>
            </a:avLst>
          </a:prstGeom>
          <a:solidFill>
            <a:schemeClr val="bg2"/>
          </a:solidFill>
          <a:ln/>
        </p:spPr>
      </p:sp>
      <p:sp>
        <p:nvSpPr>
          <p:cNvPr id="22" name="icon circle"/>
          <p:cNvSpPr/>
          <p:nvPr/>
        </p:nvSpPr>
        <p:spPr>
          <a:xfrm>
            <a:off x="731520" y="5230368"/>
            <a:ext cx="566928" cy="566928"/>
          </a:xfrm>
          <a:prstGeom prst="ellipse">
            <a:avLst/>
          </a:prstGeom>
          <a:solidFill>
            <a:schemeClr val="accent6"/>
          </a:solidFill>
          <a:ln/>
        </p:spPr>
      </p:sp>
      <p:pic>
        <p:nvPicPr>
          <p:cNvPr id="23" name="Image 0" descr="bug icon">    </p:cNvPr>
          <p:cNvPicPr>
            <a:picLocks noChangeAspect="1"/>
          </p:cNvPicPr>
          <p:nvPr/>
        </p:nvPicPr>
        <p:blipFill>
          <a:blip r:embed="rId1"/>
          <a:stretch>
            <a:fillRect/>
          </a:stretch>
        </p:blipFill>
        <p:spPr>
          <a:xfrm>
            <a:off x="867583" y="5366431"/>
            <a:ext cx="294803" cy="294803"/>
          </a:xfrm>
          <a:prstGeom prst="rect">
            <a:avLst/>
          </a:prstGeom>
        </p:spPr>
      </p:pic>
      <p:sp>
        <p:nvSpPr>
          <p:cNvPr id="24" name="Text 20"/>
          <p:cNvSpPr txBox="1"/>
          <p:nvPr/>
        </p:nvSpPr>
        <p:spPr>
          <a:xfrm>
            <a:off x="1463040" y="5074920"/>
            <a:ext cx="10012680" cy="914400"/>
          </a:xfrm>
          <a:prstGeom prst="rect">
            <a:avLst/>
          </a:prstGeom>
          <a:noFill/>
          <a:ln/>
        </p:spPr>
        <p:txBody>
          <a:bodyPr wrap="square" lIns="0" tIns="0" rIns="0" bIns="0" rtlCol="0" anchor="ctr"/>
          <a:lstStyle/>
          <a:p>
            <a:pPr indent="0" marL="0">
              <a:buNone/>
            </a:pPr>
            <a:r>
              <a:rPr lang="en-US" sz="1400" dirty="0">
                <a:solidFill>
                  <a:schemeClr val="tx1"/>
                </a:solidFill>
              </a:rPr>
              <a:t>Caught by the equivalence test: splicing a re-extracted subgraph diverged on 4/4 commit transitions (Java import resolution saw only the re-extracted files). Fix: pass the full file list; take incrementality from the cache.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Reproducible by construction</a:t>
            </a:r>
            <a:endParaRPr lang="en-US" sz="3200" dirty="0"/>
          </a:p>
        </p:txBody>
      </p:sp>
      <p:sp>
        <p:nvSpPr>
          <p:cNvPr id="3" name="Text 1"/>
          <p:cNvSpPr txBox="1"/>
          <p:nvPr/>
        </p:nvSpPr>
        <p:spPr>
          <a:xfrm>
            <a:off x="548640" y="1371600"/>
            <a:ext cx="4023360" cy="45720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make tables</a:t>
            </a:r>
            <a:endParaRPr lang="en-US" sz="1800" dirty="0"/>
          </a:p>
        </p:txBody>
      </p:sp>
      <p:sp>
        <p:nvSpPr>
          <p:cNvPr id="4" name="Text 2"/>
          <p:cNvSpPr txBox="1"/>
          <p:nvPr/>
        </p:nvSpPr>
        <p:spPr>
          <a:xfrm>
            <a:off x="548640" y="1874520"/>
            <a:ext cx="4023360" cy="1280160"/>
          </a:xfrm>
          <a:prstGeom prst="rect">
            <a:avLst/>
          </a:prstGeom>
          <a:noFill/>
          <a:ln/>
        </p:spPr>
        <p:txBody>
          <a:bodyPr wrap="square" lIns="0" tIns="0" rIns="0" bIns="0" rtlCol="0" anchor="t"/>
          <a:lstStyle/>
          <a:p>
            <a:pPr indent="0" marL="0">
              <a:buNone/>
            </a:pPr>
            <a:r>
              <a:rPr lang="en-US" sz="1500" dirty="0">
                <a:solidFill>
                  <a:schemeClr val="tx1"/>
                </a:solidFill>
              </a:rPr>
              <a:t>Regenerates every reported number offline from raw logs in about 8 minutes. Each output file is stamped with the script and git commit that produced it.</a:t>
            </a:r>
            <a:endParaRPr lang="en-US" sz="1500" dirty="0"/>
          </a:p>
        </p:txBody>
      </p:sp>
      <p:sp>
        <p:nvSpPr>
          <p:cNvPr id="5" name="Text 3"/>
          <p:cNvSpPr txBox="1"/>
          <p:nvPr/>
        </p:nvSpPr>
        <p:spPr>
          <a:xfrm>
            <a:off x="548640" y="3291840"/>
            <a:ext cx="182880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821</a:t>
            </a:r>
            <a:endParaRPr lang="en-US" sz="4400" dirty="0"/>
          </a:p>
        </p:txBody>
      </p:sp>
      <p:sp>
        <p:nvSpPr>
          <p:cNvPr id="6" name="Text 4"/>
          <p:cNvSpPr txBox="1"/>
          <p:nvPr/>
        </p:nvSpPr>
        <p:spPr>
          <a:xfrm>
            <a:off x="2194560" y="3383280"/>
            <a:ext cx="2377440" cy="822960"/>
          </a:xfrm>
          <a:prstGeom prst="rect">
            <a:avLst/>
          </a:prstGeom>
          <a:noFill/>
          <a:ln/>
        </p:spPr>
        <p:txBody>
          <a:bodyPr wrap="square" lIns="0" tIns="0" rIns="0" bIns="0" rtlCol="0" anchor="ctr"/>
          <a:lstStyle/>
          <a:p>
            <a:pPr indent="0" marL="0">
              <a:buNone/>
            </a:pPr>
            <a:r>
              <a:rPr lang="en-US" sz="1300" dirty="0">
                <a:solidFill>
                  <a:schemeClr val="accent5"/>
                </a:solidFill>
              </a:rPr>
              <a:t>tests passing (3 skipped), against real checked-in fixtures, no mocks</a:t>
            </a:r>
            <a:endParaRPr lang="en-US" sz="1300" dirty="0"/>
          </a:p>
        </p:txBody>
      </p:sp>
      <p:sp>
        <p:nvSpPr>
          <p:cNvPr id="7" name="card"/>
          <p:cNvSpPr/>
          <p:nvPr/>
        </p:nvSpPr>
        <p:spPr>
          <a:xfrm>
            <a:off x="4983480" y="1371600"/>
            <a:ext cx="3182112" cy="1261872"/>
          </a:xfrm>
          <a:prstGeom prst="roundRect">
            <a:avLst>
              <a:gd name="adj" fmla="val 7246"/>
            </a:avLst>
          </a:prstGeom>
          <a:solidFill>
            <a:schemeClr val="bg2"/>
          </a:solidFill>
          <a:ln/>
        </p:spPr>
      </p:sp>
      <p:sp>
        <p:nvSpPr>
          <p:cNvPr id="8" name="icon circle"/>
          <p:cNvSpPr/>
          <p:nvPr/>
        </p:nvSpPr>
        <p:spPr>
          <a:xfrm>
            <a:off x="5148072" y="1554480"/>
            <a:ext cx="502920" cy="502920"/>
          </a:xfrm>
          <a:prstGeom prst="ellipse">
            <a:avLst/>
          </a:prstGeom>
          <a:solidFill>
            <a:schemeClr val="tx2"/>
          </a:solidFill>
          <a:ln/>
        </p:spPr>
      </p:sp>
      <p:pic>
        <p:nvPicPr>
          <p:cNvPr id="9" name="Image 0" descr="robot icon">    </p:cNvPr>
          <p:cNvPicPr>
            <a:picLocks noChangeAspect="1"/>
          </p:cNvPicPr>
          <p:nvPr/>
        </p:nvPicPr>
        <p:blipFill>
          <a:blip r:embed="rId1"/>
          <a:stretch>
            <a:fillRect/>
          </a:stretch>
        </p:blipFill>
        <p:spPr>
          <a:xfrm>
            <a:off x="5268773" y="1675181"/>
            <a:ext cx="261518" cy="261518"/>
          </a:xfrm>
          <a:prstGeom prst="rect">
            <a:avLst/>
          </a:prstGeom>
        </p:spPr>
      </p:pic>
      <p:sp>
        <p:nvSpPr>
          <p:cNvPr id="10" name="Text 7"/>
          <p:cNvSpPr txBox="1"/>
          <p:nvPr/>
        </p:nvSpPr>
        <p:spPr>
          <a:xfrm>
            <a:off x="5788152" y="1536192"/>
            <a:ext cx="2267712" cy="502920"/>
          </a:xfrm>
          <a:prstGeom prst="rect">
            <a:avLst/>
          </a:prstGeom>
          <a:noFill/>
          <a:ln/>
        </p:spPr>
        <p:txBody>
          <a:bodyPr wrap="square" lIns="0" tIns="0" rIns="0" bIns="0" rtlCol="0" anchor="ctr"/>
          <a:lstStyle/>
          <a:p>
            <a:pPr indent="0" marL="0">
              <a:buNone/>
            </a:pPr>
            <a:r>
              <a:rPr lang="en-US" sz="1500" b="1" dirty="0">
                <a:solidFill>
                  <a:schemeClr val="tx1"/>
                </a:solidFill>
              </a:rPr>
              <a:t>No LLM in the pipeline</a:t>
            </a:r>
            <a:endParaRPr lang="en-US" sz="1500" dirty="0"/>
          </a:p>
        </p:txBody>
      </p:sp>
      <p:sp>
        <p:nvSpPr>
          <p:cNvPr id="11" name="Text 8"/>
          <p:cNvSpPr txBox="1"/>
          <p:nvPr/>
        </p:nvSpPr>
        <p:spPr>
          <a:xfrm>
            <a:off x="5148072" y="2103120"/>
            <a:ext cx="2907792" cy="502920"/>
          </a:xfrm>
          <a:prstGeom prst="rect">
            <a:avLst/>
          </a:prstGeom>
          <a:noFill/>
          <a:ln/>
        </p:spPr>
        <p:txBody>
          <a:bodyPr wrap="square" lIns="0" tIns="0" rIns="0" bIns="0" rtlCol="0" anchor="t"/>
          <a:lstStyle/>
          <a:p>
            <a:pPr indent="0" marL="0">
              <a:buNone/>
            </a:pPr>
            <a:r>
              <a:rPr lang="en-US" sz="1200" dirty="0">
                <a:solidFill>
                  <a:schemeClr val="accent5"/>
                </a:solidFill>
              </a:rPr>
              <a:t>Harvest, parse, label and every number come from deterministic code (D-17).</a:t>
            </a:r>
            <a:endParaRPr lang="en-US" sz="1200" dirty="0"/>
          </a:p>
        </p:txBody>
      </p:sp>
      <p:sp>
        <p:nvSpPr>
          <p:cNvPr id="12" name="card"/>
          <p:cNvSpPr/>
          <p:nvPr/>
        </p:nvSpPr>
        <p:spPr>
          <a:xfrm>
            <a:off x="8366760" y="1371600"/>
            <a:ext cx="3182112" cy="1261872"/>
          </a:xfrm>
          <a:prstGeom prst="roundRect">
            <a:avLst>
              <a:gd name="adj" fmla="val 7246"/>
            </a:avLst>
          </a:prstGeom>
          <a:solidFill>
            <a:schemeClr val="bg2"/>
          </a:solidFill>
          <a:ln/>
        </p:spPr>
      </p:sp>
      <p:sp>
        <p:nvSpPr>
          <p:cNvPr id="13" name="icon circle"/>
          <p:cNvSpPr/>
          <p:nvPr/>
        </p:nvSpPr>
        <p:spPr>
          <a:xfrm>
            <a:off x="8531352" y="1554480"/>
            <a:ext cx="502920" cy="502920"/>
          </a:xfrm>
          <a:prstGeom prst="ellipse">
            <a:avLst/>
          </a:prstGeom>
          <a:solidFill>
            <a:schemeClr val="tx2"/>
          </a:solidFill>
          <a:ln/>
        </p:spPr>
      </p:sp>
      <p:pic>
        <p:nvPicPr>
          <p:cNvPr id="14" name="Image 1" descr="wifi icon">    </p:cNvPr>
          <p:cNvPicPr>
            <a:picLocks noChangeAspect="1"/>
          </p:cNvPicPr>
          <p:nvPr/>
        </p:nvPicPr>
        <p:blipFill>
          <a:blip r:embed="rId2"/>
          <a:stretch>
            <a:fillRect/>
          </a:stretch>
        </p:blipFill>
        <p:spPr>
          <a:xfrm>
            <a:off x="8652053" y="1675181"/>
            <a:ext cx="261518" cy="261518"/>
          </a:xfrm>
          <a:prstGeom prst="rect">
            <a:avLst/>
          </a:prstGeom>
        </p:spPr>
      </p:pic>
      <p:sp>
        <p:nvSpPr>
          <p:cNvPr id="15" name="Text 11"/>
          <p:cNvSpPr txBox="1"/>
          <p:nvPr/>
        </p:nvSpPr>
        <p:spPr>
          <a:xfrm>
            <a:off x="9171432" y="1536192"/>
            <a:ext cx="2267712" cy="502920"/>
          </a:xfrm>
          <a:prstGeom prst="rect">
            <a:avLst/>
          </a:prstGeom>
          <a:noFill/>
          <a:ln/>
        </p:spPr>
        <p:txBody>
          <a:bodyPr wrap="square" lIns="0" tIns="0" rIns="0" bIns="0" rtlCol="0" anchor="ctr"/>
          <a:lstStyle/>
          <a:p>
            <a:pPr indent="0" marL="0">
              <a:buNone/>
            </a:pPr>
            <a:r>
              <a:rPr lang="en-US" sz="1500" b="1" dirty="0">
                <a:solidFill>
                  <a:schemeClr val="tx1"/>
                </a:solidFill>
              </a:rPr>
              <a:t>Offline guard</a:t>
            </a:r>
            <a:endParaRPr lang="en-US" sz="1500" dirty="0"/>
          </a:p>
        </p:txBody>
      </p:sp>
      <p:sp>
        <p:nvSpPr>
          <p:cNvPr id="16" name="Text 12"/>
          <p:cNvSpPr txBox="1"/>
          <p:nvPr/>
        </p:nvSpPr>
        <p:spPr>
          <a:xfrm>
            <a:off x="8531352" y="2103120"/>
            <a:ext cx="2907792" cy="502920"/>
          </a:xfrm>
          <a:prstGeom prst="rect">
            <a:avLst/>
          </a:prstGeom>
          <a:noFill/>
          <a:ln/>
        </p:spPr>
        <p:txBody>
          <a:bodyPr wrap="square" lIns="0" tIns="0" rIns="0" bIns="0" rtlCol="0" anchor="t"/>
          <a:lstStyle/>
          <a:p>
            <a:pPr indent="0" marL="0">
              <a:buNone/>
            </a:pPr>
            <a:r>
              <a:rPr lang="en-US" sz="1200" dirty="0">
                <a:solidFill>
                  <a:schemeClr val="accent5"/>
                </a:solidFill>
              </a:rPr>
              <a:t>BR_OFFLINE=1: any network call during make tables raises an error.</a:t>
            </a:r>
            <a:endParaRPr lang="en-US" sz="1200" dirty="0"/>
          </a:p>
        </p:txBody>
      </p:sp>
      <p:sp>
        <p:nvSpPr>
          <p:cNvPr id="17" name="card"/>
          <p:cNvSpPr/>
          <p:nvPr/>
        </p:nvSpPr>
        <p:spPr>
          <a:xfrm>
            <a:off x="4983480" y="2788920"/>
            <a:ext cx="3182112" cy="1261872"/>
          </a:xfrm>
          <a:prstGeom prst="roundRect">
            <a:avLst>
              <a:gd name="adj" fmla="val 7246"/>
            </a:avLst>
          </a:prstGeom>
          <a:solidFill>
            <a:schemeClr val="bg2"/>
          </a:solidFill>
          <a:ln/>
        </p:spPr>
      </p:sp>
      <p:sp>
        <p:nvSpPr>
          <p:cNvPr id="18" name="icon circle"/>
          <p:cNvSpPr/>
          <p:nvPr/>
        </p:nvSpPr>
        <p:spPr>
          <a:xfrm>
            <a:off x="5148072" y="2971800"/>
            <a:ext cx="502920" cy="502920"/>
          </a:xfrm>
          <a:prstGeom prst="ellipse">
            <a:avLst/>
          </a:prstGeom>
          <a:solidFill>
            <a:schemeClr val="tx2"/>
          </a:solidFill>
          <a:ln/>
        </p:spPr>
      </p:sp>
      <p:pic>
        <p:nvPicPr>
          <p:cNvPr id="19" name="Image 2" descr="history icon">    </p:cNvPr>
          <p:cNvPicPr>
            <a:picLocks noChangeAspect="1"/>
          </p:cNvPicPr>
          <p:nvPr/>
        </p:nvPicPr>
        <p:blipFill>
          <a:blip r:embed="rId3"/>
          <a:stretch>
            <a:fillRect/>
          </a:stretch>
        </p:blipFill>
        <p:spPr>
          <a:xfrm>
            <a:off x="5268773" y="3092501"/>
            <a:ext cx="261518" cy="261518"/>
          </a:xfrm>
          <a:prstGeom prst="rect">
            <a:avLst/>
          </a:prstGeom>
        </p:spPr>
      </p:pic>
      <p:sp>
        <p:nvSpPr>
          <p:cNvPr id="20" name="Text 15"/>
          <p:cNvSpPr txBox="1"/>
          <p:nvPr/>
        </p:nvSpPr>
        <p:spPr>
          <a:xfrm>
            <a:off x="5788152" y="2953512"/>
            <a:ext cx="2267712" cy="502920"/>
          </a:xfrm>
          <a:prstGeom prst="rect">
            <a:avLst/>
          </a:prstGeom>
          <a:noFill/>
          <a:ln/>
        </p:spPr>
        <p:txBody>
          <a:bodyPr wrap="square" lIns="0" tIns="0" rIns="0" bIns="0" rtlCol="0" anchor="ctr"/>
          <a:lstStyle/>
          <a:p>
            <a:pPr indent="0" marL="0">
              <a:buNone/>
            </a:pPr>
            <a:r>
              <a:rPr lang="en-US" sz="1500" b="1" dirty="0">
                <a:solidFill>
                  <a:schemeClr val="tx1"/>
                </a:solidFill>
              </a:rPr>
              <a:t>Freshness guard</a:t>
            </a:r>
            <a:endParaRPr lang="en-US" sz="1500" dirty="0"/>
          </a:p>
        </p:txBody>
      </p:sp>
      <p:sp>
        <p:nvSpPr>
          <p:cNvPr id="21" name="Text 16"/>
          <p:cNvSpPr txBox="1"/>
          <p:nvPr/>
        </p:nvSpPr>
        <p:spPr>
          <a:xfrm>
            <a:off x="5148072" y="3520440"/>
            <a:ext cx="2907792" cy="502920"/>
          </a:xfrm>
          <a:prstGeom prst="rect">
            <a:avLst/>
          </a:prstGeom>
          <a:noFill/>
          <a:ln/>
        </p:spPr>
        <p:txBody>
          <a:bodyPr wrap="square" lIns="0" tIns="0" rIns="0" bIns="0" rtlCol="0" anchor="t"/>
          <a:lstStyle/>
          <a:p>
            <a:pPr indent="0" marL="0">
              <a:buNone/>
            </a:pPr>
            <a:r>
              <a:rPr lang="en-US" sz="1200" dirty="0">
                <a:solidFill>
                  <a:schemeClr val="accent5"/>
                </a:solidFill>
              </a:rPr>
              <a:t>make tables refuses to run if a derived file is older than its inputs.</a:t>
            </a:r>
            <a:endParaRPr lang="en-US" sz="1200" dirty="0"/>
          </a:p>
        </p:txBody>
      </p:sp>
      <p:sp>
        <p:nvSpPr>
          <p:cNvPr id="22" name="card"/>
          <p:cNvSpPr/>
          <p:nvPr/>
        </p:nvSpPr>
        <p:spPr>
          <a:xfrm>
            <a:off x="8366760" y="2788920"/>
            <a:ext cx="3182112" cy="1261872"/>
          </a:xfrm>
          <a:prstGeom prst="roundRect">
            <a:avLst>
              <a:gd name="adj" fmla="val 7246"/>
            </a:avLst>
          </a:prstGeom>
          <a:solidFill>
            <a:schemeClr val="bg2"/>
          </a:solidFill>
          <a:ln/>
        </p:spPr>
      </p:sp>
      <p:sp>
        <p:nvSpPr>
          <p:cNvPr id="23" name="icon circle"/>
          <p:cNvSpPr/>
          <p:nvPr/>
        </p:nvSpPr>
        <p:spPr>
          <a:xfrm>
            <a:off x="8531352" y="2971800"/>
            <a:ext cx="502920" cy="502920"/>
          </a:xfrm>
          <a:prstGeom prst="ellipse">
            <a:avLst/>
          </a:prstGeom>
          <a:solidFill>
            <a:schemeClr val="tx2"/>
          </a:solidFill>
          <a:ln/>
        </p:spPr>
      </p:sp>
      <p:pic>
        <p:nvPicPr>
          <p:cNvPr id="24" name="Image 3" descr="clone icon">    </p:cNvPr>
          <p:cNvPicPr>
            <a:picLocks noChangeAspect="1"/>
          </p:cNvPicPr>
          <p:nvPr/>
        </p:nvPicPr>
        <p:blipFill>
          <a:blip r:embed="rId4"/>
          <a:stretch>
            <a:fillRect/>
          </a:stretch>
        </p:blipFill>
        <p:spPr>
          <a:xfrm>
            <a:off x="8652053" y="3092501"/>
            <a:ext cx="261518" cy="261518"/>
          </a:xfrm>
          <a:prstGeom prst="rect">
            <a:avLst/>
          </a:prstGeom>
        </p:spPr>
      </p:pic>
      <p:sp>
        <p:nvSpPr>
          <p:cNvPr id="25" name="Text 19"/>
          <p:cNvSpPr txBox="1"/>
          <p:nvPr/>
        </p:nvSpPr>
        <p:spPr>
          <a:xfrm>
            <a:off x="9171432" y="2953512"/>
            <a:ext cx="2267712" cy="502920"/>
          </a:xfrm>
          <a:prstGeom prst="rect">
            <a:avLst/>
          </a:prstGeom>
          <a:noFill/>
          <a:ln/>
        </p:spPr>
        <p:txBody>
          <a:bodyPr wrap="square" lIns="0" tIns="0" rIns="0" bIns="0" rtlCol="0" anchor="ctr"/>
          <a:lstStyle/>
          <a:p>
            <a:pPr indent="0" marL="0">
              <a:buNone/>
            </a:pPr>
            <a:r>
              <a:rPr lang="en-US" sz="1500" b="1" dirty="0">
                <a:solidFill>
                  <a:schemeClr val="tx1"/>
                </a:solidFill>
              </a:rPr>
              <a:t>Complete-clone guard</a:t>
            </a:r>
            <a:endParaRPr lang="en-US" sz="1500" dirty="0"/>
          </a:p>
        </p:txBody>
      </p:sp>
      <p:sp>
        <p:nvSpPr>
          <p:cNvPr id="26" name="Text 20"/>
          <p:cNvSpPr txBox="1"/>
          <p:nvPr/>
        </p:nvSpPr>
        <p:spPr>
          <a:xfrm>
            <a:off x="8531352" y="3520440"/>
            <a:ext cx="2907792" cy="502920"/>
          </a:xfrm>
          <a:prstGeom prst="rect">
            <a:avLst/>
          </a:prstGeom>
          <a:noFill/>
          <a:ln/>
        </p:spPr>
        <p:txBody>
          <a:bodyPr wrap="square" lIns="0" tIns="0" rIns="0" bIns="0" rtlCol="0" anchor="t"/>
          <a:lstStyle/>
          <a:p>
            <a:pPr indent="0" marL="0">
              <a:buNone/>
            </a:pPr>
            <a:r>
              <a:rPr lang="en-US" sz="1200" dirty="0">
                <a:solidFill>
                  <a:schemeClr val="accent5"/>
                </a:solidFill>
              </a:rPr>
              <a:t>Rejects partial clones before binding runs.</a:t>
            </a:r>
            <a:endParaRPr lang="en-US" sz="1200" dirty="0"/>
          </a:p>
        </p:txBody>
      </p:sp>
      <p:sp>
        <p:nvSpPr>
          <p:cNvPr id="27" name="card"/>
          <p:cNvSpPr/>
          <p:nvPr/>
        </p:nvSpPr>
        <p:spPr>
          <a:xfrm>
            <a:off x="4983480" y="4206240"/>
            <a:ext cx="3182112" cy="1261872"/>
          </a:xfrm>
          <a:prstGeom prst="roundRect">
            <a:avLst>
              <a:gd name="adj" fmla="val 7246"/>
            </a:avLst>
          </a:prstGeom>
          <a:solidFill>
            <a:schemeClr val="bg2"/>
          </a:solidFill>
          <a:ln/>
        </p:spPr>
      </p:sp>
      <p:sp>
        <p:nvSpPr>
          <p:cNvPr id="28" name="icon circle"/>
          <p:cNvSpPr/>
          <p:nvPr/>
        </p:nvSpPr>
        <p:spPr>
          <a:xfrm>
            <a:off x="5148072" y="4389120"/>
            <a:ext cx="502920" cy="502920"/>
          </a:xfrm>
          <a:prstGeom prst="ellipse">
            <a:avLst/>
          </a:prstGeom>
          <a:solidFill>
            <a:schemeClr val="tx2"/>
          </a:solidFill>
          <a:ln/>
        </p:spPr>
      </p:sp>
      <p:pic>
        <p:nvPicPr>
          <p:cNvPr id="29" name="Image 4" descr="tag icon">    </p:cNvPr>
          <p:cNvPicPr>
            <a:picLocks noChangeAspect="1"/>
          </p:cNvPicPr>
          <p:nvPr/>
        </p:nvPicPr>
        <p:blipFill>
          <a:blip r:embed="rId5"/>
          <a:stretch>
            <a:fillRect/>
          </a:stretch>
        </p:blipFill>
        <p:spPr>
          <a:xfrm>
            <a:off x="5268773" y="4509821"/>
            <a:ext cx="261518" cy="261518"/>
          </a:xfrm>
          <a:prstGeom prst="rect">
            <a:avLst/>
          </a:prstGeom>
        </p:spPr>
      </p:pic>
      <p:sp>
        <p:nvSpPr>
          <p:cNvPr id="30" name="Text 23"/>
          <p:cNvSpPr txBox="1"/>
          <p:nvPr/>
        </p:nvSpPr>
        <p:spPr>
          <a:xfrm>
            <a:off x="5788152" y="4370832"/>
            <a:ext cx="2267712" cy="502920"/>
          </a:xfrm>
          <a:prstGeom prst="rect">
            <a:avLst/>
          </a:prstGeom>
          <a:noFill/>
          <a:ln/>
        </p:spPr>
        <p:txBody>
          <a:bodyPr wrap="square" lIns="0" tIns="0" rIns="0" bIns="0" rtlCol="0" anchor="ctr"/>
          <a:lstStyle/>
          <a:p>
            <a:pPr indent="0" marL="0">
              <a:buNone/>
            </a:pPr>
            <a:r>
              <a:rPr lang="en-US" sz="1500" b="1" dirty="0">
                <a:solidFill>
                  <a:schemeClr val="tx1"/>
                </a:solidFill>
              </a:rPr>
              <a:t>Pinned commits</a:t>
            </a:r>
            <a:endParaRPr lang="en-US" sz="1500" dirty="0"/>
          </a:p>
        </p:txBody>
      </p:sp>
      <p:sp>
        <p:nvSpPr>
          <p:cNvPr id="31" name="Text 24"/>
          <p:cNvSpPr txBox="1"/>
          <p:nvPr/>
        </p:nvSpPr>
        <p:spPr>
          <a:xfrm>
            <a:off x="5148072" y="4937760"/>
            <a:ext cx="2907792" cy="502920"/>
          </a:xfrm>
          <a:prstGeom prst="rect">
            <a:avLst/>
          </a:prstGeom>
          <a:noFill/>
          <a:ln/>
        </p:spPr>
        <p:txBody>
          <a:bodyPr wrap="square" lIns="0" tIns="0" rIns="0" bIns="0" rtlCol="0" anchor="t"/>
          <a:lstStyle/>
          <a:p>
            <a:pPr indent="0" marL="0">
              <a:buNone/>
            </a:pPr>
            <a:r>
              <a:rPr lang="en-US" sz="1200" dirty="0">
                <a:solidFill>
                  <a:schemeClr val="accent5"/>
                </a:solidFill>
              </a:rPr>
              <a:t>Binding runs against a fixed commit per repository.</a:t>
            </a:r>
            <a:endParaRPr lang="en-US" sz="1200" dirty="0"/>
          </a:p>
        </p:txBody>
      </p:sp>
      <p:sp>
        <p:nvSpPr>
          <p:cNvPr id="32" name="card"/>
          <p:cNvSpPr/>
          <p:nvPr/>
        </p:nvSpPr>
        <p:spPr>
          <a:xfrm>
            <a:off x="8366760" y="4206240"/>
            <a:ext cx="3182112" cy="1261872"/>
          </a:xfrm>
          <a:prstGeom prst="roundRect">
            <a:avLst>
              <a:gd name="adj" fmla="val 7246"/>
            </a:avLst>
          </a:prstGeom>
          <a:solidFill>
            <a:schemeClr val="bg2"/>
          </a:solidFill>
          <a:ln/>
        </p:spPr>
      </p:sp>
      <p:sp>
        <p:nvSpPr>
          <p:cNvPr id="33" name="icon circle"/>
          <p:cNvSpPr/>
          <p:nvPr/>
        </p:nvSpPr>
        <p:spPr>
          <a:xfrm>
            <a:off x="8531352" y="4389120"/>
            <a:ext cx="502920" cy="502920"/>
          </a:xfrm>
          <a:prstGeom prst="ellipse">
            <a:avLst/>
          </a:prstGeom>
          <a:solidFill>
            <a:schemeClr val="tx2"/>
          </a:solidFill>
          <a:ln/>
        </p:spPr>
      </p:sp>
      <p:pic>
        <p:nvPicPr>
          <p:cNvPr id="34" name="Image 5" descr="key icon">    </p:cNvPr>
          <p:cNvPicPr>
            <a:picLocks noChangeAspect="1"/>
          </p:cNvPicPr>
          <p:nvPr/>
        </p:nvPicPr>
        <p:blipFill>
          <a:blip r:embed="rId6"/>
          <a:stretch>
            <a:fillRect/>
          </a:stretch>
        </p:blipFill>
        <p:spPr>
          <a:xfrm>
            <a:off x="8652053" y="4509821"/>
            <a:ext cx="261518" cy="261518"/>
          </a:xfrm>
          <a:prstGeom prst="rect">
            <a:avLst/>
          </a:prstGeom>
        </p:spPr>
      </p:pic>
      <p:sp>
        <p:nvSpPr>
          <p:cNvPr id="35" name="Text 27"/>
          <p:cNvSpPr txBox="1"/>
          <p:nvPr/>
        </p:nvSpPr>
        <p:spPr>
          <a:xfrm>
            <a:off x="9171432" y="4370832"/>
            <a:ext cx="2267712" cy="502920"/>
          </a:xfrm>
          <a:prstGeom prst="rect">
            <a:avLst/>
          </a:prstGeom>
          <a:noFill/>
          <a:ln/>
        </p:spPr>
        <p:txBody>
          <a:bodyPr wrap="square" lIns="0" tIns="0" rIns="0" bIns="0" rtlCol="0" anchor="ctr"/>
          <a:lstStyle/>
          <a:p>
            <a:pPr indent="0" marL="0">
              <a:buNone/>
            </a:pPr>
            <a:r>
              <a:rPr lang="en-US" sz="1500" b="1" dirty="0">
                <a:solidFill>
                  <a:schemeClr val="tx1"/>
                </a:solidFill>
              </a:rPr>
              <a:t>Release-key check</a:t>
            </a:r>
            <a:endParaRPr lang="en-US" sz="1500" dirty="0"/>
          </a:p>
        </p:txBody>
      </p:sp>
      <p:sp>
        <p:nvSpPr>
          <p:cNvPr id="36" name="Text 28"/>
          <p:cNvSpPr txBox="1"/>
          <p:nvPr/>
        </p:nvSpPr>
        <p:spPr>
          <a:xfrm>
            <a:off x="8531352" y="4937760"/>
            <a:ext cx="2907792" cy="502920"/>
          </a:xfrm>
          <a:prstGeom prst="rect">
            <a:avLst/>
          </a:prstGeom>
          <a:noFill/>
          <a:ln/>
        </p:spPr>
        <p:txBody>
          <a:bodyPr wrap="square" lIns="0" tIns="0" rIns="0" bIns="0" rtlCol="0" anchor="t"/>
          <a:lstStyle/>
          <a:p>
            <a:pPr indent="0" marL="0">
              <a:buNone/>
            </a:pPr>
            <a:r>
              <a:rPr lang="en-US" sz="1200" dirty="0">
                <a:solidFill>
                  <a:schemeClr val="accent5"/>
                </a:solidFill>
              </a:rPr>
              <a:t>The release build refuses to run without the pseudonymisation key.</a:t>
            </a:r>
            <a:endParaRPr lang="en-US" sz="1200" dirty="0"/>
          </a:p>
        </p:txBody>
      </p:sp>
      <p:sp>
        <p:nvSpPr>
          <p:cNvPr id="37" name="Text 29"/>
          <p:cNvSpPr txBox="1"/>
          <p:nvPr/>
        </p:nvSpPr>
        <p:spPr>
          <a:xfrm>
            <a:off x="548640" y="5715000"/>
            <a:ext cx="11091672" cy="457200"/>
          </a:xfrm>
          <a:prstGeom prst="rect">
            <a:avLst/>
          </a:prstGeom>
          <a:noFill/>
          <a:ln/>
        </p:spPr>
        <p:txBody>
          <a:bodyPr wrap="square" lIns="0" tIns="0" rIns="0" bIns="0" rtlCol="0" anchor="t"/>
          <a:lstStyle/>
          <a:p>
            <a:pPr indent="0" marL="0">
              <a:buNone/>
            </a:pPr>
            <a:r>
              <a:rPr lang="en-US" sz="1200" i="1" dirty="0">
                <a:solidFill>
                  <a:schemeClr val="accent5"/>
                </a:solidFill>
              </a:rPr>
              <a:t>Development method: an architect → operator → agent loop; every change was scoped, tested and verified by the team before it was committed.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From 165,349 CI runs to 762 benchmark instances</a:t>
            </a:r>
            <a:endParaRPr lang="en-US" sz="3200" dirty="0"/>
          </a:p>
        </p:txBody>
      </p:sp>
      <p:graphicFrame>
        <p:nvGraphicFramePr>
          <p:cNvPr id="3" name="Chart 0" descr=""/>
          <p:cNvGraphicFramePr/>
          <p:nvPr/>
        </p:nvGraphicFramePr>
        <p:xfrm>
          <a:off x="548640" y="1280160"/>
          <a:ext cx="11091672"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806440"/>
            <a:ext cx="11091672" cy="320040"/>
          </a:xfrm>
          <a:prstGeom prst="rect">
            <a:avLst/>
          </a:prstGeom>
          <a:noFill/>
          <a:ln/>
        </p:spPr>
        <p:txBody>
          <a:bodyPr wrap="square" lIns="0" tIns="0" rIns="0" bIns="0" rtlCol="0" anchor="t"/>
          <a:lstStyle/>
          <a:p>
            <a:pPr indent="0" marL="0">
              <a:buNone/>
            </a:pPr>
            <a:r>
              <a:rPr lang="en-US" sz="1200" i="1" dirty="0">
                <a:solidFill>
                  <a:schemeClr val="accent5"/>
                </a:solidFill>
              </a:rPr>
              <a:t>Each stage is the intersection with the previous one. Log scale. Source: paper/generated/attrition_funnel.md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dataset, and the gates we set ourselves</a:t>
            </a:r>
            <a:endParaRPr lang="en-US" sz="3200" dirty="0"/>
          </a:p>
        </p:txBody>
      </p:sp>
      <p:sp>
        <p:nvSpPr>
          <p:cNvPr id="3" name="card"/>
          <p:cNvSpPr/>
          <p:nvPr/>
        </p:nvSpPr>
        <p:spPr>
          <a:xfrm>
            <a:off x="548640" y="1371600"/>
            <a:ext cx="3520440" cy="1600200"/>
          </a:xfrm>
          <a:prstGeom prst="roundRect">
            <a:avLst>
              <a:gd name="adj" fmla="val 5714"/>
            </a:avLst>
          </a:prstGeom>
          <a:solidFill>
            <a:schemeClr val="bg2"/>
          </a:solidFill>
          <a:ln/>
        </p:spPr>
      </p:sp>
      <p:sp>
        <p:nvSpPr>
          <p:cNvPr id="4" name="Text 2"/>
          <p:cNvSpPr txBox="1"/>
          <p:nvPr/>
        </p:nvSpPr>
        <p:spPr>
          <a:xfrm>
            <a:off x="822960" y="1481328"/>
            <a:ext cx="297180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762</a:t>
            </a:r>
            <a:endParaRPr lang="en-US" sz="4800" dirty="0"/>
          </a:p>
        </p:txBody>
      </p:sp>
      <p:sp>
        <p:nvSpPr>
          <p:cNvPr id="5" name="Text 3"/>
          <p:cNvSpPr txBox="1"/>
          <p:nvPr/>
        </p:nvSpPr>
        <p:spPr>
          <a:xfrm>
            <a:off x="822960" y="2395728"/>
            <a:ext cx="2971800" cy="411480"/>
          </a:xfrm>
          <a:prstGeom prst="rect">
            <a:avLst/>
          </a:prstGeom>
          <a:noFill/>
          <a:ln/>
        </p:spPr>
        <p:txBody>
          <a:bodyPr wrap="square" lIns="0" tIns="0" rIns="0" bIns="0" rtlCol="0" anchor="t"/>
          <a:lstStyle/>
          <a:p>
            <a:pPr indent="0" marL="0">
              <a:buNone/>
            </a:pPr>
            <a:r>
              <a:rPr lang="en-US" sz="1500" dirty="0">
                <a:solidFill>
                  <a:schemeClr val="accent5"/>
                </a:solidFill>
              </a:rPr>
              <a:t>instances (strict split)</a:t>
            </a:r>
            <a:endParaRPr lang="en-US" sz="1500" dirty="0"/>
          </a:p>
        </p:txBody>
      </p:sp>
      <p:sp>
        <p:nvSpPr>
          <p:cNvPr id="6" name="card"/>
          <p:cNvSpPr/>
          <p:nvPr/>
        </p:nvSpPr>
        <p:spPr>
          <a:xfrm>
            <a:off x="4370832" y="1371600"/>
            <a:ext cx="3520440" cy="1600200"/>
          </a:xfrm>
          <a:prstGeom prst="roundRect">
            <a:avLst>
              <a:gd name="adj" fmla="val 5714"/>
            </a:avLst>
          </a:prstGeom>
          <a:solidFill>
            <a:schemeClr val="bg2"/>
          </a:solidFill>
          <a:ln/>
        </p:spPr>
      </p:sp>
      <p:sp>
        <p:nvSpPr>
          <p:cNvPr id="7" name="Text 5"/>
          <p:cNvSpPr txBox="1"/>
          <p:nvPr/>
        </p:nvSpPr>
        <p:spPr>
          <a:xfrm>
            <a:off x="4645152" y="1481328"/>
            <a:ext cx="297180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4,168</a:t>
            </a:r>
            <a:endParaRPr lang="en-US" sz="4800" dirty="0"/>
          </a:p>
        </p:txBody>
      </p:sp>
      <p:sp>
        <p:nvSpPr>
          <p:cNvPr id="8" name="Text 6"/>
          <p:cNvSpPr txBox="1"/>
          <p:nvPr/>
        </p:nvSpPr>
        <p:spPr>
          <a:xfrm>
            <a:off x="4645152" y="2395728"/>
            <a:ext cx="2971800" cy="411480"/>
          </a:xfrm>
          <a:prstGeom prst="rect">
            <a:avLst/>
          </a:prstGeom>
          <a:noFill/>
          <a:ln/>
        </p:spPr>
        <p:txBody>
          <a:bodyPr wrap="square" lIns="0" tIns="0" rIns="0" bIns="0" rtlCol="0" anchor="t"/>
          <a:lstStyle/>
          <a:p>
            <a:pPr indent="0" marL="0">
              <a:buNone/>
            </a:pPr>
            <a:r>
              <a:rPr lang="en-US" sz="1500" dirty="0">
                <a:solidFill>
                  <a:schemeClr val="accent5"/>
                </a:solidFill>
              </a:rPr>
              <a:t>fault-revealing labels (strict split)</a:t>
            </a:r>
            <a:endParaRPr lang="en-US" sz="1500" dirty="0"/>
          </a:p>
        </p:txBody>
      </p:sp>
      <p:sp>
        <p:nvSpPr>
          <p:cNvPr id="9" name="card"/>
          <p:cNvSpPr/>
          <p:nvPr/>
        </p:nvSpPr>
        <p:spPr>
          <a:xfrm>
            <a:off x="8193024" y="1371600"/>
            <a:ext cx="3520440" cy="1600200"/>
          </a:xfrm>
          <a:prstGeom prst="roundRect">
            <a:avLst>
              <a:gd name="adj" fmla="val 5714"/>
            </a:avLst>
          </a:prstGeom>
          <a:solidFill>
            <a:schemeClr val="bg2"/>
          </a:solidFill>
          <a:ln/>
        </p:spPr>
      </p:sp>
      <p:sp>
        <p:nvSpPr>
          <p:cNvPr id="10" name="Text 8"/>
          <p:cNvSpPr txBox="1"/>
          <p:nvPr/>
        </p:nvSpPr>
        <p:spPr>
          <a:xfrm>
            <a:off x="8467344" y="1481328"/>
            <a:ext cx="297180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2,466</a:t>
            </a:r>
            <a:endParaRPr lang="en-US" sz="4800" dirty="0"/>
          </a:p>
        </p:txBody>
      </p:sp>
      <p:sp>
        <p:nvSpPr>
          <p:cNvPr id="11" name="Text 9"/>
          <p:cNvSpPr txBox="1"/>
          <p:nvPr/>
        </p:nvSpPr>
        <p:spPr>
          <a:xfrm>
            <a:off x="8467344" y="2395728"/>
            <a:ext cx="2971800" cy="411480"/>
          </a:xfrm>
          <a:prstGeom prst="rect">
            <a:avLst/>
          </a:prstGeom>
          <a:noFill/>
          <a:ln/>
        </p:spPr>
        <p:txBody>
          <a:bodyPr wrap="square" lIns="0" tIns="0" rIns="0" bIns="0" rtlCol="0" anchor="t"/>
          <a:lstStyle/>
          <a:p>
            <a:pPr indent="0" marL="0">
              <a:buNone/>
            </a:pPr>
            <a:r>
              <a:rPr lang="en-US" sz="1500" dirty="0">
                <a:solidFill>
                  <a:schemeClr val="accent5"/>
                </a:solidFill>
              </a:rPr>
              <a:t>distinct tests (strict split)</a:t>
            </a:r>
            <a:endParaRPr lang="en-US" sz="1500" dirty="0"/>
          </a:p>
        </p:txBody>
      </p:sp>
      <p:sp>
        <p:nvSpPr>
          <p:cNvPr id="12" name="row band"/>
          <p:cNvSpPr/>
          <p:nvPr/>
        </p:nvSpPr>
        <p:spPr>
          <a:xfrm>
            <a:off x="548640" y="3246120"/>
            <a:ext cx="11091672" cy="512064"/>
          </a:xfrm>
          <a:prstGeom prst="rect">
            <a:avLst/>
          </a:prstGeom>
          <a:solidFill>
            <a:schemeClr val="bg2"/>
          </a:solidFill>
          <a:ln/>
        </p:spPr>
      </p:sp>
      <p:sp>
        <p:nvSpPr>
          <p:cNvPr id="13" name="Text 11"/>
          <p:cNvSpPr txBox="1"/>
          <p:nvPr/>
        </p:nvSpPr>
        <p:spPr>
          <a:xfrm>
            <a:off x="731520" y="3246120"/>
            <a:ext cx="5120640" cy="512064"/>
          </a:xfrm>
          <a:prstGeom prst="rect">
            <a:avLst/>
          </a:prstGeom>
          <a:noFill/>
          <a:ln/>
        </p:spPr>
        <p:txBody>
          <a:bodyPr wrap="square" lIns="0" tIns="0" rIns="0" bIns="0" rtlCol="0" anchor="ctr"/>
          <a:lstStyle/>
          <a:p>
            <a:pPr indent="0" marL="0">
              <a:buNone/>
            </a:pPr>
            <a:r>
              <a:rPr lang="en-US" sz="1500" b="1" dirty="0">
                <a:solidFill>
                  <a:schemeClr val="tx1"/>
                </a:solidFill>
              </a:rPr>
              <a:t>Gate 1 · strict labels ≥ 5,000</a:t>
            </a:r>
            <a:endParaRPr lang="en-US" sz="1500" dirty="0"/>
          </a:p>
        </p:txBody>
      </p:sp>
      <p:sp>
        <p:nvSpPr>
          <p:cNvPr id="14" name="Text 12"/>
          <p:cNvSpPr txBox="1"/>
          <p:nvPr/>
        </p:nvSpPr>
        <p:spPr>
          <a:xfrm>
            <a:off x="5852160" y="3246120"/>
            <a:ext cx="3931920" cy="512064"/>
          </a:xfrm>
          <a:prstGeom prst="rect">
            <a:avLst/>
          </a:prstGeom>
          <a:noFill/>
          <a:ln/>
        </p:spPr>
        <p:txBody>
          <a:bodyPr wrap="square" lIns="0" tIns="0" rIns="0" bIns="0" rtlCol="0" anchor="ctr"/>
          <a:lstStyle/>
          <a:p>
            <a:pPr indent="0" marL="0">
              <a:buNone/>
            </a:pPr>
            <a:r>
              <a:rPr lang="en-US" sz="1500" dirty="0">
                <a:solidFill>
                  <a:schemeClr val="tx1"/>
                </a:solidFill>
              </a:rPr>
              <a:t>4,168 / 5,000 (83.36%)</a:t>
            </a:r>
            <a:endParaRPr lang="en-US" sz="1500" dirty="0"/>
          </a:p>
        </p:txBody>
      </p:sp>
      <p:sp>
        <p:nvSpPr>
          <p:cNvPr id="15" name="status pill"/>
          <p:cNvSpPr/>
          <p:nvPr/>
        </p:nvSpPr>
        <p:spPr>
          <a:xfrm>
            <a:off x="10149840" y="3346704"/>
            <a:ext cx="1325880" cy="310896"/>
          </a:xfrm>
          <a:prstGeom prst="roundRect">
            <a:avLst>
              <a:gd name="adj" fmla="val 50000"/>
            </a:avLst>
          </a:prstGeom>
          <a:solidFill>
            <a:schemeClr val="accent6"/>
          </a:solidFill>
          <a:ln/>
        </p:spPr>
      </p:sp>
      <p:sp>
        <p:nvSpPr>
          <p:cNvPr id="16" name="Text 14"/>
          <p:cNvSpPr txBox="1"/>
          <p:nvPr/>
        </p:nvSpPr>
        <p:spPr>
          <a:xfrm>
            <a:off x="10149840" y="3346704"/>
            <a:ext cx="1325880" cy="310896"/>
          </a:xfrm>
          <a:prstGeom prst="rect">
            <a:avLst/>
          </a:prstGeom>
          <a:noFill/>
          <a:ln/>
        </p:spPr>
        <p:txBody>
          <a:bodyPr wrap="square" lIns="0" tIns="0" rIns="0" bIns="0" rtlCol="0" anchor="ctr"/>
          <a:lstStyle/>
          <a:p>
            <a:pPr algn="ctr" indent="0" marL="0">
              <a:buNone/>
            </a:pPr>
            <a:r>
              <a:rPr lang="en-US" sz="1100" b="1" dirty="0">
                <a:solidFill>
                  <a:schemeClr val="bg1"/>
                </a:solidFill>
              </a:rPr>
              <a:t>NOT MET</a:t>
            </a:r>
            <a:endParaRPr lang="en-US" sz="1100" dirty="0"/>
          </a:p>
        </p:txBody>
      </p:sp>
      <p:sp>
        <p:nvSpPr>
          <p:cNvPr id="17" name="Text 15"/>
          <p:cNvSpPr txBox="1"/>
          <p:nvPr/>
        </p:nvSpPr>
        <p:spPr>
          <a:xfrm>
            <a:off x="731520" y="3794760"/>
            <a:ext cx="5120640" cy="512064"/>
          </a:xfrm>
          <a:prstGeom prst="rect">
            <a:avLst/>
          </a:prstGeom>
          <a:noFill/>
          <a:ln/>
        </p:spPr>
        <p:txBody>
          <a:bodyPr wrap="square" lIns="0" tIns="0" rIns="0" bIns="0" rtlCol="0" anchor="ctr"/>
          <a:lstStyle/>
          <a:p>
            <a:pPr indent="0" marL="0">
              <a:buNone/>
            </a:pPr>
            <a:r>
              <a:rPr lang="en-US" sz="1500" b="1" dirty="0">
                <a:solidFill>
                  <a:schemeClr val="tx1"/>
                </a:solidFill>
              </a:rPr>
              <a:t>Gate 1 · strict instances ≥ 5,000</a:t>
            </a:r>
            <a:endParaRPr lang="en-US" sz="1500" dirty="0"/>
          </a:p>
        </p:txBody>
      </p:sp>
      <p:sp>
        <p:nvSpPr>
          <p:cNvPr id="18" name="Text 16"/>
          <p:cNvSpPr txBox="1"/>
          <p:nvPr/>
        </p:nvSpPr>
        <p:spPr>
          <a:xfrm>
            <a:off x="5852160" y="3794760"/>
            <a:ext cx="3931920" cy="512064"/>
          </a:xfrm>
          <a:prstGeom prst="rect">
            <a:avLst/>
          </a:prstGeom>
          <a:noFill/>
          <a:ln/>
        </p:spPr>
        <p:txBody>
          <a:bodyPr wrap="square" lIns="0" tIns="0" rIns="0" bIns="0" rtlCol="0" anchor="ctr"/>
          <a:lstStyle/>
          <a:p>
            <a:pPr indent="0" marL="0">
              <a:buNone/>
            </a:pPr>
            <a:r>
              <a:rPr lang="en-US" sz="1500" dirty="0">
                <a:solidFill>
                  <a:schemeClr val="tx1"/>
                </a:solidFill>
              </a:rPr>
              <a:t>762 / 5,000 (15.24%)</a:t>
            </a:r>
            <a:endParaRPr lang="en-US" sz="1500" dirty="0"/>
          </a:p>
        </p:txBody>
      </p:sp>
      <p:sp>
        <p:nvSpPr>
          <p:cNvPr id="19" name="status pill"/>
          <p:cNvSpPr/>
          <p:nvPr/>
        </p:nvSpPr>
        <p:spPr>
          <a:xfrm>
            <a:off x="10149840" y="3895344"/>
            <a:ext cx="1325880" cy="310896"/>
          </a:xfrm>
          <a:prstGeom prst="roundRect">
            <a:avLst>
              <a:gd name="adj" fmla="val 50000"/>
            </a:avLst>
          </a:prstGeom>
          <a:solidFill>
            <a:schemeClr val="accent6"/>
          </a:solidFill>
          <a:ln/>
        </p:spPr>
      </p:sp>
      <p:sp>
        <p:nvSpPr>
          <p:cNvPr id="20" name="Text 18"/>
          <p:cNvSpPr txBox="1"/>
          <p:nvPr/>
        </p:nvSpPr>
        <p:spPr>
          <a:xfrm>
            <a:off x="10149840" y="3895344"/>
            <a:ext cx="1325880" cy="310896"/>
          </a:xfrm>
          <a:prstGeom prst="rect">
            <a:avLst/>
          </a:prstGeom>
          <a:noFill/>
          <a:ln/>
        </p:spPr>
        <p:txBody>
          <a:bodyPr wrap="square" lIns="0" tIns="0" rIns="0" bIns="0" rtlCol="0" anchor="ctr"/>
          <a:lstStyle/>
          <a:p>
            <a:pPr algn="ctr" indent="0" marL="0">
              <a:buNone/>
            </a:pPr>
            <a:r>
              <a:rPr lang="en-US" sz="1100" b="1" dirty="0">
                <a:solidFill>
                  <a:schemeClr val="bg1"/>
                </a:solidFill>
              </a:rPr>
              <a:t>NOT MET</a:t>
            </a:r>
            <a:endParaRPr lang="en-US" sz="1100" dirty="0"/>
          </a:p>
        </p:txBody>
      </p:sp>
      <p:sp>
        <p:nvSpPr>
          <p:cNvPr id="21" name="row band"/>
          <p:cNvSpPr/>
          <p:nvPr/>
        </p:nvSpPr>
        <p:spPr>
          <a:xfrm>
            <a:off x="548640" y="4343400"/>
            <a:ext cx="11091672" cy="512064"/>
          </a:xfrm>
          <a:prstGeom prst="rect">
            <a:avLst/>
          </a:prstGeom>
          <a:solidFill>
            <a:schemeClr val="bg2"/>
          </a:solidFill>
          <a:ln/>
        </p:spPr>
      </p:sp>
      <p:sp>
        <p:nvSpPr>
          <p:cNvPr id="22" name="Text 20"/>
          <p:cNvSpPr txBox="1"/>
          <p:nvPr/>
        </p:nvSpPr>
        <p:spPr>
          <a:xfrm>
            <a:off x="731520" y="4343400"/>
            <a:ext cx="5120640" cy="512064"/>
          </a:xfrm>
          <a:prstGeom prst="rect">
            <a:avLst/>
          </a:prstGeom>
          <a:noFill/>
          <a:ln/>
        </p:spPr>
        <p:txBody>
          <a:bodyPr wrap="square" lIns="0" tIns="0" rIns="0" bIns="0" rtlCol="0" anchor="ctr"/>
          <a:lstStyle/>
          <a:p>
            <a:pPr indent="0" marL="0">
              <a:buNone/>
            </a:pPr>
            <a:r>
              <a:rPr lang="en-US" sz="1500" b="1" dirty="0">
                <a:solidFill>
                  <a:schemeClr val="tx1"/>
                </a:solidFill>
              </a:rPr>
              <a:t>Gate 1.5 · combined binding ≥ 70%</a:t>
            </a:r>
            <a:endParaRPr lang="en-US" sz="1500" dirty="0"/>
          </a:p>
        </p:txBody>
      </p:sp>
      <p:sp>
        <p:nvSpPr>
          <p:cNvPr id="23" name="Text 21"/>
          <p:cNvSpPr txBox="1"/>
          <p:nvPr/>
        </p:nvSpPr>
        <p:spPr>
          <a:xfrm>
            <a:off x="5852160" y="4343400"/>
            <a:ext cx="3931920" cy="512064"/>
          </a:xfrm>
          <a:prstGeom prst="rect">
            <a:avLst/>
          </a:prstGeom>
          <a:noFill/>
          <a:ln/>
        </p:spPr>
        <p:txBody>
          <a:bodyPr wrap="square" lIns="0" tIns="0" rIns="0" bIns="0" rtlCol="0" anchor="ctr"/>
          <a:lstStyle/>
          <a:p>
            <a:pPr indent="0" marL="0">
              <a:buNone/>
            </a:pPr>
            <a:r>
              <a:rPr lang="en-US" sz="1500" dirty="0">
                <a:solidFill>
                  <a:schemeClr val="tx1"/>
                </a:solidFill>
              </a:rPr>
              <a:t>5,643 / 5,985 (94.29%)</a:t>
            </a:r>
            <a:endParaRPr lang="en-US" sz="1500" dirty="0"/>
          </a:p>
        </p:txBody>
      </p:sp>
      <p:sp>
        <p:nvSpPr>
          <p:cNvPr id="24" name="status pill"/>
          <p:cNvSpPr/>
          <p:nvPr/>
        </p:nvSpPr>
        <p:spPr>
          <a:xfrm>
            <a:off x="10149840" y="4443984"/>
            <a:ext cx="1325880" cy="310896"/>
          </a:xfrm>
          <a:prstGeom prst="roundRect">
            <a:avLst>
              <a:gd name="adj" fmla="val 50000"/>
            </a:avLst>
          </a:prstGeom>
          <a:solidFill>
            <a:schemeClr val="accent4"/>
          </a:solidFill>
          <a:ln/>
        </p:spPr>
      </p:sp>
      <p:sp>
        <p:nvSpPr>
          <p:cNvPr id="25" name="Text 23"/>
          <p:cNvSpPr txBox="1"/>
          <p:nvPr/>
        </p:nvSpPr>
        <p:spPr>
          <a:xfrm>
            <a:off x="10149840" y="4443984"/>
            <a:ext cx="1325880" cy="310896"/>
          </a:xfrm>
          <a:prstGeom prst="rect">
            <a:avLst/>
          </a:prstGeom>
          <a:noFill/>
          <a:ln/>
        </p:spPr>
        <p:txBody>
          <a:bodyPr wrap="square" lIns="0" tIns="0" rIns="0" bIns="0" rtlCol="0" anchor="ctr"/>
          <a:lstStyle/>
          <a:p>
            <a:pPr algn="ctr" indent="0" marL="0">
              <a:buNone/>
            </a:pPr>
            <a:r>
              <a:rPr lang="en-US" sz="1100" b="1" dirty="0">
                <a:solidFill>
                  <a:schemeClr val="bg1"/>
                </a:solidFill>
              </a:rPr>
              <a:t>MET</a:t>
            </a:r>
            <a:endParaRPr lang="en-US" sz="1100" dirty="0"/>
          </a:p>
        </p:txBody>
      </p:sp>
      <p:sp>
        <p:nvSpPr>
          <p:cNvPr id="26" name="Text 24"/>
          <p:cNvSpPr txBox="1"/>
          <p:nvPr/>
        </p:nvSpPr>
        <p:spPr>
          <a:xfrm>
            <a:off x="731520" y="4892040"/>
            <a:ext cx="5120640" cy="512064"/>
          </a:xfrm>
          <a:prstGeom prst="rect">
            <a:avLst/>
          </a:prstGeom>
          <a:noFill/>
          <a:ln/>
        </p:spPr>
        <p:txBody>
          <a:bodyPr wrap="square" lIns="0" tIns="0" rIns="0" bIns="0" rtlCol="0" anchor="ctr"/>
          <a:lstStyle/>
          <a:p>
            <a:pPr indent="0" marL="0">
              <a:buNone/>
            </a:pPr>
            <a:r>
              <a:rPr lang="en-US" sz="1500" b="1" dirty="0">
                <a:solidFill>
                  <a:schemeClr val="tx1"/>
                </a:solidFill>
              </a:rPr>
              <a:t>Gate 1.5 · full-confidence binding ≥ 70%</a:t>
            </a:r>
            <a:endParaRPr lang="en-US" sz="1500" dirty="0"/>
          </a:p>
        </p:txBody>
      </p:sp>
      <p:sp>
        <p:nvSpPr>
          <p:cNvPr id="27" name="Text 25"/>
          <p:cNvSpPr txBox="1"/>
          <p:nvPr/>
        </p:nvSpPr>
        <p:spPr>
          <a:xfrm>
            <a:off x="5852160" y="4892040"/>
            <a:ext cx="3931920" cy="512064"/>
          </a:xfrm>
          <a:prstGeom prst="rect">
            <a:avLst/>
          </a:prstGeom>
          <a:noFill/>
          <a:ln/>
        </p:spPr>
        <p:txBody>
          <a:bodyPr wrap="square" lIns="0" tIns="0" rIns="0" bIns="0" rtlCol="0" anchor="ctr"/>
          <a:lstStyle/>
          <a:p>
            <a:pPr indent="0" marL="0">
              <a:buNone/>
            </a:pPr>
            <a:r>
              <a:rPr lang="en-US" sz="1500" dirty="0">
                <a:solidFill>
                  <a:schemeClr val="tx1"/>
                </a:solidFill>
              </a:rPr>
              <a:t>3,820 / 5,985 (63.83%)</a:t>
            </a:r>
            <a:endParaRPr lang="en-US" sz="1500" dirty="0"/>
          </a:p>
        </p:txBody>
      </p:sp>
      <p:sp>
        <p:nvSpPr>
          <p:cNvPr id="28" name="status pill"/>
          <p:cNvSpPr/>
          <p:nvPr/>
        </p:nvSpPr>
        <p:spPr>
          <a:xfrm>
            <a:off x="10149840" y="4992624"/>
            <a:ext cx="1325880" cy="310896"/>
          </a:xfrm>
          <a:prstGeom prst="roundRect">
            <a:avLst>
              <a:gd name="adj" fmla="val 50000"/>
            </a:avLst>
          </a:prstGeom>
          <a:solidFill>
            <a:schemeClr val="accent6"/>
          </a:solidFill>
          <a:ln/>
        </p:spPr>
      </p:sp>
      <p:sp>
        <p:nvSpPr>
          <p:cNvPr id="29" name="Text 27"/>
          <p:cNvSpPr txBox="1"/>
          <p:nvPr/>
        </p:nvSpPr>
        <p:spPr>
          <a:xfrm>
            <a:off x="10149840" y="4992624"/>
            <a:ext cx="1325880" cy="310896"/>
          </a:xfrm>
          <a:prstGeom prst="rect">
            <a:avLst/>
          </a:prstGeom>
          <a:noFill/>
          <a:ln/>
        </p:spPr>
        <p:txBody>
          <a:bodyPr wrap="square" lIns="0" tIns="0" rIns="0" bIns="0" rtlCol="0" anchor="ctr"/>
          <a:lstStyle/>
          <a:p>
            <a:pPr algn="ctr" indent="0" marL="0">
              <a:buNone/>
            </a:pPr>
            <a:r>
              <a:rPr lang="en-US" sz="1100" b="1" dirty="0">
                <a:solidFill>
                  <a:schemeClr val="bg1"/>
                </a:solidFill>
              </a:rPr>
              <a:t>NOT MET</a:t>
            </a:r>
            <a:endParaRPr lang="en-US" sz="1100" dirty="0"/>
          </a:p>
        </p:txBody>
      </p:sp>
      <p:sp>
        <p:nvSpPr>
          <p:cNvPr id="30" name="row band"/>
          <p:cNvSpPr/>
          <p:nvPr/>
        </p:nvSpPr>
        <p:spPr>
          <a:xfrm>
            <a:off x="548640" y="5440680"/>
            <a:ext cx="11091672" cy="512064"/>
          </a:xfrm>
          <a:prstGeom prst="rect">
            <a:avLst/>
          </a:prstGeom>
          <a:solidFill>
            <a:schemeClr val="bg2"/>
          </a:solidFill>
          <a:ln/>
        </p:spPr>
      </p:sp>
      <p:sp>
        <p:nvSpPr>
          <p:cNvPr id="31" name="Text 29"/>
          <p:cNvSpPr txBox="1"/>
          <p:nvPr/>
        </p:nvSpPr>
        <p:spPr>
          <a:xfrm>
            <a:off x="731520" y="5440680"/>
            <a:ext cx="5120640" cy="512064"/>
          </a:xfrm>
          <a:prstGeom prst="rect">
            <a:avLst/>
          </a:prstGeom>
          <a:noFill/>
          <a:ln/>
        </p:spPr>
        <p:txBody>
          <a:bodyPr wrap="square" lIns="0" tIns="0" rIns="0" bIns="0" rtlCol="0" anchor="ctr"/>
          <a:lstStyle/>
          <a:p>
            <a:pPr indent="0" marL="0">
              <a:buNone/>
            </a:pPr>
            <a:r>
              <a:rPr lang="en-US" sz="1500" b="1" dirty="0">
                <a:solidFill>
                  <a:schemeClr val="tx1"/>
                </a:solidFill>
              </a:rPr>
              <a:t>Gate 3 · model beats best baseline</a:t>
            </a:r>
            <a:endParaRPr lang="en-US" sz="1500" dirty="0"/>
          </a:p>
        </p:txBody>
      </p:sp>
      <p:sp>
        <p:nvSpPr>
          <p:cNvPr id="32" name="Text 30"/>
          <p:cNvSpPr txBox="1"/>
          <p:nvPr/>
        </p:nvSpPr>
        <p:spPr>
          <a:xfrm>
            <a:off x="5852160" y="5440680"/>
            <a:ext cx="3931920" cy="512064"/>
          </a:xfrm>
          <a:prstGeom prst="rect">
            <a:avLst/>
          </a:prstGeom>
          <a:noFill/>
          <a:ln/>
        </p:spPr>
        <p:txBody>
          <a:bodyPr wrap="square" lIns="0" tIns="0" rIns="0" bIns="0" rtlCol="0" anchor="ctr"/>
          <a:lstStyle/>
          <a:p>
            <a:pPr indent="0" marL="0">
              <a:buNone/>
            </a:pPr>
            <a:r>
              <a:rPr lang="en-US" sz="1500" dirty="0">
                <a:solidFill>
                  <a:schemeClr val="tx1"/>
                </a:solidFill>
              </a:rPr>
              <a:t>model not built (RQ3 is future work)</a:t>
            </a:r>
            <a:endParaRPr lang="en-US" sz="1500" dirty="0"/>
          </a:p>
        </p:txBody>
      </p:sp>
      <p:sp>
        <p:nvSpPr>
          <p:cNvPr id="33" name="status pill"/>
          <p:cNvSpPr/>
          <p:nvPr/>
        </p:nvSpPr>
        <p:spPr>
          <a:xfrm>
            <a:off x="10149840" y="5541264"/>
            <a:ext cx="1325880" cy="310896"/>
          </a:xfrm>
          <a:prstGeom prst="roundRect">
            <a:avLst>
              <a:gd name="adj" fmla="val 50000"/>
            </a:avLst>
          </a:prstGeom>
          <a:solidFill>
            <a:schemeClr val="accent5"/>
          </a:solidFill>
          <a:ln/>
        </p:spPr>
      </p:sp>
      <p:sp>
        <p:nvSpPr>
          <p:cNvPr id="34" name="Text 32"/>
          <p:cNvSpPr txBox="1"/>
          <p:nvPr/>
        </p:nvSpPr>
        <p:spPr>
          <a:xfrm>
            <a:off x="10149840" y="5541264"/>
            <a:ext cx="1325880" cy="310896"/>
          </a:xfrm>
          <a:prstGeom prst="rect">
            <a:avLst/>
          </a:prstGeom>
          <a:noFill/>
          <a:ln/>
        </p:spPr>
        <p:txBody>
          <a:bodyPr wrap="square" lIns="0" tIns="0" rIns="0" bIns="0" rtlCol="0" anchor="ctr"/>
          <a:lstStyle/>
          <a:p>
            <a:pPr algn="ctr" indent="0" marL="0">
              <a:buNone/>
            </a:pPr>
            <a:r>
              <a:rPr lang="en-US" sz="1100" b="1" dirty="0">
                <a:solidFill>
                  <a:schemeClr val="bg1"/>
                </a:solidFill>
              </a:rPr>
              <a:t>N/A</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RQ1: predictors versus the tests that actually failed</a:t>
            </a:r>
            <a:endParaRPr lang="en-US" sz="3200" dirty="0"/>
          </a:p>
        </p:txBody>
      </p:sp>
      <p:graphicFrame>
        <p:nvGraphicFramePr>
          <p:cNvPr id="3" name="Chart 0" descr=""/>
          <p:cNvGraphicFramePr/>
          <p:nvPr/>
        </p:nvGraphicFramePr>
        <p:xfrm>
          <a:off x="457200" y="128016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4" name="finding"/>
          <p:cNvSpPr/>
          <p:nvPr/>
        </p:nvSpPr>
        <p:spPr>
          <a:xfrm>
            <a:off x="6766560" y="1371600"/>
            <a:ext cx="4873752" cy="2057400"/>
          </a:xfrm>
          <a:prstGeom prst="roundRect">
            <a:avLst>
              <a:gd name="adj" fmla="val 4444"/>
            </a:avLst>
          </a:prstGeom>
          <a:solidFill>
            <a:schemeClr val="tx2"/>
          </a:solidFill>
          <a:ln/>
        </p:spPr>
      </p:sp>
      <p:sp>
        <p:nvSpPr>
          <p:cNvPr id="5" name="Text 2"/>
          <p:cNvSpPr txBox="1"/>
          <p:nvPr/>
        </p:nvSpPr>
        <p:spPr>
          <a:xfrm>
            <a:off x="7040880" y="1463040"/>
            <a:ext cx="4434840" cy="1874520"/>
          </a:xfrm>
          <a:prstGeom prst="rect">
            <a:avLst/>
          </a:prstGeom>
          <a:noFill/>
          <a:ln/>
        </p:spPr>
        <p:txBody>
          <a:bodyPr wrap="square" lIns="0" tIns="0" rIns="0" bIns="0" rtlCol="0" anchor="ctr"/>
          <a:lstStyle/>
          <a:p>
            <a:pPr indent="0" marL="0">
              <a:spcAft>
                <a:spcPts val="600"/>
              </a:spcAft>
              <a:buNone/>
            </a:pPr>
            <a:r>
              <a:rPr lang="en-US" sz="1700" dirty="0">
                <a:solidFill>
                  <a:schemeClr val="bg2"/>
                </a:solidFill>
              </a:rPr>
              <a:t>Of 1,316 tests that actually failed:</a:t>
            </a:r>
            <a:endParaRPr lang="en-US" sz="1700" dirty="0"/>
          </a:p>
          <a:p>
            <a:pPr indent="0" marL="0">
              <a:spcAft>
                <a:spcPts val="600"/>
              </a:spcAft>
              <a:buNone/>
            </a:pPr>
            <a:r>
              <a:rPr lang="en-US" sz="1700" b="1" dirty="0">
                <a:solidFill>
                  <a:schemeClr val="bg1"/>
                </a:solidFill>
              </a:rPr>
              <a:t>co-change predicted 61 (4.64%)</a:t>
            </a:r>
            <a:endParaRPr lang="en-US" sz="1700" dirty="0"/>
          </a:p>
          <a:p>
            <a:pPr indent="0" marL="0">
              <a:spcAft>
                <a:spcPts val="600"/>
              </a:spcAft>
              <a:buNone/>
            </a:pPr>
            <a:r>
              <a:rPr lang="en-US" sz="1700" b="1" dirty="0">
                <a:solidFill>
                  <a:schemeClr val="accent2"/>
                </a:solidFill>
              </a:rPr>
              <a:t>historical frequency predicted 519 (39.44%)</a:t>
            </a:r>
            <a:endParaRPr lang="en-US" sz="1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766560" y="3611880"/>
          <a:ext cx="4873752" cy="914400"/>
        </p:xfrm>
        <a:graphic>
          <a:graphicData uri="http://schemas.openxmlformats.org/drawingml/2006/table">
            <a:tbl>
              <a:tblPr/>
              <a:tblGrid>
                <a:gridCol w="2404872"/>
                <a:gridCol w="822960"/>
                <a:gridCol w="822960"/>
                <a:gridCol w="822960"/>
              </a:tblGrid>
              <a:tr h="347472">
                <a:tc>
                  <a:txBody>
                    <a:bodyPr/>
                    <a:lstStyle/>
                    <a:p>
                      <a:pPr algn="l" indent="0" marL="0">
                        <a:buNone/>
                      </a:pPr>
                      <a:r>
                        <a:rPr lang="en-US" sz="1300" b="1" dirty="0">
                          <a:solidFill>
                            <a:schemeClr val="bg1"/>
                          </a:solidFill>
                        </a:rPr>
                        <a:t>Method</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300" b="1" dirty="0">
                          <a:solidFill>
                            <a:schemeClr val="bg1"/>
                          </a:solidFill>
                        </a:rPr>
                        <a:t>P</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300" b="1" dirty="0">
                          <a:solidFill>
                            <a:schemeClr val="bg1"/>
                          </a:solidFill>
                        </a:rPr>
                        <a:t>R</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300" b="1" dirty="0">
                          <a:solidFill>
                            <a:schemeClr val="bg1"/>
                          </a:solidFill>
                        </a:rPr>
                        <a:t>J</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algn="l" indent="0" marL="0">
                        <a:buNone/>
                      </a:pPr>
                      <a:r>
                        <a:rPr lang="en-US" sz="1300" dirty="0">
                          <a:solidFill>
                            <a:schemeClr val="tx1"/>
                          </a:solidFill>
                        </a:rPr>
                        <a:t>Co-change, all</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.011</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.051</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.010</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algn="l" indent="0" marL="0">
                        <a:buNone/>
                      </a:pPr>
                      <a:r>
                        <a:rPr lang="en-US" sz="1300" dirty="0">
                          <a:solidFill>
                            <a:schemeClr val="tx1"/>
                          </a:solidFill>
                        </a:rPr>
                        <a:t>Co-change, test files</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.054</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.087</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.038</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algn="l" indent="0" marL="0">
                        <a:buNone/>
                      </a:pPr>
                      <a:r>
                        <a:rPr lang="en-US" sz="1300" dirty="0">
                          <a:solidFill>
                            <a:schemeClr val="tx1"/>
                          </a:solidFill>
                        </a:rPr>
                        <a:t>Changeset</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.039</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.245</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.037</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algn="l" indent="0" marL="0">
                        <a:buNone/>
                      </a:pPr>
                      <a:r>
                        <a:rPr lang="en-US" sz="1300" b="1" dirty="0">
                          <a:solidFill>
                            <a:schemeClr val="tx1"/>
                          </a:solidFill>
                        </a:rPr>
                        <a:t>Historical frequency</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b="1" dirty="0">
                          <a:solidFill>
                            <a:schemeClr val="tx1"/>
                          </a:solidFill>
                        </a:rPr>
                        <a:t>.185</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b="1" dirty="0">
                          <a:solidFill>
                            <a:schemeClr val="tx1"/>
                          </a:solidFill>
                        </a:rPr>
                        <a:t>.517</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b="1" dirty="0">
                          <a:solidFill>
                            <a:schemeClr val="tx1"/>
                          </a:solidFill>
                        </a:rPr>
                        <a:t>.178</a:t>
                      </a:r>
                      <a:endParaRPr lang="en-US" sz="1300" dirty="0"/>
                    </a:p>
                  </a:txBody>
                  <a:tcPr marL="109728" marR="109728" marT="27432" marB="27432"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7" name="Text 3"/>
          <p:cNvSpPr txBox="1"/>
          <p:nvPr/>
        </p:nvSpPr>
        <p:spPr>
          <a:xfrm>
            <a:off x="548640" y="5669280"/>
            <a:ext cx="11091672" cy="365760"/>
          </a:xfrm>
          <a:prstGeom prst="rect">
            <a:avLst/>
          </a:prstGeom>
          <a:noFill/>
          <a:ln/>
        </p:spPr>
        <p:txBody>
          <a:bodyPr wrap="square" lIns="0" tIns="0" rIns="0" bIns="0" rtlCol="0" anchor="t"/>
          <a:lstStyle/>
          <a:p>
            <a:pPr indent="0" marL="0">
              <a:buNone/>
            </a:pPr>
            <a:r>
              <a:rPr lang="en-US" sz="1300" i="1" dirty="0">
                <a:solidFill>
                  <a:schemeClr val="accent5"/>
                </a:solidFill>
              </a:rPr>
              <a:t>Co-change is trailing and symmetric; the leakage audit went from 640/713 leaking instances to 0/713.</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the labels look like</a:t>
            </a:r>
            <a:endParaRPr lang="en-US" sz="3200" dirty="0"/>
          </a:p>
        </p:txBody>
      </p:sp>
      <p:graphicFrame>
        <p:nvGraphicFramePr>
          <p:cNvPr id="3" name="Chart 0" descr=""/>
          <p:cNvGraphicFramePr/>
          <p:nvPr/>
        </p:nvGraphicFramePr>
        <p:xfrm>
          <a:off x="457200" y="128016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766560" y="1371600"/>
            <a:ext cx="4873752" cy="1325880"/>
          </a:xfrm>
          <a:prstGeom prst="roundRect">
            <a:avLst>
              <a:gd name="adj" fmla="val 6897"/>
            </a:avLst>
          </a:prstGeom>
          <a:solidFill>
            <a:schemeClr val="bg2"/>
          </a:solidFill>
          <a:ln/>
        </p:spPr>
      </p:sp>
      <p:sp>
        <p:nvSpPr>
          <p:cNvPr id="5" name="Text 2"/>
          <p:cNvSpPr txBox="1"/>
          <p:nvPr/>
        </p:nvSpPr>
        <p:spPr>
          <a:xfrm>
            <a:off x="6995160" y="1481328"/>
            <a:ext cx="448056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43.88%</a:t>
            </a:r>
            <a:endParaRPr lang="en-US" sz="3000" dirty="0"/>
          </a:p>
        </p:txBody>
      </p:sp>
      <p:sp>
        <p:nvSpPr>
          <p:cNvPr id="6" name="Text 3"/>
          <p:cNvSpPr txBox="1"/>
          <p:nvPr/>
        </p:nvSpPr>
        <p:spPr>
          <a:xfrm>
            <a:off x="6995160" y="2084832"/>
            <a:ext cx="4480560" cy="548640"/>
          </a:xfrm>
          <a:prstGeom prst="rect">
            <a:avLst/>
          </a:prstGeom>
          <a:noFill/>
          <a:ln/>
        </p:spPr>
        <p:txBody>
          <a:bodyPr wrap="square" lIns="0" tIns="0" rIns="0" bIns="0" rtlCol="0" anchor="t"/>
          <a:lstStyle/>
          <a:p>
            <a:pPr indent="0" marL="0">
              <a:buNone/>
            </a:pPr>
            <a:r>
              <a:rPr lang="en-US" sz="1300" dirty="0">
                <a:solidFill>
                  <a:schemeClr val="accent5"/>
                </a:solidFill>
              </a:rPr>
              <a:t>of failed runs had no resolvable base (5,520 / 12,581) and emit no labels</a:t>
            </a:r>
            <a:endParaRPr lang="en-US" sz="1300" dirty="0"/>
          </a:p>
        </p:txBody>
      </p:sp>
      <p:sp>
        <p:nvSpPr>
          <p:cNvPr id="7" name="card"/>
          <p:cNvSpPr/>
          <p:nvPr/>
        </p:nvSpPr>
        <p:spPr>
          <a:xfrm>
            <a:off x="6766560" y="2880360"/>
            <a:ext cx="4873752" cy="1325880"/>
          </a:xfrm>
          <a:prstGeom prst="roundRect">
            <a:avLst>
              <a:gd name="adj" fmla="val 6897"/>
            </a:avLst>
          </a:prstGeom>
          <a:solidFill>
            <a:schemeClr val="bg2"/>
          </a:solidFill>
          <a:ln/>
        </p:spPr>
      </p:sp>
      <p:sp>
        <p:nvSpPr>
          <p:cNvPr id="8" name="Text 5"/>
          <p:cNvSpPr txBox="1"/>
          <p:nvPr/>
        </p:nvSpPr>
        <p:spPr>
          <a:xfrm>
            <a:off x="6995160" y="2990088"/>
            <a:ext cx="448056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0.54%</a:t>
            </a:r>
            <a:endParaRPr lang="en-US" sz="3000" dirty="0"/>
          </a:p>
        </p:txBody>
      </p:sp>
      <p:sp>
        <p:nvSpPr>
          <p:cNvPr id="9" name="Text 6"/>
          <p:cNvSpPr txBox="1"/>
          <p:nvPr/>
        </p:nvSpPr>
        <p:spPr>
          <a:xfrm>
            <a:off x="6995160" y="3593592"/>
            <a:ext cx="4480560" cy="548640"/>
          </a:xfrm>
          <a:prstGeom prst="rect">
            <a:avLst/>
          </a:prstGeom>
          <a:noFill/>
          <a:ln/>
        </p:spPr>
        <p:txBody>
          <a:bodyPr wrap="square" lIns="0" tIns="0" rIns="0" bIns="0" rtlCol="0" anchor="t"/>
          <a:lstStyle/>
          <a:p>
            <a:pPr indent="0" marL="0">
              <a:buNone/>
            </a:pPr>
            <a:r>
              <a:rPr lang="en-US" sz="1300" dirty="0">
                <a:solidFill>
                  <a:schemeClr val="accent5"/>
                </a:solidFill>
              </a:rPr>
              <a:t>same-commit test flips (62 / 11,557), removed from labels as flaky</a:t>
            </a:r>
            <a:endParaRPr lang="en-US" sz="1300" dirty="0"/>
          </a:p>
        </p:txBody>
      </p:sp>
      <p:sp>
        <p:nvSpPr>
          <p:cNvPr id="10" name="card"/>
          <p:cNvSpPr/>
          <p:nvPr/>
        </p:nvSpPr>
        <p:spPr>
          <a:xfrm>
            <a:off x="6766560" y="4389120"/>
            <a:ext cx="4873752" cy="1325880"/>
          </a:xfrm>
          <a:prstGeom prst="roundRect">
            <a:avLst>
              <a:gd name="adj" fmla="val 6897"/>
            </a:avLst>
          </a:prstGeom>
          <a:solidFill>
            <a:schemeClr val="bg2"/>
          </a:solidFill>
          <a:ln/>
        </p:spPr>
      </p:sp>
      <p:sp>
        <p:nvSpPr>
          <p:cNvPr id="11" name="Text 8"/>
          <p:cNvSpPr txBox="1"/>
          <p:nvPr/>
        </p:nvSpPr>
        <p:spPr>
          <a:xfrm>
            <a:off x="6995160" y="4498848"/>
            <a:ext cx="448056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77.69%</a:t>
            </a:r>
            <a:endParaRPr lang="en-US" sz="3000" dirty="0"/>
          </a:p>
        </p:txBody>
      </p:sp>
      <p:sp>
        <p:nvSpPr>
          <p:cNvPr id="12" name="Text 9"/>
          <p:cNvSpPr txBox="1"/>
          <p:nvPr/>
        </p:nvSpPr>
        <p:spPr>
          <a:xfrm>
            <a:off x="6995160" y="5102352"/>
            <a:ext cx="4480560" cy="548640"/>
          </a:xfrm>
          <a:prstGeom prst="rect">
            <a:avLst/>
          </a:prstGeom>
          <a:noFill/>
          <a:ln/>
        </p:spPr>
        <p:txBody>
          <a:bodyPr wrap="square" lIns="0" tIns="0" rIns="0" bIns="0" rtlCol="0" anchor="t"/>
          <a:lstStyle/>
          <a:p>
            <a:pPr indent="0" marL="0">
              <a:buNone/>
            </a:pPr>
            <a:r>
              <a:rPr lang="en-US" sz="1300" dirty="0">
                <a:solidFill>
                  <a:schemeClr val="accent5"/>
                </a:solidFill>
              </a:rPr>
              <a:t>of labels are unclassified: the regex classifier is a lower bound, and nothing is removed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Silent failures we caught, and the guard each one left</a:t>
            </a:r>
            <a:endParaRPr lang="en-US" sz="3200" dirty="0"/>
          </a:p>
        </p:txBody>
      </p:sp>
      <p:sp>
        <p:nvSpPr>
          <p:cNvPr id="3" name="card"/>
          <p:cNvSpPr/>
          <p:nvPr/>
        </p:nvSpPr>
        <p:spPr>
          <a:xfrm>
            <a:off x="548640" y="1371600"/>
            <a:ext cx="3520440" cy="2148840"/>
          </a:xfrm>
          <a:prstGeom prst="roundRect">
            <a:avLst>
              <a:gd name="adj" fmla="val 4255"/>
            </a:avLst>
          </a:prstGeom>
          <a:solidFill>
            <a:schemeClr val="bg2"/>
          </a:solidFill>
          <a:ln/>
        </p:spPr>
      </p:sp>
      <p:sp>
        <p:nvSpPr>
          <p:cNvPr id="4" name="icon circle"/>
          <p:cNvSpPr/>
          <p:nvPr/>
        </p:nvSpPr>
        <p:spPr>
          <a:xfrm>
            <a:off x="777240" y="1600200"/>
            <a:ext cx="548640" cy="548640"/>
          </a:xfrm>
          <a:prstGeom prst="ellipse">
            <a:avLst/>
          </a:prstGeom>
          <a:solidFill>
            <a:schemeClr val="accent6"/>
          </a:solidFill>
          <a:ln/>
        </p:spPr>
      </p:sp>
      <p:pic>
        <p:nvPicPr>
          <p:cNvPr id="5" name="Image 0" descr="history icon">    </p:cNvPr>
          <p:cNvPicPr>
            <a:picLocks noChangeAspect="1"/>
          </p:cNvPicPr>
          <p:nvPr/>
        </p:nvPicPr>
        <p:blipFill>
          <a:blip r:embed="rId1"/>
          <a:stretch>
            <a:fillRect/>
          </a:stretch>
        </p:blipFill>
        <p:spPr>
          <a:xfrm>
            <a:off x="908914" y="1731874"/>
            <a:ext cx="285293" cy="285293"/>
          </a:xfrm>
          <a:prstGeom prst="rect">
            <a:avLst/>
          </a:prstGeom>
        </p:spPr>
      </p:pic>
      <p:sp>
        <p:nvSpPr>
          <p:cNvPr id="6" name="Text 3"/>
          <p:cNvSpPr txBox="1"/>
          <p:nvPr/>
        </p:nvSpPr>
        <p:spPr>
          <a:xfrm>
            <a:off x="1463040" y="16002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Stale labels</a:t>
            </a:r>
            <a:endParaRPr lang="en-US" sz="1600" dirty="0"/>
          </a:p>
        </p:txBody>
      </p:sp>
      <p:sp>
        <p:nvSpPr>
          <p:cNvPr id="7" name="Text 4"/>
          <p:cNvSpPr txBox="1"/>
          <p:nvPr/>
        </p:nvSpPr>
        <p:spPr>
          <a:xfrm>
            <a:off x="777240" y="2286000"/>
            <a:ext cx="3063240" cy="1143000"/>
          </a:xfrm>
          <a:prstGeom prst="rect">
            <a:avLst/>
          </a:prstGeom>
          <a:noFill/>
          <a:ln/>
        </p:spPr>
        <p:txBody>
          <a:bodyPr wrap="square" lIns="0" tIns="0" rIns="0" bIns="0" rtlCol="0" anchor="t"/>
          <a:lstStyle/>
          <a:p>
            <a:pPr indent="0" marL="0">
              <a:buNone/>
            </a:pPr>
            <a:r>
              <a:rPr lang="en-US" sz="1300" dirty="0">
                <a:solidFill>
                  <a:schemeClr val="accent5"/>
                </a:solidFill>
              </a:rPr>
              <a:t>Labels were never regenerated after a re-parse. Everything was rebuilt from raw logs (D-49); a freshness guard now blocks it.</a:t>
            </a:r>
            <a:endParaRPr lang="en-US" sz="1300" dirty="0"/>
          </a:p>
        </p:txBody>
      </p:sp>
      <p:sp>
        <p:nvSpPr>
          <p:cNvPr id="8" name="card"/>
          <p:cNvSpPr/>
          <p:nvPr/>
        </p:nvSpPr>
        <p:spPr>
          <a:xfrm>
            <a:off x="4370832" y="1371600"/>
            <a:ext cx="3520440" cy="2148840"/>
          </a:xfrm>
          <a:prstGeom prst="roundRect">
            <a:avLst>
              <a:gd name="adj" fmla="val 4255"/>
            </a:avLst>
          </a:prstGeom>
          <a:solidFill>
            <a:schemeClr val="bg2"/>
          </a:solidFill>
          <a:ln/>
        </p:spPr>
      </p:sp>
      <p:sp>
        <p:nvSpPr>
          <p:cNvPr id="9" name="icon circle"/>
          <p:cNvSpPr/>
          <p:nvPr/>
        </p:nvSpPr>
        <p:spPr>
          <a:xfrm>
            <a:off x="4599432" y="1600200"/>
            <a:ext cx="548640" cy="548640"/>
          </a:xfrm>
          <a:prstGeom prst="ellipse">
            <a:avLst/>
          </a:prstGeom>
          <a:solidFill>
            <a:schemeClr val="accent6"/>
          </a:solidFill>
          <a:ln/>
        </p:spPr>
      </p:sp>
      <p:pic>
        <p:nvPicPr>
          <p:cNvPr id="10" name="Image 1" descr="bug icon">    </p:cNvPr>
          <p:cNvPicPr>
            <a:picLocks noChangeAspect="1"/>
          </p:cNvPicPr>
          <p:nvPr/>
        </p:nvPicPr>
        <p:blipFill>
          <a:blip r:embed="rId2"/>
          <a:stretch>
            <a:fillRect/>
          </a:stretch>
        </p:blipFill>
        <p:spPr>
          <a:xfrm>
            <a:off x="4731106" y="1731874"/>
            <a:ext cx="285293" cy="285293"/>
          </a:xfrm>
          <a:prstGeom prst="rect">
            <a:avLst/>
          </a:prstGeom>
        </p:spPr>
      </p:pic>
      <p:sp>
        <p:nvSpPr>
          <p:cNvPr id="11" name="Text 7"/>
          <p:cNvSpPr txBox="1"/>
          <p:nvPr/>
        </p:nvSpPr>
        <p:spPr>
          <a:xfrm>
            <a:off x="5285232" y="16002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Parameter types read as classes</a:t>
            </a:r>
            <a:endParaRPr lang="en-US" sz="1600" dirty="0"/>
          </a:p>
        </p:txBody>
      </p:sp>
      <p:sp>
        <p:nvSpPr>
          <p:cNvPr id="12" name="Text 8"/>
          <p:cNvSpPr txBox="1"/>
          <p:nvPr/>
        </p:nvSpPr>
        <p:spPr>
          <a:xfrm>
            <a:off x="4599432" y="2286000"/>
            <a:ext cx="3063240" cy="1143000"/>
          </a:xfrm>
          <a:prstGeom prst="rect">
            <a:avLst/>
          </a:prstGeom>
          <a:noFill/>
          <a:ln/>
        </p:spPr>
        <p:txBody>
          <a:bodyPr wrap="square" lIns="0" tIns="0" rIns="0" bIns="0" rtlCol="0" anchor="t"/>
          <a:lstStyle/>
          <a:p>
            <a:pPr indent="0" marL="0">
              <a:buNone/>
            </a:pPr>
            <a:r>
              <a:rPr lang="en-US" sz="1300" dirty="0">
                <a:solidFill>
                  <a:schemeClr val="accent5"/>
                </a:solidFill>
              </a:rPr>
              <a:t>JUnit 5 parameterised tests mis-parsed: 21 test IDs (60 rows) corrected one-to-one.</a:t>
            </a:r>
            <a:endParaRPr lang="en-US" sz="1300" dirty="0"/>
          </a:p>
        </p:txBody>
      </p:sp>
      <p:sp>
        <p:nvSpPr>
          <p:cNvPr id="13" name="card"/>
          <p:cNvSpPr/>
          <p:nvPr/>
        </p:nvSpPr>
        <p:spPr>
          <a:xfrm>
            <a:off x="8193024" y="1371600"/>
            <a:ext cx="3520440" cy="2148840"/>
          </a:xfrm>
          <a:prstGeom prst="roundRect">
            <a:avLst>
              <a:gd name="adj" fmla="val 4255"/>
            </a:avLst>
          </a:prstGeom>
          <a:solidFill>
            <a:schemeClr val="bg2"/>
          </a:solidFill>
          <a:ln/>
        </p:spPr>
      </p:sp>
      <p:sp>
        <p:nvSpPr>
          <p:cNvPr id="14" name="icon circle"/>
          <p:cNvSpPr/>
          <p:nvPr/>
        </p:nvSpPr>
        <p:spPr>
          <a:xfrm>
            <a:off x="8421624" y="1600200"/>
            <a:ext cx="548640" cy="548640"/>
          </a:xfrm>
          <a:prstGeom prst="ellipse">
            <a:avLst/>
          </a:prstGeom>
          <a:solidFill>
            <a:schemeClr val="accent6"/>
          </a:solidFill>
          <a:ln/>
        </p:spPr>
      </p:sp>
      <p:pic>
        <p:nvPicPr>
          <p:cNvPr id="15" name="Image 2" descr="history icon">    </p:cNvPr>
          <p:cNvPicPr>
            <a:picLocks noChangeAspect="1"/>
          </p:cNvPicPr>
          <p:nvPr/>
        </p:nvPicPr>
        <p:blipFill>
          <a:blip r:embed="rId3"/>
          <a:stretch>
            <a:fillRect/>
          </a:stretch>
        </p:blipFill>
        <p:spPr>
          <a:xfrm>
            <a:off x="8553298" y="1731874"/>
            <a:ext cx="285293" cy="285293"/>
          </a:xfrm>
          <a:prstGeom prst="rect">
            <a:avLst/>
          </a:prstGeom>
        </p:spPr>
      </p:pic>
      <p:sp>
        <p:nvSpPr>
          <p:cNvPr id="16" name="Text 11"/>
          <p:cNvSpPr txBox="1"/>
          <p:nvPr/>
        </p:nvSpPr>
        <p:spPr>
          <a:xfrm>
            <a:off x="9107424" y="160020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Co-change leakage</a:t>
            </a:r>
            <a:endParaRPr lang="en-US" sz="1600" dirty="0"/>
          </a:p>
        </p:txBody>
      </p:sp>
      <p:sp>
        <p:nvSpPr>
          <p:cNvPr id="17" name="Text 12"/>
          <p:cNvSpPr txBox="1"/>
          <p:nvPr/>
        </p:nvSpPr>
        <p:spPr>
          <a:xfrm>
            <a:off x="8421624" y="2286000"/>
            <a:ext cx="3063240" cy="1143000"/>
          </a:xfrm>
          <a:prstGeom prst="rect">
            <a:avLst/>
          </a:prstGeom>
          <a:noFill/>
          <a:ln/>
        </p:spPr>
        <p:txBody>
          <a:bodyPr wrap="square" lIns="0" tIns="0" rIns="0" bIns="0" rtlCol="0" anchor="t"/>
          <a:lstStyle/>
          <a:p>
            <a:pPr indent="0" marL="0">
              <a:buNone/>
            </a:pPr>
            <a:r>
              <a:rPr lang="en-US" sz="1300" dirty="0">
                <a:solidFill>
                  <a:schemeClr val="accent5"/>
                </a:solidFill>
              </a:rPr>
              <a:t>Future commits leaked into 640/713 instances. Now trailing and per-instance: 0/713.</a:t>
            </a:r>
            <a:endParaRPr lang="en-US" sz="1300" dirty="0"/>
          </a:p>
        </p:txBody>
      </p:sp>
      <p:sp>
        <p:nvSpPr>
          <p:cNvPr id="18" name="card"/>
          <p:cNvSpPr/>
          <p:nvPr/>
        </p:nvSpPr>
        <p:spPr>
          <a:xfrm>
            <a:off x="548640" y="3703320"/>
            <a:ext cx="3520440" cy="2148840"/>
          </a:xfrm>
          <a:prstGeom prst="roundRect">
            <a:avLst>
              <a:gd name="adj" fmla="val 4255"/>
            </a:avLst>
          </a:prstGeom>
          <a:solidFill>
            <a:schemeClr val="bg2"/>
          </a:solidFill>
          <a:ln/>
        </p:spPr>
      </p:sp>
      <p:sp>
        <p:nvSpPr>
          <p:cNvPr id="19" name="icon circle"/>
          <p:cNvSpPr/>
          <p:nvPr/>
        </p:nvSpPr>
        <p:spPr>
          <a:xfrm>
            <a:off x="777240" y="3931920"/>
            <a:ext cx="548640" cy="548640"/>
          </a:xfrm>
          <a:prstGeom prst="ellipse">
            <a:avLst/>
          </a:prstGeom>
          <a:solidFill>
            <a:schemeClr val="accent6"/>
          </a:solidFill>
          <a:ln/>
        </p:spPr>
      </p:sp>
      <p:pic>
        <p:nvPicPr>
          <p:cNvPr id="20" name="Image 3" descr="user icon">    </p:cNvPr>
          <p:cNvPicPr>
            <a:picLocks noChangeAspect="1"/>
          </p:cNvPicPr>
          <p:nvPr/>
        </p:nvPicPr>
        <p:blipFill>
          <a:blip r:embed="rId4"/>
          <a:stretch>
            <a:fillRect/>
          </a:stretch>
        </p:blipFill>
        <p:spPr>
          <a:xfrm>
            <a:off x="908914" y="4063594"/>
            <a:ext cx="285293" cy="285293"/>
          </a:xfrm>
          <a:prstGeom prst="rect">
            <a:avLst/>
          </a:prstGeom>
        </p:spPr>
      </p:pic>
      <p:sp>
        <p:nvSpPr>
          <p:cNvPr id="21" name="Text 15"/>
          <p:cNvSpPr txBox="1"/>
          <p:nvPr/>
        </p:nvSpPr>
        <p:spPr>
          <a:xfrm>
            <a:off x="1463040" y="393192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Live logins in a bundle</a:t>
            </a:r>
            <a:endParaRPr lang="en-US" sz="1600" dirty="0"/>
          </a:p>
        </p:txBody>
      </p:sp>
      <p:sp>
        <p:nvSpPr>
          <p:cNvPr id="22" name="Text 16"/>
          <p:cNvSpPr txBox="1"/>
          <p:nvPr/>
        </p:nvSpPr>
        <p:spPr>
          <a:xfrm>
            <a:off x="777240" y="4617720"/>
            <a:ext cx="3063240" cy="1143000"/>
          </a:xfrm>
          <a:prstGeom prst="rect">
            <a:avLst/>
          </a:prstGeom>
          <a:noFill/>
          <a:ln/>
        </p:spPr>
        <p:txBody>
          <a:bodyPr wrap="square" lIns="0" tIns="0" rIns="0" bIns="0" rtlCol="0" anchor="t"/>
          <a:lstStyle/>
          <a:p>
            <a:pPr indent="0" marL="0">
              <a:buNone/>
            </a:pPr>
            <a:r>
              <a:rPr lang="en-US" sz="1300" dirty="0">
                <a:solidFill>
                  <a:schemeClr val="accent5"/>
                </a:solidFill>
              </a:rPr>
              <a:t>A first local release kept real usernames. It was never published; the build now requires the key.</a:t>
            </a:r>
            <a:endParaRPr lang="en-US" sz="1300" dirty="0"/>
          </a:p>
        </p:txBody>
      </p:sp>
      <p:sp>
        <p:nvSpPr>
          <p:cNvPr id="23" name="card"/>
          <p:cNvSpPr/>
          <p:nvPr/>
        </p:nvSpPr>
        <p:spPr>
          <a:xfrm>
            <a:off x="4370832" y="3703320"/>
            <a:ext cx="3520440" cy="2148840"/>
          </a:xfrm>
          <a:prstGeom prst="roundRect">
            <a:avLst>
              <a:gd name="adj" fmla="val 4255"/>
            </a:avLst>
          </a:prstGeom>
          <a:solidFill>
            <a:schemeClr val="bg2"/>
          </a:solidFill>
          <a:ln/>
        </p:spPr>
      </p:sp>
      <p:sp>
        <p:nvSpPr>
          <p:cNvPr id="24" name="icon circle"/>
          <p:cNvSpPr/>
          <p:nvPr/>
        </p:nvSpPr>
        <p:spPr>
          <a:xfrm>
            <a:off x="4599432" y="3931920"/>
            <a:ext cx="548640" cy="548640"/>
          </a:xfrm>
          <a:prstGeom prst="ellipse">
            <a:avLst/>
          </a:prstGeom>
          <a:solidFill>
            <a:schemeClr val="accent6"/>
          </a:solidFill>
          <a:ln/>
        </p:spPr>
      </p:sp>
      <p:pic>
        <p:nvPicPr>
          <p:cNvPr id="25" name="Image 4" descr="clone icon">    </p:cNvPr>
          <p:cNvPicPr>
            <a:picLocks noChangeAspect="1"/>
          </p:cNvPicPr>
          <p:nvPr/>
        </p:nvPicPr>
        <p:blipFill>
          <a:blip r:embed="rId5"/>
          <a:stretch>
            <a:fillRect/>
          </a:stretch>
        </p:blipFill>
        <p:spPr>
          <a:xfrm>
            <a:off x="4731106" y="4063594"/>
            <a:ext cx="285293" cy="285293"/>
          </a:xfrm>
          <a:prstGeom prst="rect">
            <a:avLst/>
          </a:prstGeom>
        </p:spPr>
      </p:pic>
      <p:sp>
        <p:nvSpPr>
          <p:cNvPr id="26" name="Text 19"/>
          <p:cNvSpPr txBox="1"/>
          <p:nvPr/>
        </p:nvSpPr>
        <p:spPr>
          <a:xfrm>
            <a:off x="5285232" y="393192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Partial clone</a:t>
            </a:r>
            <a:endParaRPr lang="en-US" sz="1600" dirty="0"/>
          </a:p>
        </p:txBody>
      </p:sp>
      <p:sp>
        <p:nvSpPr>
          <p:cNvPr id="27" name="Text 20"/>
          <p:cNvSpPr txBox="1"/>
          <p:nvPr/>
        </p:nvSpPr>
        <p:spPr>
          <a:xfrm>
            <a:off x="4599432" y="4617720"/>
            <a:ext cx="3063240" cy="1143000"/>
          </a:xfrm>
          <a:prstGeom prst="rect">
            <a:avLst/>
          </a:prstGeom>
          <a:noFill/>
          <a:ln/>
        </p:spPr>
        <p:txBody>
          <a:bodyPr wrap="square" lIns="0" tIns="0" rIns="0" bIns="0" rtlCol="0" anchor="t"/>
          <a:lstStyle/>
          <a:p>
            <a:pPr indent="0" marL="0">
              <a:buNone/>
            </a:pPr>
            <a:r>
              <a:rPr lang="en-US" sz="1300" dirty="0">
                <a:solidFill>
                  <a:schemeClr val="accent5"/>
                </a:solidFill>
              </a:rPr>
              <a:t>An interrupted clone resolved to our own repository. A complete-clone guard rejects it.</a:t>
            </a:r>
            <a:endParaRPr lang="en-US" sz="1300" dirty="0"/>
          </a:p>
        </p:txBody>
      </p:sp>
      <p:sp>
        <p:nvSpPr>
          <p:cNvPr id="28" name="card"/>
          <p:cNvSpPr/>
          <p:nvPr/>
        </p:nvSpPr>
        <p:spPr>
          <a:xfrm>
            <a:off x="8193024" y="3703320"/>
            <a:ext cx="3520440" cy="2148840"/>
          </a:xfrm>
          <a:prstGeom prst="roundRect">
            <a:avLst>
              <a:gd name="adj" fmla="val 4255"/>
            </a:avLst>
          </a:prstGeom>
          <a:solidFill>
            <a:schemeClr val="bg2"/>
          </a:solidFill>
          <a:ln/>
        </p:spPr>
      </p:sp>
      <p:sp>
        <p:nvSpPr>
          <p:cNvPr id="29" name="icon circle"/>
          <p:cNvSpPr/>
          <p:nvPr/>
        </p:nvSpPr>
        <p:spPr>
          <a:xfrm>
            <a:off x="8421624" y="3931920"/>
            <a:ext cx="548640" cy="548640"/>
          </a:xfrm>
          <a:prstGeom prst="ellipse">
            <a:avLst/>
          </a:prstGeom>
          <a:solidFill>
            <a:schemeClr val="accent6"/>
          </a:solidFill>
          <a:ln/>
        </p:spPr>
      </p:sp>
      <p:pic>
        <p:nvPicPr>
          <p:cNvPr id="30" name="Image 5" descr="wifi icon">    </p:cNvPr>
          <p:cNvPicPr>
            <a:picLocks noChangeAspect="1"/>
          </p:cNvPicPr>
          <p:nvPr/>
        </p:nvPicPr>
        <p:blipFill>
          <a:blip r:embed="rId6"/>
          <a:stretch>
            <a:fillRect/>
          </a:stretch>
        </p:blipFill>
        <p:spPr>
          <a:xfrm>
            <a:off x="8553298" y="4063594"/>
            <a:ext cx="285293" cy="285293"/>
          </a:xfrm>
          <a:prstGeom prst="rect">
            <a:avLst/>
          </a:prstGeom>
        </p:spPr>
      </p:pic>
      <p:sp>
        <p:nvSpPr>
          <p:cNvPr id="31" name="Text 23"/>
          <p:cNvSpPr txBox="1"/>
          <p:nvPr/>
        </p:nvSpPr>
        <p:spPr>
          <a:xfrm>
            <a:off x="9107424" y="393192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Network inside make tables</a:t>
            </a:r>
            <a:endParaRPr lang="en-US" sz="1600" dirty="0"/>
          </a:p>
        </p:txBody>
      </p:sp>
      <p:sp>
        <p:nvSpPr>
          <p:cNvPr id="32" name="Text 24"/>
          <p:cNvSpPr txBox="1"/>
          <p:nvPr/>
        </p:nvSpPr>
        <p:spPr>
          <a:xfrm>
            <a:off x="8421624" y="4617720"/>
            <a:ext cx="3063240" cy="1143000"/>
          </a:xfrm>
          <a:prstGeom prst="rect">
            <a:avLst/>
          </a:prstGeom>
          <a:noFill/>
          <a:ln/>
        </p:spPr>
        <p:txBody>
          <a:bodyPr wrap="square" lIns="0" tIns="0" rIns="0" bIns="0" rtlCol="0" anchor="t"/>
          <a:lstStyle/>
          <a:p>
            <a:pPr indent="0" marL="0">
              <a:buNone/>
            </a:pPr>
            <a:r>
              <a:rPr lang="en-US" sz="1300" dirty="0">
                <a:solidFill>
                  <a:schemeClr val="accent5"/>
                </a:solidFill>
              </a:rPr>
              <a:t>A table script called the API. Offline mode now raises on any request.</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Agentic workflow: from user story to deployment</a:t>
            </a:r>
            <a:endParaRPr lang="en-US" sz="3200" dirty="0"/>
          </a:p>
        </p:txBody>
      </p:sp>
      <p:sp>
        <p:nvSpPr>
          <p:cNvPr id="3" name="card"/>
          <p:cNvSpPr/>
          <p:nvPr/>
        </p:nvSpPr>
        <p:spPr>
          <a:xfrm>
            <a:off x="548640" y="1325880"/>
            <a:ext cx="2029968" cy="2331720"/>
          </a:xfrm>
          <a:prstGeom prst="roundRect">
            <a:avLst>
              <a:gd name="adj" fmla="val 4505"/>
            </a:avLst>
          </a:prstGeom>
          <a:solidFill>
            <a:schemeClr val="bg2"/>
          </a:solidFill>
          <a:ln/>
        </p:spPr>
      </p:sp>
      <p:sp>
        <p:nvSpPr>
          <p:cNvPr id="4" name="icon circle"/>
          <p:cNvSpPr/>
          <p:nvPr/>
        </p:nvSpPr>
        <p:spPr>
          <a:xfrm>
            <a:off x="731520" y="1481328"/>
            <a:ext cx="548640" cy="548640"/>
          </a:xfrm>
          <a:prstGeom prst="ellipse">
            <a:avLst/>
          </a:prstGeom>
          <a:solidFill>
            <a:schemeClr val="accent1"/>
          </a:solidFill>
          <a:ln/>
        </p:spPr>
      </p:sp>
      <p:pic>
        <p:nvPicPr>
          <p:cNvPr id="5" name="Image 0" descr="search icon">    </p:cNvPr>
          <p:cNvPicPr>
            <a:picLocks noChangeAspect="1"/>
          </p:cNvPicPr>
          <p:nvPr/>
        </p:nvPicPr>
        <p:blipFill>
          <a:blip r:embed="rId1"/>
          <a:stretch>
            <a:fillRect/>
          </a:stretch>
        </p:blipFill>
        <p:spPr>
          <a:xfrm>
            <a:off x="863194" y="1613002"/>
            <a:ext cx="285293" cy="285293"/>
          </a:xfrm>
          <a:prstGeom prst="rect">
            <a:avLst/>
          </a:prstGeom>
        </p:spPr>
      </p:pic>
      <p:sp>
        <p:nvSpPr>
          <p:cNvPr id="6" name="Text 3"/>
          <p:cNvSpPr txBox="1"/>
          <p:nvPr/>
        </p:nvSpPr>
        <p:spPr>
          <a:xfrm>
            <a:off x="731520" y="2103120"/>
            <a:ext cx="1755648" cy="411480"/>
          </a:xfrm>
          <a:prstGeom prst="rect">
            <a:avLst/>
          </a:prstGeom>
          <a:noFill/>
          <a:ln/>
        </p:spPr>
        <p:txBody>
          <a:bodyPr wrap="square" lIns="0" tIns="0" rIns="0" bIns="0" rtlCol="0" anchor="t"/>
          <a:lstStyle/>
          <a:p>
            <a:pPr indent="0" marL="0">
              <a:buNone/>
            </a:pPr>
            <a:r>
              <a:rPr lang="en-US" sz="1500" b="1" dirty="0">
                <a:solidFill>
                  <a:schemeClr val="tx1"/>
                </a:solidFill>
              </a:rPr>
              <a:t>Impact Analysis</a:t>
            </a:r>
            <a:endParaRPr lang="en-US" sz="1500" dirty="0"/>
          </a:p>
        </p:txBody>
      </p:sp>
      <p:sp>
        <p:nvSpPr>
          <p:cNvPr id="7" name="Text 4"/>
          <p:cNvSpPr txBox="1"/>
          <p:nvPr/>
        </p:nvSpPr>
        <p:spPr>
          <a:xfrm>
            <a:off x="731520" y="2542032"/>
            <a:ext cx="1755648" cy="105156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in: </a:t>
            </a:r>
            <a:pPr indent="0" marL="0">
              <a:spcAft>
                <a:spcPts val="300"/>
              </a:spcAft>
              <a:buNone/>
            </a:pPr>
            <a:r>
              <a:rPr lang="en-US" sz="1200" dirty="0">
                <a:solidFill>
                  <a:schemeClr val="tx1"/>
                </a:solidFill>
              </a:rPr>
              <a:t>user story + codebase</a:t>
            </a:r>
            <a:endParaRPr lang="en-US" sz="1200" dirty="0"/>
          </a:p>
          <a:p>
            <a:pPr indent="0" marL="0">
              <a:spcAft>
                <a:spcPts val="300"/>
              </a:spcAft>
              <a:buNone/>
            </a:pPr>
            <a:r>
              <a:rPr lang="en-US" sz="1200" b="1" dirty="0">
                <a:solidFill>
                  <a:schemeClr val="accent5"/>
                </a:solidFill>
              </a:rPr>
              <a:t>out: </a:t>
            </a:r>
            <a:pPr indent="0" marL="0">
              <a:spcAft>
                <a:spcPts val="300"/>
              </a:spcAft>
              <a:buNone/>
            </a:pPr>
            <a:r>
              <a:rPr lang="en-US" sz="1200" dirty="0">
                <a:solidFill>
                  <a:schemeClr val="tx1"/>
                </a:solidFill>
              </a:rPr>
              <a:t>impact analysis document</a:t>
            </a:r>
            <a:endParaRPr lang="en-US" sz="1200" dirty="0"/>
          </a:p>
        </p:txBody>
      </p:sp>
      <p:sp>
        <p:nvSpPr>
          <p:cNvPr id="8" name="arrow"/>
          <p:cNvSpPr/>
          <p:nvPr/>
        </p:nvSpPr>
        <p:spPr>
          <a:xfrm>
            <a:off x="2606040" y="2487168"/>
            <a:ext cx="173736" cy="0"/>
          </a:xfrm>
          <a:prstGeom prst="line">
            <a:avLst/>
          </a:prstGeom>
          <a:noFill/>
          <a:ln w="22225">
            <a:solidFill>
              <a:schemeClr val="accent1"/>
            </a:solidFill>
            <a:prstDash val="solid"/>
            <a:tailEnd type="triangle"/>
          </a:ln>
        </p:spPr>
      </p:sp>
      <p:sp>
        <p:nvSpPr>
          <p:cNvPr id="9" name="card"/>
          <p:cNvSpPr/>
          <p:nvPr/>
        </p:nvSpPr>
        <p:spPr>
          <a:xfrm>
            <a:off x="2807208" y="1325880"/>
            <a:ext cx="2029968" cy="2331720"/>
          </a:xfrm>
          <a:prstGeom prst="roundRect">
            <a:avLst>
              <a:gd name="adj" fmla="val 4505"/>
            </a:avLst>
          </a:prstGeom>
          <a:solidFill>
            <a:schemeClr val="bg2"/>
          </a:solidFill>
          <a:ln/>
        </p:spPr>
      </p:sp>
      <p:sp>
        <p:nvSpPr>
          <p:cNvPr id="10" name="icon circle"/>
          <p:cNvSpPr/>
          <p:nvPr/>
        </p:nvSpPr>
        <p:spPr>
          <a:xfrm>
            <a:off x="2990088" y="1481328"/>
            <a:ext cx="548640" cy="548640"/>
          </a:xfrm>
          <a:prstGeom prst="ellipse">
            <a:avLst/>
          </a:prstGeom>
          <a:solidFill>
            <a:schemeClr val="accent1"/>
          </a:solidFill>
          <a:ln/>
        </p:spPr>
      </p:sp>
      <p:pic>
        <p:nvPicPr>
          <p:cNvPr id="11" name="Image 1" descr="code icon">    </p:cNvPr>
          <p:cNvPicPr>
            <a:picLocks noChangeAspect="1"/>
          </p:cNvPicPr>
          <p:nvPr/>
        </p:nvPicPr>
        <p:blipFill>
          <a:blip r:embed="rId2"/>
          <a:stretch>
            <a:fillRect/>
          </a:stretch>
        </p:blipFill>
        <p:spPr>
          <a:xfrm>
            <a:off x="3121762" y="1613002"/>
            <a:ext cx="285293" cy="285293"/>
          </a:xfrm>
          <a:prstGeom prst="rect">
            <a:avLst/>
          </a:prstGeom>
        </p:spPr>
      </p:pic>
      <p:sp>
        <p:nvSpPr>
          <p:cNvPr id="12" name="Text 8"/>
          <p:cNvSpPr txBox="1"/>
          <p:nvPr/>
        </p:nvSpPr>
        <p:spPr>
          <a:xfrm>
            <a:off x="2990088" y="2103120"/>
            <a:ext cx="1755648" cy="411480"/>
          </a:xfrm>
          <a:prstGeom prst="rect">
            <a:avLst/>
          </a:prstGeom>
          <a:noFill/>
          <a:ln/>
        </p:spPr>
        <p:txBody>
          <a:bodyPr wrap="square" lIns="0" tIns="0" rIns="0" bIns="0" rtlCol="0" anchor="t"/>
          <a:lstStyle/>
          <a:p>
            <a:pPr indent="0" marL="0">
              <a:buNone/>
            </a:pPr>
            <a:r>
              <a:rPr lang="en-US" sz="1500" b="1" dirty="0">
                <a:solidFill>
                  <a:schemeClr val="tx1"/>
                </a:solidFill>
              </a:rPr>
              <a:t>Coding</a:t>
            </a:r>
            <a:endParaRPr lang="en-US" sz="1500" dirty="0"/>
          </a:p>
        </p:txBody>
      </p:sp>
      <p:sp>
        <p:nvSpPr>
          <p:cNvPr id="13" name="Text 9"/>
          <p:cNvSpPr txBox="1"/>
          <p:nvPr/>
        </p:nvSpPr>
        <p:spPr>
          <a:xfrm>
            <a:off x="2990088" y="2542032"/>
            <a:ext cx="1755648" cy="105156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in: </a:t>
            </a:r>
            <a:pPr indent="0" marL="0">
              <a:spcAft>
                <a:spcPts val="300"/>
              </a:spcAft>
              <a:buNone/>
            </a:pPr>
            <a:r>
              <a:rPr lang="en-US" sz="1200" dirty="0">
                <a:solidFill>
                  <a:schemeClr val="tx1"/>
                </a:solidFill>
              </a:rPr>
              <a:t>impact analysis + codebase</a:t>
            </a:r>
            <a:endParaRPr lang="en-US" sz="1200" dirty="0"/>
          </a:p>
          <a:p>
            <a:pPr indent="0" marL="0">
              <a:spcAft>
                <a:spcPts val="300"/>
              </a:spcAft>
              <a:buNone/>
            </a:pPr>
            <a:r>
              <a:rPr lang="en-US" sz="1200" b="1" dirty="0">
                <a:solidFill>
                  <a:schemeClr val="accent5"/>
                </a:solidFill>
              </a:rPr>
              <a:t>out: </a:t>
            </a:r>
            <a:pPr indent="0" marL="0">
              <a:spcAft>
                <a:spcPts val="300"/>
              </a:spcAft>
              <a:buNone/>
            </a:pPr>
            <a:r>
              <a:rPr lang="en-US" sz="1200" dirty="0">
                <a:solidFill>
                  <a:schemeClr val="tx1"/>
                </a:solidFill>
              </a:rPr>
              <a:t>changed files + pull request</a:t>
            </a:r>
            <a:endParaRPr lang="en-US" sz="1200" dirty="0"/>
          </a:p>
        </p:txBody>
      </p:sp>
      <p:sp>
        <p:nvSpPr>
          <p:cNvPr id="14" name="arrow"/>
          <p:cNvSpPr/>
          <p:nvPr/>
        </p:nvSpPr>
        <p:spPr>
          <a:xfrm>
            <a:off x="4864608" y="2487168"/>
            <a:ext cx="173736" cy="0"/>
          </a:xfrm>
          <a:prstGeom prst="line">
            <a:avLst/>
          </a:prstGeom>
          <a:noFill/>
          <a:ln w="22225">
            <a:solidFill>
              <a:schemeClr val="accent1"/>
            </a:solidFill>
            <a:prstDash val="solid"/>
            <a:tailEnd type="triangle"/>
          </a:ln>
        </p:spPr>
      </p:sp>
      <p:sp>
        <p:nvSpPr>
          <p:cNvPr id="15" name="card"/>
          <p:cNvSpPr/>
          <p:nvPr/>
        </p:nvSpPr>
        <p:spPr>
          <a:xfrm>
            <a:off x="5065776" y="1325880"/>
            <a:ext cx="2029968" cy="2331720"/>
          </a:xfrm>
          <a:prstGeom prst="roundRect">
            <a:avLst>
              <a:gd name="adj" fmla="val 4505"/>
            </a:avLst>
          </a:prstGeom>
          <a:solidFill>
            <a:schemeClr val="bg2"/>
          </a:solidFill>
          <a:ln/>
        </p:spPr>
      </p:sp>
      <p:sp>
        <p:nvSpPr>
          <p:cNvPr id="16" name="icon circle"/>
          <p:cNvSpPr/>
          <p:nvPr/>
        </p:nvSpPr>
        <p:spPr>
          <a:xfrm>
            <a:off x="5248656" y="1481328"/>
            <a:ext cx="548640" cy="548640"/>
          </a:xfrm>
          <a:prstGeom prst="ellipse">
            <a:avLst/>
          </a:prstGeom>
          <a:solidFill>
            <a:schemeClr val="accent1"/>
          </a:solidFill>
          <a:ln/>
        </p:spPr>
      </p:sp>
      <p:pic>
        <p:nvPicPr>
          <p:cNvPr id="17" name="Image 2" descr="eye icon">    </p:cNvPr>
          <p:cNvPicPr>
            <a:picLocks noChangeAspect="1"/>
          </p:cNvPicPr>
          <p:nvPr/>
        </p:nvPicPr>
        <p:blipFill>
          <a:blip r:embed="rId3"/>
          <a:stretch>
            <a:fillRect/>
          </a:stretch>
        </p:blipFill>
        <p:spPr>
          <a:xfrm>
            <a:off x="5380330" y="1613002"/>
            <a:ext cx="285293" cy="285293"/>
          </a:xfrm>
          <a:prstGeom prst="rect">
            <a:avLst/>
          </a:prstGeom>
        </p:spPr>
      </p:pic>
      <p:sp>
        <p:nvSpPr>
          <p:cNvPr id="18" name="Text 13"/>
          <p:cNvSpPr txBox="1"/>
          <p:nvPr/>
        </p:nvSpPr>
        <p:spPr>
          <a:xfrm>
            <a:off x="5248656" y="2103120"/>
            <a:ext cx="1755648" cy="411480"/>
          </a:xfrm>
          <a:prstGeom prst="rect">
            <a:avLst/>
          </a:prstGeom>
          <a:noFill/>
          <a:ln/>
        </p:spPr>
        <p:txBody>
          <a:bodyPr wrap="square" lIns="0" tIns="0" rIns="0" bIns="0" rtlCol="0" anchor="t"/>
          <a:lstStyle/>
          <a:p>
            <a:pPr indent="0" marL="0">
              <a:buNone/>
            </a:pPr>
            <a:r>
              <a:rPr lang="en-US" sz="1500" b="1" dirty="0">
                <a:solidFill>
                  <a:schemeClr val="tx1"/>
                </a:solidFill>
              </a:rPr>
              <a:t>PR Reviewer</a:t>
            </a:r>
            <a:endParaRPr lang="en-US" sz="1500" dirty="0"/>
          </a:p>
        </p:txBody>
      </p:sp>
      <p:sp>
        <p:nvSpPr>
          <p:cNvPr id="19" name="Text 14"/>
          <p:cNvSpPr txBox="1"/>
          <p:nvPr/>
        </p:nvSpPr>
        <p:spPr>
          <a:xfrm>
            <a:off x="5248656" y="2542032"/>
            <a:ext cx="1755648" cy="105156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in: </a:t>
            </a:r>
            <a:pPr indent="0" marL="0">
              <a:spcAft>
                <a:spcPts val="300"/>
              </a:spcAft>
              <a:buNone/>
            </a:pPr>
            <a:r>
              <a:rPr lang="en-US" sz="1200" dirty="0">
                <a:solidFill>
                  <a:schemeClr val="tx1"/>
                </a:solidFill>
              </a:rPr>
              <a:t>PR + impact analysis</a:t>
            </a:r>
            <a:endParaRPr lang="en-US" sz="1200" dirty="0"/>
          </a:p>
          <a:p>
            <a:pPr indent="0" marL="0">
              <a:spcAft>
                <a:spcPts val="300"/>
              </a:spcAft>
              <a:buNone/>
            </a:pPr>
            <a:r>
              <a:rPr lang="en-US" sz="1200" b="1" dirty="0">
                <a:solidFill>
                  <a:schemeClr val="accent5"/>
                </a:solidFill>
              </a:rPr>
              <a:t>out: </a:t>
            </a:r>
            <a:pPr indent="0" marL="0">
              <a:spcAft>
                <a:spcPts val="300"/>
              </a:spcAft>
              <a:buNone/>
            </a:pPr>
            <a:r>
              <a:rPr lang="en-US" sz="1200" dirty="0">
                <a:solidFill>
                  <a:schemeClr val="tx1"/>
                </a:solidFill>
              </a:rPr>
              <a:t>review, merge, commit id</a:t>
            </a:r>
            <a:endParaRPr lang="en-US" sz="1200" dirty="0"/>
          </a:p>
        </p:txBody>
      </p:sp>
      <p:sp>
        <p:nvSpPr>
          <p:cNvPr id="20" name="arrow"/>
          <p:cNvSpPr/>
          <p:nvPr/>
        </p:nvSpPr>
        <p:spPr>
          <a:xfrm>
            <a:off x="7123176" y="2487168"/>
            <a:ext cx="173736" cy="0"/>
          </a:xfrm>
          <a:prstGeom prst="line">
            <a:avLst/>
          </a:prstGeom>
          <a:noFill/>
          <a:ln w="22225">
            <a:solidFill>
              <a:schemeClr val="accent1"/>
            </a:solidFill>
            <a:prstDash val="solid"/>
            <a:tailEnd type="triangle"/>
          </a:ln>
        </p:spPr>
      </p:sp>
      <p:sp>
        <p:nvSpPr>
          <p:cNvPr id="21" name="card"/>
          <p:cNvSpPr/>
          <p:nvPr/>
        </p:nvSpPr>
        <p:spPr>
          <a:xfrm>
            <a:off x="7324344" y="1325880"/>
            <a:ext cx="2029968" cy="2331720"/>
          </a:xfrm>
          <a:prstGeom prst="roundRect">
            <a:avLst>
              <a:gd name="adj" fmla="val 4505"/>
            </a:avLst>
          </a:prstGeom>
          <a:solidFill>
            <a:schemeClr val="bg2"/>
          </a:solidFill>
          <a:ln/>
        </p:spPr>
      </p:sp>
      <p:sp>
        <p:nvSpPr>
          <p:cNvPr id="22" name="icon circle"/>
          <p:cNvSpPr/>
          <p:nvPr/>
        </p:nvSpPr>
        <p:spPr>
          <a:xfrm>
            <a:off x="7507224" y="1481328"/>
            <a:ext cx="548640" cy="548640"/>
          </a:xfrm>
          <a:prstGeom prst="ellipse">
            <a:avLst/>
          </a:prstGeom>
          <a:solidFill>
            <a:schemeClr val="accent1"/>
          </a:solidFill>
          <a:ln/>
        </p:spPr>
      </p:sp>
      <p:pic>
        <p:nvPicPr>
          <p:cNvPr id="23" name="Image 3" descr="rocket icon">    </p:cNvPr>
          <p:cNvPicPr>
            <a:picLocks noChangeAspect="1"/>
          </p:cNvPicPr>
          <p:nvPr/>
        </p:nvPicPr>
        <p:blipFill>
          <a:blip r:embed="rId4"/>
          <a:stretch>
            <a:fillRect/>
          </a:stretch>
        </p:blipFill>
        <p:spPr>
          <a:xfrm>
            <a:off x="7638898" y="1613002"/>
            <a:ext cx="285293" cy="285293"/>
          </a:xfrm>
          <a:prstGeom prst="rect">
            <a:avLst/>
          </a:prstGeom>
        </p:spPr>
      </p:pic>
      <p:sp>
        <p:nvSpPr>
          <p:cNvPr id="24" name="Text 18"/>
          <p:cNvSpPr txBox="1"/>
          <p:nvPr/>
        </p:nvSpPr>
        <p:spPr>
          <a:xfrm>
            <a:off x="7507224" y="2103120"/>
            <a:ext cx="1755648" cy="411480"/>
          </a:xfrm>
          <a:prstGeom prst="rect">
            <a:avLst/>
          </a:prstGeom>
          <a:noFill/>
          <a:ln/>
        </p:spPr>
        <p:txBody>
          <a:bodyPr wrap="square" lIns="0" tIns="0" rIns="0" bIns="0" rtlCol="0" anchor="t"/>
          <a:lstStyle/>
          <a:p>
            <a:pPr indent="0" marL="0">
              <a:buNone/>
            </a:pPr>
            <a:r>
              <a:rPr lang="en-US" sz="1500" b="1" dirty="0">
                <a:solidFill>
                  <a:schemeClr val="tx1"/>
                </a:solidFill>
              </a:rPr>
              <a:t>Build &amp; Deploy</a:t>
            </a:r>
            <a:endParaRPr lang="en-US" sz="1500" dirty="0"/>
          </a:p>
        </p:txBody>
      </p:sp>
      <p:sp>
        <p:nvSpPr>
          <p:cNvPr id="25" name="Text 19"/>
          <p:cNvSpPr txBox="1"/>
          <p:nvPr/>
        </p:nvSpPr>
        <p:spPr>
          <a:xfrm>
            <a:off x="7507224" y="2542032"/>
            <a:ext cx="1755648" cy="105156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in: </a:t>
            </a:r>
            <a:pPr indent="0" marL="0">
              <a:spcAft>
                <a:spcPts val="300"/>
              </a:spcAft>
              <a:buNone/>
            </a:pPr>
            <a:r>
              <a:rPr lang="en-US" sz="1200" dirty="0">
                <a:solidFill>
                  <a:schemeClr val="tx1"/>
                </a:solidFill>
              </a:rPr>
              <a:t>commit id + branch</a:t>
            </a:r>
            <a:endParaRPr lang="en-US" sz="1200" dirty="0"/>
          </a:p>
          <a:p>
            <a:pPr indent="0" marL="0">
              <a:spcAft>
                <a:spcPts val="300"/>
              </a:spcAft>
              <a:buNone/>
            </a:pPr>
            <a:r>
              <a:rPr lang="en-US" sz="1200" b="1" dirty="0">
                <a:solidFill>
                  <a:schemeClr val="accent5"/>
                </a:solidFill>
              </a:rPr>
              <a:t>out: </a:t>
            </a:r>
            <a:pPr indent="0" marL="0">
              <a:spcAft>
                <a:spcPts val="300"/>
              </a:spcAft>
              <a:buNone/>
            </a:pPr>
            <a:r>
              <a:rPr lang="en-US" sz="1200" dirty="0">
                <a:solidFill>
                  <a:schemeClr val="tx1"/>
                </a:solidFill>
              </a:rPr>
              <a:t>build, deploy, or notify on failure</a:t>
            </a:r>
            <a:endParaRPr lang="en-US" sz="1200" dirty="0"/>
          </a:p>
        </p:txBody>
      </p:sp>
      <p:sp>
        <p:nvSpPr>
          <p:cNvPr id="26" name="arrow"/>
          <p:cNvSpPr/>
          <p:nvPr/>
        </p:nvSpPr>
        <p:spPr>
          <a:xfrm>
            <a:off x="9381744" y="2487168"/>
            <a:ext cx="173736" cy="0"/>
          </a:xfrm>
          <a:prstGeom prst="line">
            <a:avLst/>
          </a:prstGeom>
          <a:noFill/>
          <a:ln w="22225">
            <a:solidFill>
              <a:schemeClr val="accent1"/>
            </a:solidFill>
            <a:prstDash val="solid"/>
            <a:tailEnd type="triangle"/>
          </a:ln>
        </p:spPr>
      </p:sp>
      <p:sp>
        <p:nvSpPr>
          <p:cNvPr id="27" name="card"/>
          <p:cNvSpPr/>
          <p:nvPr/>
        </p:nvSpPr>
        <p:spPr>
          <a:xfrm>
            <a:off x="9582912" y="1325880"/>
            <a:ext cx="2029968" cy="2331720"/>
          </a:xfrm>
          <a:prstGeom prst="roundRect">
            <a:avLst>
              <a:gd name="adj" fmla="val 4505"/>
            </a:avLst>
          </a:prstGeom>
          <a:solidFill>
            <a:schemeClr val="bg2"/>
          </a:solidFill>
          <a:ln/>
        </p:spPr>
      </p:sp>
      <p:sp>
        <p:nvSpPr>
          <p:cNvPr id="28" name="icon circle"/>
          <p:cNvSpPr/>
          <p:nvPr/>
        </p:nvSpPr>
        <p:spPr>
          <a:xfrm>
            <a:off x="9765792" y="1481328"/>
            <a:ext cx="548640" cy="548640"/>
          </a:xfrm>
          <a:prstGeom prst="ellipse">
            <a:avLst/>
          </a:prstGeom>
          <a:solidFill>
            <a:schemeClr val="accent1"/>
          </a:solidFill>
          <a:ln/>
        </p:spPr>
      </p:sp>
      <p:pic>
        <p:nvPicPr>
          <p:cNvPr id="29" name="Image 4" descr="clip icon">    </p:cNvPr>
          <p:cNvPicPr>
            <a:picLocks noChangeAspect="1"/>
          </p:cNvPicPr>
          <p:nvPr/>
        </p:nvPicPr>
        <p:blipFill>
          <a:blip r:embed="rId5"/>
          <a:stretch>
            <a:fillRect/>
          </a:stretch>
        </p:blipFill>
        <p:spPr>
          <a:xfrm>
            <a:off x="9897466" y="1613002"/>
            <a:ext cx="285293" cy="285293"/>
          </a:xfrm>
          <a:prstGeom prst="rect">
            <a:avLst/>
          </a:prstGeom>
        </p:spPr>
      </p:pic>
      <p:sp>
        <p:nvSpPr>
          <p:cNvPr id="30" name="Text 23"/>
          <p:cNvSpPr txBox="1"/>
          <p:nvPr/>
        </p:nvSpPr>
        <p:spPr>
          <a:xfrm>
            <a:off x="9765792" y="2103120"/>
            <a:ext cx="1755648" cy="411480"/>
          </a:xfrm>
          <a:prstGeom prst="rect">
            <a:avLst/>
          </a:prstGeom>
          <a:noFill/>
          <a:ln/>
        </p:spPr>
        <p:txBody>
          <a:bodyPr wrap="square" lIns="0" tIns="0" rIns="0" bIns="0" rtlCol="0" anchor="t"/>
          <a:lstStyle/>
          <a:p>
            <a:pPr indent="0" marL="0">
              <a:buNone/>
            </a:pPr>
            <a:r>
              <a:rPr lang="en-US" sz="1500" b="1" dirty="0">
                <a:solidFill>
                  <a:schemeClr val="tx1"/>
                </a:solidFill>
              </a:rPr>
              <a:t>Regression Suite</a:t>
            </a:r>
            <a:endParaRPr lang="en-US" sz="1500" dirty="0"/>
          </a:p>
        </p:txBody>
      </p:sp>
      <p:sp>
        <p:nvSpPr>
          <p:cNvPr id="31" name="Text 24"/>
          <p:cNvSpPr txBox="1"/>
          <p:nvPr/>
        </p:nvSpPr>
        <p:spPr>
          <a:xfrm>
            <a:off x="9765792" y="2542032"/>
            <a:ext cx="1755648" cy="105156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in: </a:t>
            </a:r>
            <a:pPr indent="0" marL="0">
              <a:spcAft>
                <a:spcPts val="300"/>
              </a:spcAft>
              <a:buNone/>
            </a:pPr>
            <a:r>
              <a:rPr lang="en-US" sz="1200" dirty="0">
                <a:solidFill>
                  <a:schemeClr val="tx1"/>
                </a:solidFill>
              </a:rPr>
              <a:t>impact analysis + suite</a:t>
            </a:r>
            <a:endParaRPr lang="en-US" sz="1200" dirty="0"/>
          </a:p>
          <a:p>
            <a:pPr indent="0" marL="0">
              <a:spcAft>
                <a:spcPts val="300"/>
              </a:spcAft>
              <a:buNone/>
            </a:pPr>
            <a:r>
              <a:rPr lang="en-US" sz="1200" b="1" dirty="0">
                <a:solidFill>
                  <a:schemeClr val="accent5"/>
                </a:solidFill>
              </a:rPr>
              <a:t>out: </a:t>
            </a:r>
            <a:pPr indent="0" marL="0">
              <a:spcAft>
                <a:spcPts val="300"/>
              </a:spcAft>
              <a:buNone/>
            </a:pPr>
            <a:r>
              <a:rPr lang="en-US" sz="1200" dirty="0">
                <a:solidFill>
                  <a:schemeClr val="tx1"/>
                </a:solidFill>
              </a:rPr>
              <a:t>test report</a:t>
            </a:r>
            <a:endParaRPr lang="en-US" sz="1200" dirty="0"/>
          </a:p>
        </p:txBody>
      </p:sp>
      <p:sp>
        <p:nvSpPr>
          <p:cNvPr id="32" name="Text 25"/>
          <p:cNvSpPr txBox="1"/>
          <p:nvPr/>
        </p:nvSpPr>
        <p:spPr>
          <a:xfrm>
            <a:off x="548640" y="3794760"/>
            <a:ext cx="11091672" cy="365760"/>
          </a:xfrm>
          <a:prstGeom prst="rect">
            <a:avLst/>
          </a:prstGeom>
          <a:noFill/>
          <a:ln/>
        </p:spPr>
        <p:txBody>
          <a:bodyPr wrap="square" lIns="0" tIns="0" rIns="0" bIns="0" rtlCol="0" anchor="t"/>
          <a:lstStyle/>
          <a:p>
            <a:pPr indent="0" marL="0">
              <a:buNone/>
            </a:pPr>
            <a:r>
              <a:rPr lang="en-US" sz="1300" i="1" dirty="0">
                <a:solidFill>
                  <a:schemeClr val="accent5"/>
                </a:solidFill>
              </a:rPr>
              <a:t>Demo story: "As a shopper, I want to apply the discount code FESTIVE20 at checkout to get 20% off my cart total, capped at Rs 500" on a 15-test sample library</a:t>
            </a:r>
            <a:endParaRPr lang="en-US" sz="1300" dirty="0"/>
          </a:p>
        </p:txBody>
      </p:sp>
      <p:sp>
        <p:nvSpPr>
          <p:cNvPr id="33" name="card"/>
          <p:cNvSpPr/>
          <p:nvPr/>
        </p:nvSpPr>
        <p:spPr>
          <a:xfrm>
            <a:off x="548640" y="4297680"/>
            <a:ext cx="3520440" cy="1691640"/>
          </a:xfrm>
          <a:prstGeom prst="roundRect">
            <a:avLst>
              <a:gd name="adj" fmla="val 5405"/>
            </a:avLst>
          </a:prstGeom>
          <a:solidFill>
            <a:schemeClr val="bg2"/>
          </a:solidFill>
          <a:ln/>
        </p:spPr>
      </p:sp>
      <p:sp>
        <p:nvSpPr>
          <p:cNvPr id="34" name="Text 27"/>
          <p:cNvSpPr txBox="1"/>
          <p:nvPr/>
        </p:nvSpPr>
        <p:spPr>
          <a:xfrm>
            <a:off x="777240" y="4434840"/>
            <a:ext cx="1783080" cy="411480"/>
          </a:xfrm>
          <a:prstGeom prst="rect">
            <a:avLst/>
          </a:prstGeom>
          <a:noFill/>
          <a:ln/>
        </p:spPr>
        <p:txBody>
          <a:bodyPr wrap="square" lIns="0" tIns="0" rIns="0" bIns="0" rtlCol="0" anchor="ctr"/>
          <a:lstStyle/>
          <a:p>
            <a:pPr indent="0" marL="0">
              <a:buNone/>
            </a:pPr>
            <a:r>
              <a:rPr lang="en-US" sz="1500" b="1" dirty="0">
                <a:solidFill>
                  <a:schemeClr val="tx1"/>
                </a:solidFill>
              </a:rPr>
              <a:t>Clean change</a:t>
            </a:r>
            <a:endParaRPr lang="en-US" sz="1500" dirty="0"/>
          </a:p>
        </p:txBody>
      </p:sp>
      <p:sp>
        <p:nvSpPr>
          <p:cNvPr id="35" name="status pill"/>
          <p:cNvSpPr/>
          <p:nvPr/>
        </p:nvSpPr>
        <p:spPr>
          <a:xfrm>
            <a:off x="2606040" y="4480560"/>
            <a:ext cx="1234440" cy="310896"/>
          </a:xfrm>
          <a:prstGeom prst="roundRect">
            <a:avLst>
              <a:gd name="adj" fmla="val 50000"/>
            </a:avLst>
          </a:prstGeom>
          <a:solidFill>
            <a:schemeClr val="accent4"/>
          </a:solidFill>
          <a:ln/>
        </p:spPr>
      </p:sp>
      <p:sp>
        <p:nvSpPr>
          <p:cNvPr id="36" name="Text 29"/>
          <p:cNvSpPr txBox="1"/>
          <p:nvPr/>
        </p:nvSpPr>
        <p:spPr>
          <a:xfrm>
            <a:off x="2606040" y="4480560"/>
            <a:ext cx="1234440" cy="310896"/>
          </a:xfrm>
          <a:prstGeom prst="rect">
            <a:avLst/>
          </a:prstGeom>
          <a:noFill/>
          <a:ln/>
        </p:spPr>
        <p:txBody>
          <a:bodyPr wrap="square" lIns="0" tIns="0" rIns="0" bIns="0" rtlCol="0" anchor="ctr"/>
          <a:lstStyle/>
          <a:p>
            <a:pPr algn="ctr" indent="0" marL="0">
              <a:buNone/>
            </a:pPr>
            <a:r>
              <a:rPr lang="en-US" sz="1100" b="1" dirty="0">
                <a:solidFill>
                  <a:schemeClr val="bg1"/>
                </a:solidFill>
              </a:rPr>
              <a:t>DEPLOYED</a:t>
            </a:r>
            <a:endParaRPr lang="en-US" sz="1100" dirty="0"/>
          </a:p>
        </p:txBody>
      </p:sp>
      <p:sp>
        <p:nvSpPr>
          <p:cNvPr id="37" name="Text 30"/>
          <p:cNvSpPr txBox="1"/>
          <p:nvPr/>
        </p:nvSpPr>
        <p:spPr>
          <a:xfrm>
            <a:off x="777240" y="4937760"/>
            <a:ext cx="3063240" cy="960120"/>
          </a:xfrm>
          <a:prstGeom prst="rect">
            <a:avLst/>
          </a:prstGeom>
          <a:noFill/>
          <a:ln/>
        </p:spPr>
        <p:txBody>
          <a:bodyPr wrap="square" lIns="0" tIns="0" rIns="0" bIns="0" rtlCol="0" anchor="t"/>
          <a:lstStyle/>
          <a:p>
            <a:pPr indent="0" marL="0">
              <a:buNone/>
            </a:pPr>
            <a:r>
              <a:rPr lang="en-US" sz="1300" dirty="0">
                <a:solidFill>
                  <a:schemeClr val="accent5"/>
                </a:solidFill>
              </a:rPr>
              <a:t>7 of 15 tests at risk; reviewer approves and merges; build passes and deploys; regression 18/18 pass</a:t>
            </a:r>
            <a:endParaRPr lang="en-US" sz="1300" dirty="0"/>
          </a:p>
        </p:txBody>
      </p:sp>
      <p:sp>
        <p:nvSpPr>
          <p:cNvPr id="38" name="card"/>
          <p:cNvSpPr/>
          <p:nvPr/>
        </p:nvSpPr>
        <p:spPr>
          <a:xfrm>
            <a:off x="4370832" y="4297680"/>
            <a:ext cx="3520440" cy="1691640"/>
          </a:xfrm>
          <a:prstGeom prst="roundRect">
            <a:avLst>
              <a:gd name="adj" fmla="val 5405"/>
            </a:avLst>
          </a:prstGeom>
          <a:solidFill>
            <a:schemeClr val="bg2"/>
          </a:solidFill>
          <a:ln/>
        </p:spPr>
      </p:sp>
      <p:sp>
        <p:nvSpPr>
          <p:cNvPr id="39" name="Text 32"/>
          <p:cNvSpPr txBox="1"/>
          <p:nvPr/>
        </p:nvSpPr>
        <p:spPr>
          <a:xfrm>
            <a:off x="4599432" y="4434840"/>
            <a:ext cx="1783080" cy="411480"/>
          </a:xfrm>
          <a:prstGeom prst="rect">
            <a:avLst/>
          </a:prstGeom>
          <a:noFill/>
          <a:ln/>
        </p:spPr>
        <p:txBody>
          <a:bodyPr wrap="square" lIns="0" tIns="0" rIns="0" bIns="0" rtlCol="0" anchor="ctr"/>
          <a:lstStyle/>
          <a:p>
            <a:pPr indent="0" marL="0">
              <a:buNone/>
            </a:pPr>
            <a:r>
              <a:rPr lang="en-US" sz="1500" b="1" dirty="0">
                <a:solidFill>
                  <a:schemeClr val="tx1"/>
                </a:solidFill>
              </a:rPr>
              <a:t>Out-of-scope change</a:t>
            </a:r>
            <a:endParaRPr lang="en-US" sz="1500" dirty="0"/>
          </a:p>
        </p:txBody>
      </p:sp>
      <p:sp>
        <p:nvSpPr>
          <p:cNvPr id="40" name="status pill"/>
          <p:cNvSpPr/>
          <p:nvPr/>
        </p:nvSpPr>
        <p:spPr>
          <a:xfrm>
            <a:off x="6428232" y="4480560"/>
            <a:ext cx="1234440" cy="310896"/>
          </a:xfrm>
          <a:prstGeom prst="roundRect">
            <a:avLst>
              <a:gd name="adj" fmla="val 50000"/>
            </a:avLst>
          </a:prstGeom>
          <a:solidFill>
            <a:schemeClr val="accent2"/>
          </a:solidFill>
          <a:ln/>
        </p:spPr>
      </p:sp>
      <p:sp>
        <p:nvSpPr>
          <p:cNvPr id="41" name="Text 34"/>
          <p:cNvSpPr txBox="1"/>
          <p:nvPr/>
        </p:nvSpPr>
        <p:spPr>
          <a:xfrm>
            <a:off x="6428232" y="4480560"/>
            <a:ext cx="1234440" cy="310896"/>
          </a:xfrm>
          <a:prstGeom prst="rect">
            <a:avLst/>
          </a:prstGeom>
          <a:noFill/>
          <a:ln/>
        </p:spPr>
        <p:txBody>
          <a:bodyPr wrap="square" lIns="0" tIns="0" rIns="0" bIns="0" rtlCol="0" anchor="ctr"/>
          <a:lstStyle/>
          <a:p>
            <a:pPr algn="ctr" indent="0" marL="0">
              <a:buNone/>
            </a:pPr>
            <a:r>
              <a:rPr lang="en-US" sz="1100" b="1" dirty="0">
                <a:solidFill>
                  <a:schemeClr val="bg1"/>
                </a:solidFill>
              </a:rPr>
              <a:t>BLOCKED</a:t>
            </a:r>
            <a:endParaRPr lang="en-US" sz="1100" dirty="0"/>
          </a:p>
        </p:txBody>
      </p:sp>
      <p:sp>
        <p:nvSpPr>
          <p:cNvPr id="42" name="Text 35"/>
          <p:cNvSpPr txBox="1"/>
          <p:nvPr/>
        </p:nvSpPr>
        <p:spPr>
          <a:xfrm>
            <a:off x="4599432" y="4937760"/>
            <a:ext cx="3063240" cy="960120"/>
          </a:xfrm>
          <a:prstGeom prst="rect">
            <a:avLst/>
          </a:prstGeom>
          <a:noFill/>
          <a:ln/>
        </p:spPr>
        <p:txBody>
          <a:bodyPr wrap="square" lIns="0" tIns="0" rIns="0" bIns="0" rtlCol="0" anchor="t"/>
          <a:lstStyle/>
          <a:p>
            <a:pPr indent="0" marL="0">
              <a:buNone/>
            </a:pPr>
            <a:r>
              <a:rPr lang="en-US" sz="1300" dirty="0">
                <a:solidFill>
                  <a:schemeClr val="accent5"/>
                </a:solidFill>
              </a:rPr>
              <a:t>The change also rewrites receipts; the scope check fails, so the reviewer requests changes</a:t>
            </a:r>
            <a:endParaRPr lang="en-US" sz="1300" dirty="0"/>
          </a:p>
        </p:txBody>
      </p:sp>
      <p:sp>
        <p:nvSpPr>
          <p:cNvPr id="43" name="card"/>
          <p:cNvSpPr/>
          <p:nvPr/>
        </p:nvSpPr>
        <p:spPr>
          <a:xfrm>
            <a:off x="8193024" y="4297680"/>
            <a:ext cx="3520440" cy="1691640"/>
          </a:xfrm>
          <a:prstGeom prst="roundRect">
            <a:avLst>
              <a:gd name="adj" fmla="val 5405"/>
            </a:avLst>
          </a:prstGeom>
          <a:solidFill>
            <a:schemeClr val="bg2"/>
          </a:solidFill>
          <a:ln/>
        </p:spPr>
      </p:sp>
      <p:sp>
        <p:nvSpPr>
          <p:cNvPr id="44" name="Text 37"/>
          <p:cNvSpPr txBox="1"/>
          <p:nvPr/>
        </p:nvSpPr>
        <p:spPr>
          <a:xfrm>
            <a:off x="8421624" y="4434840"/>
            <a:ext cx="1783080" cy="411480"/>
          </a:xfrm>
          <a:prstGeom prst="rect">
            <a:avLst/>
          </a:prstGeom>
          <a:noFill/>
          <a:ln/>
        </p:spPr>
        <p:txBody>
          <a:bodyPr wrap="square" lIns="0" tIns="0" rIns="0" bIns="0" rtlCol="0" anchor="ctr"/>
          <a:lstStyle/>
          <a:p>
            <a:pPr indent="0" marL="0">
              <a:buNone/>
            </a:pPr>
            <a:r>
              <a:rPr lang="en-US" sz="1500" b="1" dirty="0">
                <a:solidFill>
                  <a:schemeClr val="tx1"/>
                </a:solidFill>
              </a:rPr>
              <a:t>Reviewer in warn mode</a:t>
            </a:r>
            <a:endParaRPr lang="en-US" sz="1500" dirty="0"/>
          </a:p>
        </p:txBody>
      </p:sp>
      <p:sp>
        <p:nvSpPr>
          <p:cNvPr id="45" name="status pill"/>
          <p:cNvSpPr/>
          <p:nvPr/>
        </p:nvSpPr>
        <p:spPr>
          <a:xfrm>
            <a:off x="10250424" y="4480560"/>
            <a:ext cx="1234440" cy="310896"/>
          </a:xfrm>
          <a:prstGeom prst="roundRect">
            <a:avLst>
              <a:gd name="adj" fmla="val 50000"/>
            </a:avLst>
          </a:prstGeom>
          <a:solidFill>
            <a:schemeClr val="accent6"/>
          </a:solidFill>
          <a:ln/>
        </p:spPr>
      </p:sp>
      <p:sp>
        <p:nvSpPr>
          <p:cNvPr id="46" name="Text 39"/>
          <p:cNvSpPr txBox="1"/>
          <p:nvPr/>
        </p:nvSpPr>
        <p:spPr>
          <a:xfrm>
            <a:off x="10250424" y="4480560"/>
            <a:ext cx="1234440" cy="310896"/>
          </a:xfrm>
          <a:prstGeom prst="rect">
            <a:avLst/>
          </a:prstGeom>
          <a:noFill/>
          <a:ln/>
        </p:spPr>
        <p:txBody>
          <a:bodyPr wrap="square" lIns="0" tIns="0" rIns="0" bIns="0" rtlCol="0" anchor="ctr"/>
          <a:lstStyle/>
          <a:p>
            <a:pPr algn="ctr" indent="0" marL="0">
              <a:buNone/>
            </a:pPr>
            <a:r>
              <a:rPr lang="en-US" sz="1100" b="1" dirty="0">
                <a:solidFill>
                  <a:schemeClr val="bg1"/>
                </a:solidFill>
              </a:rPr>
              <a:t>NOTIFIED</a:t>
            </a:r>
            <a:endParaRPr lang="en-US" sz="1100" dirty="0"/>
          </a:p>
        </p:txBody>
      </p:sp>
      <p:sp>
        <p:nvSpPr>
          <p:cNvPr id="47" name="Text 40"/>
          <p:cNvSpPr txBox="1"/>
          <p:nvPr/>
        </p:nvSpPr>
        <p:spPr>
          <a:xfrm>
            <a:off x="8421624" y="4937760"/>
            <a:ext cx="3063240" cy="960120"/>
          </a:xfrm>
          <a:prstGeom prst="rect">
            <a:avLst/>
          </a:prstGeom>
          <a:noFill/>
          <a:ln/>
        </p:spPr>
        <p:txBody>
          <a:bodyPr wrap="square" lIns="0" tIns="0" rIns="0" bIns="0" rtlCol="0" anchor="t"/>
          <a:lstStyle/>
          <a:p>
            <a:pPr indent="0" marL="0">
              <a:buNone/>
            </a:pPr>
            <a:r>
              <a:rPr lang="en-US" sz="1300" dirty="0">
                <a:solidFill>
                  <a:schemeClr val="accent5"/>
                </a:solidFill>
              </a:rPr>
              <a:t>It merges; the build fails on 2 receipt tests; notification sent; impact recall 0/2</a:t>
            </a:r>
            <a:endParaRPr lang="en-US" sz="1300" dirty="0"/>
          </a:p>
        </p:txBody>
      </p:sp>
      <p:sp>
        <p:nvSpPr>
          <p:cNvPr id="48" name="Text 41"/>
          <p:cNvSpPr txBox="1"/>
          <p:nvPr/>
        </p:nvSpPr>
        <p:spPr>
          <a:xfrm>
            <a:off x="548640" y="6053328"/>
            <a:ext cx="11091672" cy="292608"/>
          </a:xfrm>
          <a:prstGeom prst="rect">
            <a:avLst/>
          </a:prstGeom>
          <a:noFill/>
          <a:ln/>
        </p:spPr>
        <p:txBody>
          <a:bodyPr wrap="square" lIns="0" tIns="0" rIns="0" bIns="0" rtlCol="0" anchor="t"/>
          <a:lstStyle/>
          <a:p>
            <a:pPr indent="0" marL="0">
              <a:buNone/>
            </a:pPr>
            <a:r>
              <a:rPr lang="en-US" sz="1100" i="1" dirty="0">
                <a:solidFill>
                  <a:schemeClr val="accent5"/>
                </a:solidFill>
              </a:rPr>
              <a:t>Impact analysis runs on the BlastRadius code graph, on the sample repo or any public GitHub repo (Analyze-a-repo tab). Separate demo path (D-55).</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Demonstration</a:t>
            </a:r>
            <a:endParaRPr lang="en-US" sz="3200" dirty="0"/>
          </a:p>
        </p:txBody>
      </p:sp>
      <p:pic>
        <p:nvPicPr>
          <p:cNvPr id="3" name="Image 0" descr="Next.js demo site replaying one real instance stage by stage">    </p:cNvPr>
          <p:cNvPicPr>
            <a:picLocks noChangeAspect="1"/>
          </p:cNvPicPr>
          <p:nvPr/>
        </p:nvPicPr>
        <p:blipFill>
          <a:blip r:embed="rId1"/>
          <a:stretch>
            <a:fillRect/>
          </a:stretch>
        </p:blipFill>
        <p:spPr>
          <a:xfrm>
            <a:off x="548640" y="1417320"/>
            <a:ext cx="6035040" cy="2808167"/>
          </a:xfrm>
          <a:prstGeom prst="rect">
            <a:avLst/>
          </a:prstGeom>
          <a:effectLst>
            <a:outerShdw sx="100000" sy="100000" kx="0" ky="0" algn="bl" rotWithShape="0" blurRad="76200" dist="25400" dir="5400000">
              <a:srgbClr val="000000">
                <a:alpha val="25000"/>
              </a:srgbClr>
            </a:outerShdw>
          </a:effectLst>
        </p:spPr>
      </p:pic>
      <p:sp>
        <p:nvSpPr>
          <p:cNvPr id="4" name="Text 1"/>
          <p:cNvSpPr txBox="1"/>
          <p:nvPr/>
        </p:nvSpPr>
        <p:spPr>
          <a:xfrm>
            <a:off x="548640" y="4316927"/>
            <a:ext cx="6949440" cy="502920"/>
          </a:xfrm>
          <a:prstGeom prst="rect">
            <a:avLst/>
          </a:prstGeom>
          <a:noFill/>
          <a:ln/>
        </p:spPr>
        <p:txBody>
          <a:bodyPr wrap="square" lIns="0" tIns="0" rIns="0" bIns="0" rtlCol="0" anchor="t"/>
          <a:lstStyle/>
          <a:p>
            <a:pPr indent="0" marL="0">
              <a:buNone/>
            </a:pPr>
            <a:r>
              <a:rPr lang="en-US" sz="1200" i="1" dirty="0">
                <a:solidFill>
                  <a:schemeClr val="accent5"/>
                </a:solidFill>
              </a:rPr>
              <a:t>Demo site, Live run tab: fla-org/flash-linear-attention PR #935, a code-level failure with 2 fault-revealing tests, replayed stage by stage.</a:t>
            </a:r>
            <a:endParaRPr lang="en-US" sz="1200" dirty="0"/>
          </a:p>
        </p:txBody>
      </p:sp>
      <p:sp>
        <p:nvSpPr>
          <p:cNvPr id="5" name="Text 2"/>
          <p:cNvSpPr txBox="1"/>
          <p:nvPr/>
        </p:nvSpPr>
        <p:spPr>
          <a:xfrm>
            <a:off x="548640" y="4892040"/>
            <a:ext cx="6949440" cy="365760"/>
          </a:xfrm>
          <a:prstGeom prst="rect">
            <a:avLst/>
          </a:prstGeom>
          <a:noFill/>
          <a:ln/>
        </p:spPr>
        <p:txBody>
          <a:bodyPr wrap="square" lIns="0" tIns="0" rIns="0" bIns="0" rtlCol="0" anchor="t"/>
          <a:lstStyle/>
          <a:p>
            <a:pPr indent="0" marL="0">
              <a:buNone/>
            </a:pPr>
            <a:r>
              <a:rPr lang="en-US" sz="1500" b="1" dirty="0">
                <a:solidFill>
                  <a:schemeClr val="tx1"/>
                </a:solidFill>
              </a:rPr>
              <a:t>What the Live run tab walks through, stage by stage</a:t>
            </a:r>
            <a:endParaRPr lang="en-US" sz="1500" dirty="0"/>
          </a:p>
        </p:txBody>
      </p:sp>
      <p:sp>
        <p:nvSpPr>
          <p:cNvPr id="6" name="stage chip"/>
          <p:cNvSpPr/>
          <p:nvPr/>
        </p:nvSpPr>
        <p:spPr>
          <a:xfrm>
            <a:off x="548640" y="5321808"/>
            <a:ext cx="1298448" cy="411480"/>
          </a:xfrm>
          <a:prstGeom prst="roundRect">
            <a:avLst>
              <a:gd name="adj" fmla="val 48889"/>
            </a:avLst>
          </a:prstGeom>
          <a:solidFill>
            <a:schemeClr val="bg2"/>
          </a:solidFill>
          <a:ln/>
        </p:spPr>
      </p:sp>
      <p:sp>
        <p:nvSpPr>
          <p:cNvPr id="7" name="Text 4"/>
          <p:cNvSpPr txBox="1"/>
          <p:nvPr/>
        </p:nvSpPr>
        <p:spPr>
          <a:xfrm>
            <a:off x="594360" y="532180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1  The change</a:t>
            </a:r>
            <a:endParaRPr lang="en-US" sz="1100" dirty="0"/>
          </a:p>
        </p:txBody>
      </p:sp>
      <p:sp>
        <p:nvSpPr>
          <p:cNvPr id="8" name="stage chip"/>
          <p:cNvSpPr/>
          <p:nvPr/>
        </p:nvSpPr>
        <p:spPr>
          <a:xfrm>
            <a:off x="1956816" y="5321808"/>
            <a:ext cx="1298448" cy="411480"/>
          </a:xfrm>
          <a:prstGeom prst="roundRect">
            <a:avLst>
              <a:gd name="adj" fmla="val 48889"/>
            </a:avLst>
          </a:prstGeom>
          <a:solidFill>
            <a:schemeClr val="bg2"/>
          </a:solidFill>
          <a:ln/>
        </p:spPr>
      </p:sp>
      <p:sp>
        <p:nvSpPr>
          <p:cNvPr id="9" name="Text 6"/>
          <p:cNvSpPr txBox="1"/>
          <p:nvPr/>
        </p:nvSpPr>
        <p:spPr>
          <a:xfrm>
            <a:off x="2002536" y="532180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2  Harvest</a:t>
            </a:r>
            <a:endParaRPr lang="en-US" sz="1100" dirty="0"/>
          </a:p>
        </p:txBody>
      </p:sp>
      <p:sp>
        <p:nvSpPr>
          <p:cNvPr id="10" name="stage chip"/>
          <p:cNvSpPr/>
          <p:nvPr/>
        </p:nvSpPr>
        <p:spPr>
          <a:xfrm>
            <a:off x="3364992" y="5321808"/>
            <a:ext cx="1298448" cy="411480"/>
          </a:xfrm>
          <a:prstGeom prst="roundRect">
            <a:avLst>
              <a:gd name="adj" fmla="val 48889"/>
            </a:avLst>
          </a:prstGeom>
          <a:solidFill>
            <a:schemeClr val="bg2"/>
          </a:solidFill>
          <a:ln/>
        </p:spPr>
      </p:sp>
      <p:sp>
        <p:nvSpPr>
          <p:cNvPr id="11" name="Text 8"/>
          <p:cNvSpPr txBox="1"/>
          <p:nvPr/>
        </p:nvSpPr>
        <p:spPr>
          <a:xfrm>
            <a:off x="3410712" y="532180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3  CI log</a:t>
            </a:r>
            <a:endParaRPr lang="en-US" sz="1100" dirty="0"/>
          </a:p>
        </p:txBody>
      </p:sp>
      <p:sp>
        <p:nvSpPr>
          <p:cNvPr id="12" name="stage chip"/>
          <p:cNvSpPr/>
          <p:nvPr/>
        </p:nvSpPr>
        <p:spPr>
          <a:xfrm>
            <a:off x="4773168" y="5321808"/>
            <a:ext cx="1298448" cy="411480"/>
          </a:xfrm>
          <a:prstGeom prst="roundRect">
            <a:avLst>
              <a:gd name="adj" fmla="val 48889"/>
            </a:avLst>
          </a:prstGeom>
          <a:solidFill>
            <a:schemeClr val="bg2"/>
          </a:solidFill>
          <a:ln/>
        </p:spPr>
      </p:sp>
      <p:sp>
        <p:nvSpPr>
          <p:cNvPr id="13" name="Text 10"/>
          <p:cNvSpPr txBox="1"/>
          <p:nvPr/>
        </p:nvSpPr>
        <p:spPr>
          <a:xfrm>
            <a:off x="4818888" y="532180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4  Parse</a:t>
            </a:r>
            <a:endParaRPr lang="en-US" sz="1100" dirty="0"/>
          </a:p>
        </p:txBody>
      </p:sp>
      <p:sp>
        <p:nvSpPr>
          <p:cNvPr id="14" name="stage chip"/>
          <p:cNvSpPr/>
          <p:nvPr/>
        </p:nvSpPr>
        <p:spPr>
          <a:xfrm>
            <a:off x="6181344" y="5321808"/>
            <a:ext cx="1298448" cy="411480"/>
          </a:xfrm>
          <a:prstGeom prst="roundRect">
            <a:avLst>
              <a:gd name="adj" fmla="val 48889"/>
            </a:avLst>
          </a:prstGeom>
          <a:solidFill>
            <a:schemeClr val="bg2"/>
          </a:solidFill>
          <a:ln/>
        </p:spPr>
      </p:sp>
      <p:sp>
        <p:nvSpPr>
          <p:cNvPr id="15" name="Text 12"/>
          <p:cNvSpPr txBox="1"/>
          <p:nvPr/>
        </p:nvSpPr>
        <p:spPr>
          <a:xfrm>
            <a:off x="6227064" y="532180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5  test_id</a:t>
            </a:r>
            <a:endParaRPr lang="en-US" sz="1100" dirty="0"/>
          </a:p>
        </p:txBody>
      </p:sp>
      <p:sp>
        <p:nvSpPr>
          <p:cNvPr id="16" name="stage chip"/>
          <p:cNvSpPr/>
          <p:nvPr/>
        </p:nvSpPr>
        <p:spPr>
          <a:xfrm>
            <a:off x="548640" y="5824728"/>
            <a:ext cx="1298448" cy="411480"/>
          </a:xfrm>
          <a:prstGeom prst="roundRect">
            <a:avLst>
              <a:gd name="adj" fmla="val 48889"/>
            </a:avLst>
          </a:prstGeom>
          <a:solidFill>
            <a:schemeClr val="bg2"/>
          </a:solidFill>
          <a:ln/>
        </p:spPr>
      </p:sp>
      <p:sp>
        <p:nvSpPr>
          <p:cNvPr id="17" name="Text 14"/>
          <p:cNvSpPr txBox="1"/>
          <p:nvPr/>
        </p:nvSpPr>
        <p:spPr>
          <a:xfrm>
            <a:off x="594360" y="582472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6  Base run</a:t>
            </a:r>
            <a:endParaRPr lang="en-US" sz="1100" dirty="0"/>
          </a:p>
        </p:txBody>
      </p:sp>
      <p:sp>
        <p:nvSpPr>
          <p:cNvPr id="18" name="stage chip"/>
          <p:cNvSpPr/>
          <p:nvPr/>
        </p:nvSpPr>
        <p:spPr>
          <a:xfrm>
            <a:off x="1956816" y="5824728"/>
            <a:ext cx="1298448" cy="411480"/>
          </a:xfrm>
          <a:prstGeom prst="roundRect">
            <a:avLst>
              <a:gd name="adj" fmla="val 48889"/>
            </a:avLst>
          </a:prstGeom>
          <a:solidFill>
            <a:schemeClr val="bg2"/>
          </a:solidFill>
          <a:ln/>
        </p:spPr>
      </p:sp>
      <p:sp>
        <p:nvSpPr>
          <p:cNvPr id="19" name="Text 16"/>
          <p:cNvSpPr txBox="1"/>
          <p:nvPr/>
        </p:nvSpPr>
        <p:spPr>
          <a:xfrm>
            <a:off x="2002536" y="582472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7  Labels</a:t>
            </a:r>
            <a:endParaRPr lang="en-US" sz="1100" dirty="0"/>
          </a:p>
        </p:txBody>
      </p:sp>
      <p:sp>
        <p:nvSpPr>
          <p:cNvPr id="20" name="stage chip"/>
          <p:cNvSpPr/>
          <p:nvPr/>
        </p:nvSpPr>
        <p:spPr>
          <a:xfrm>
            <a:off x="3364992" y="5824728"/>
            <a:ext cx="1298448" cy="411480"/>
          </a:xfrm>
          <a:prstGeom prst="roundRect">
            <a:avLst>
              <a:gd name="adj" fmla="val 48889"/>
            </a:avLst>
          </a:prstGeom>
          <a:solidFill>
            <a:schemeClr val="bg2"/>
          </a:solidFill>
          <a:ln/>
        </p:spPr>
      </p:sp>
      <p:sp>
        <p:nvSpPr>
          <p:cNvPr id="21" name="Text 18"/>
          <p:cNvSpPr txBox="1"/>
          <p:nvPr/>
        </p:nvSpPr>
        <p:spPr>
          <a:xfrm>
            <a:off x="3410712" y="582472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8  Binding</a:t>
            </a:r>
            <a:endParaRPr lang="en-US" sz="1100" dirty="0"/>
          </a:p>
        </p:txBody>
      </p:sp>
      <p:sp>
        <p:nvSpPr>
          <p:cNvPr id="22" name="stage chip"/>
          <p:cNvSpPr/>
          <p:nvPr/>
        </p:nvSpPr>
        <p:spPr>
          <a:xfrm>
            <a:off x="4773168" y="5824728"/>
            <a:ext cx="1298448" cy="411480"/>
          </a:xfrm>
          <a:prstGeom prst="roundRect">
            <a:avLst>
              <a:gd name="adj" fmla="val 48889"/>
            </a:avLst>
          </a:prstGeom>
          <a:solidFill>
            <a:schemeClr val="bg2"/>
          </a:solidFill>
          <a:ln/>
        </p:spPr>
      </p:sp>
      <p:sp>
        <p:nvSpPr>
          <p:cNvPr id="23" name="Text 20"/>
          <p:cNvSpPr txBox="1"/>
          <p:nvPr/>
        </p:nvSpPr>
        <p:spPr>
          <a:xfrm>
            <a:off x="4818888" y="582472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9  Code graph</a:t>
            </a:r>
            <a:endParaRPr lang="en-US" sz="1100" dirty="0"/>
          </a:p>
        </p:txBody>
      </p:sp>
      <p:sp>
        <p:nvSpPr>
          <p:cNvPr id="24" name="stage chip"/>
          <p:cNvSpPr/>
          <p:nvPr/>
        </p:nvSpPr>
        <p:spPr>
          <a:xfrm>
            <a:off x="6181344" y="5824728"/>
            <a:ext cx="1298448" cy="411480"/>
          </a:xfrm>
          <a:prstGeom prst="roundRect">
            <a:avLst>
              <a:gd name="adj" fmla="val 48889"/>
            </a:avLst>
          </a:prstGeom>
          <a:solidFill>
            <a:schemeClr val="bg2"/>
          </a:solidFill>
          <a:ln/>
        </p:spPr>
      </p:sp>
      <p:sp>
        <p:nvSpPr>
          <p:cNvPr id="25" name="Text 22"/>
          <p:cNvSpPr txBox="1"/>
          <p:nvPr/>
        </p:nvSpPr>
        <p:spPr>
          <a:xfrm>
            <a:off x="6227064" y="5824728"/>
            <a:ext cx="1207008" cy="411480"/>
          </a:xfrm>
          <a:prstGeom prst="rect">
            <a:avLst/>
          </a:prstGeom>
          <a:noFill/>
          <a:ln/>
        </p:spPr>
        <p:txBody>
          <a:bodyPr wrap="square" lIns="0" tIns="0" rIns="0" bIns="0" rtlCol="0" anchor="ctr"/>
          <a:lstStyle/>
          <a:p>
            <a:pPr algn="ctr" indent="0" marL="0">
              <a:buNone/>
            </a:pPr>
            <a:r>
              <a:rPr lang="en-US" sz="1100" dirty="0">
                <a:solidFill>
                  <a:schemeClr val="tx1"/>
                </a:solidFill>
              </a:rPr>
              <a:t>10  Prediction</a:t>
            </a:r>
            <a:endParaRPr lang="en-US" sz="1100" dirty="0"/>
          </a:p>
        </p:txBody>
      </p:sp>
      <p:sp>
        <p:nvSpPr>
          <p:cNvPr id="26" name="number badge"/>
          <p:cNvSpPr/>
          <p:nvPr/>
        </p:nvSpPr>
        <p:spPr>
          <a:xfrm>
            <a:off x="7863840" y="1417320"/>
            <a:ext cx="457200" cy="457200"/>
          </a:xfrm>
          <a:prstGeom prst="ellipse">
            <a:avLst/>
          </a:prstGeom>
          <a:solidFill>
            <a:schemeClr val="accent1"/>
          </a:solidFill>
          <a:ln/>
        </p:spPr>
      </p:sp>
      <p:sp>
        <p:nvSpPr>
          <p:cNvPr id="27" name="Text 24"/>
          <p:cNvSpPr txBox="1"/>
          <p:nvPr/>
        </p:nvSpPr>
        <p:spPr>
          <a:xfrm>
            <a:off x="7863840" y="14173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8" name="Text 25"/>
          <p:cNvSpPr txBox="1"/>
          <p:nvPr/>
        </p:nvSpPr>
        <p:spPr>
          <a:xfrm>
            <a:off x="8503920" y="1371600"/>
            <a:ext cx="3154680" cy="384048"/>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make demo-web</a:t>
            </a:r>
            <a:endParaRPr lang="en-US" sz="1500" dirty="0"/>
          </a:p>
        </p:txBody>
      </p:sp>
      <p:sp>
        <p:nvSpPr>
          <p:cNvPr id="29" name="Text 26"/>
          <p:cNvSpPr txBox="1"/>
          <p:nvPr/>
        </p:nvSpPr>
        <p:spPr>
          <a:xfrm>
            <a:off x="8503920" y="1755648"/>
            <a:ext cx="3154680" cy="640080"/>
          </a:xfrm>
          <a:prstGeom prst="rect">
            <a:avLst/>
          </a:prstGeom>
          <a:noFill/>
          <a:ln/>
        </p:spPr>
        <p:txBody>
          <a:bodyPr wrap="square" lIns="0" tIns="0" rIns="0" bIns="0" rtlCol="0" anchor="t"/>
          <a:lstStyle/>
          <a:p>
            <a:pPr indent="0" marL="0">
              <a:buNone/>
            </a:pPr>
            <a:r>
              <a:rPr lang="en-US" sz="1300" dirty="0">
                <a:solidFill>
                  <a:schemeClr val="accent5"/>
                </a:solidFill>
              </a:rPr>
              <a:t>Next.js site on localhost:3000: Live run · Results · Agents · Corpus</a:t>
            </a:r>
            <a:endParaRPr lang="en-US" sz="1300" dirty="0"/>
          </a:p>
        </p:txBody>
      </p:sp>
      <p:sp>
        <p:nvSpPr>
          <p:cNvPr id="30" name="number badge"/>
          <p:cNvSpPr/>
          <p:nvPr/>
        </p:nvSpPr>
        <p:spPr>
          <a:xfrm>
            <a:off x="7863840" y="2359152"/>
            <a:ext cx="457200" cy="457200"/>
          </a:xfrm>
          <a:prstGeom prst="ellipse">
            <a:avLst/>
          </a:prstGeom>
          <a:solidFill>
            <a:schemeClr val="accent1"/>
          </a:solidFill>
          <a:ln/>
        </p:spPr>
      </p:sp>
      <p:sp>
        <p:nvSpPr>
          <p:cNvPr id="31" name="Text 28"/>
          <p:cNvSpPr txBox="1"/>
          <p:nvPr/>
        </p:nvSpPr>
        <p:spPr>
          <a:xfrm>
            <a:off x="7863840" y="235915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32" name="Text 29"/>
          <p:cNvSpPr txBox="1"/>
          <p:nvPr/>
        </p:nvSpPr>
        <p:spPr>
          <a:xfrm>
            <a:off x="8503920" y="2313432"/>
            <a:ext cx="3154680" cy="384048"/>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make agents-demo</a:t>
            </a:r>
            <a:endParaRPr lang="en-US" sz="1500" dirty="0"/>
          </a:p>
        </p:txBody>
      </p:sp>
      <p:sp>
        <p:nvSpPr>
          <p:cNvPr id="33" name="Text 30"/>
          <p:cNvSpPr txBox="1"/>
          <p:nvPr/>
        </p:nvSpPr>
        <p:spPr>
          <a:xfrm>
            <a:off x="8503920" y="2697480"/>
            <a:ext cx="3154680" cy="640080"/>
          </a:xfrm>
          <a:prstGeom prst="rect">
            <a:avLst/>
          </a:prstGeom>
          <a:noFill/>
          <a:ln/>
        </p:spPr>
        <p:txBody>
          <a:bodyPr wrap="square" lIns="0" tIns="0" rIns="0" bIns="0" rtlCol="0" anchor="t"/>
          <a:lstStyle/>
          <a:p>
            <a:pPr indent="0" marL="0">
              <a:buNone/>
            </a:pPr>
            <a:r>
              <a:rPr lang="en-US" sz="1300" dirty="0">
                <a:solidFill>
                  <a:schemeClr val="accent5"/>
                </a:solidFill>
              </a:rPr>
              <a:t>the five agents on a sample repo, three scenarios</a:t>
            </a:r>
            <a:endParaRPr lang="en-US" sz="1300" dirty="0"/>
          </a:p>
        </p:txBody>
      </p:sp>
      <p:sp>
        <p:nvSpPr>
          <p:cNvPr id="34" name="number badge"/>
          <p:cNvSpPr/>
          <p:nvPr/>
        </p:nvSpPr>
        <p:spPr>
          <a:xfrm>
            <a:off x="7863840" y="3300984"/>
            <a:ext cx="457200" cy="457200"/>
          </a:xfrm>
          <a:prstGeom prst="ellipse">
            <a:avLst/>
          </a:prstGeom>
          <a:solidFill>
            <a:schemeClr val="accent1"/>
          </a:solidFill>
          <a:ln/>
        </p:spPr>
      </p:sp>
      <p:sp>
        <p:nvSpPr>
          <p:cNvPr id="35" name="Text 32"/>
          <p:cNvSpPr txBox="1"/>
          <p:nvPr/>
        </p:nvSpPr>
        <p:spPr>
          <a:xfrm>
            <a:off x="7863840" y="33009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6" name="Text 33"/>
          <p:cNvSpPr txBox="1"/>
          <p:nvPr/>
        </p:nvSpPr>
        <p:spPr>
          <a:xfrm>
            <a:off x="8503920" y="3255264"/>
            <a:ext cx="3154680" cy="384048"/>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make demo</a:t>
            </a:r>
            <a:endParaRPr lang="en-US" sz="1500" dirty="0"/>
          </a:p>
        </p:txBody>
      </p:sp>
      <p:sp>
        <p:nvSpPr>
          <p:cNvPr id="37" name="Text 34"/>
          <p:cNvSpPr txBox="1"/>
          <p:nvPr/>
        </p:nvSpPr>
        <p:spPr>
          <a:xfrm>
            <a:off x="8503920" y="3639312"/>
            <a:ext cx="3154680" cy="640080"/>
          </a:xfrm>
          <a:prstGeom prst="rect">
            <a:avLst/>
          </a:prstGeom>
          <a:noFill/>
          <a:ln/>
        </p:spPr>
        <p:txBody>
          <a:bodyPr wrap="square" lIns="0" tIns="0" rIns="0" bIns="0" rtlCol="0" anchor="t"/>
          <a:lstStyle/>
          <a:p>
            <a:pPr indent="0" marL="0">
              <a:buNone/>
            </a:pPr>
            <a:r>
              <a:rPr lang="en-US" sz="1300" dirty="0">
                <a:solidFill>
                  <a:schemeClr val="accent5"/>
                </a:solidFill>
              </a:rPr>
              <a:t>the data pipeline as a terminal walkthrough</a:t>
            </a:r>
            <a:endParaRPr lang="en-US" sz="1300" dirty="0"/>
          </a:p>
        </p:txBody>
      </p:sp>
      <p:sp>
        <p:nvSpPr>
          <p:cNvPr id="38" name="number badge"/>
          <p:cNvSpPr/>
          <p:nvPr/>
        </p:nvSpPr>
        <p:spPr>
          <a:xfrm>
            <a:off x="7863840" y="4242816"/>
            <a:ext cx="457200" cy="457200"/>
          </a:xfrm>
          <a:prstGeom prst="ellipse">
            <a:avLst/>
          </a:prstGeom>
          <a:solidFill>
            <a:schemeClr val="accent1"/>
          </a:solidFill>
          <a:ln/>
        </p:spPr>
      </p:sp>
      <p:sp>
        <p:nvSpPr>
          <p:cNvPr id="39" name="Text 36"/>
          <p:cNvSpPr txBox="1"/>
          <p:nvPr/>
        </p:nvSpPr>
        <p:spPr>
          <a:xfrm>
            <a:off x="7863840" y="424281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40" name="Text 37"/>
          <p:cNvSpPr txBox="1"/>
          <p:nvPr/>
        </p:nvSpPr>
        <p:spPr>
          <a:xfrm>
            <a:off x="8503920" y="4197096"/>
            <a:ext cx="3154680" cy="384048"/>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make tables</a:t>
            </a:r>
            <a:endParaRPr lang="en-US" sz="1500" dirty="0"/>
          </a:p>
        </p:txBody>
      </p:sp>
      <p:sp>
        <p:nvSpPr>
          <p:cNvPr id="41" name="Text 38"/>
          <p:cNvSpPr txBox="1"/>
          <p:nvPr/>
        </p:nvSpPr>
        <p:spPr>
          <a:xfrm>
            <a:off x="8503920" y="4581144"/>
            <a:ext cx="3154680" cy="640080"/>
          </a:xfrm>
          <a:prstGeom prst="rect">
            <a:avLst/>
          </a:prstGeom>
          <a:noFill/>
          <a:ln/>
        </p:spPr>
        <p:txBody>
          <a:bodyPr wrap="square" lIns="0" tIns="0" rIns="0" bIns="0" rtlCol="0" anchor="t"/>
          <a:lstStyle/>
          <a:p>
            <a:pPr indent="0" marL="0">
              <a:buNone/>
            </a:pPr>
            <a:r>
              <a:rPr lang="en-US" sz="1300" dirty="0">
                <a:solidFill>
                  <a:schemeClr val="accent5"/>
                </a:solidFill>
              </a:rPr>
              <a:t>regenerate every number, offline</a:t>
            </a:r>
            <a:endParaRPr lang="en-US" sz="1300" dirty="0"/>
          </a:p>
        </p:txBody>
      </p:sp>
      <p:sp>
        <p:nvSpPr>
          <p:cNvPr id="42" name="number badge"/>
          <p:cNvSpPr/>
          <p:nvPr/>
        </p:nvSpPr>
        <p:spPr>
          <a:xfrm>
            <a:off x="7863840" y="5184648"/>
            <a:ext cx="457200" cy="457200"/>
          </a:xfrm>
          <a:prstGeom prst="ellipse">
            <a:avLst/>
          </a:prstGeom>
          <a:solidFill>
            <a:schemeClr val="accent1"/>
          </a:solidFill>
          <a:ln/>
        </p:spPr>
      </p:sp>
      <p:sp>
        <p:nvSpPr>
          <p:cNvPr id="43" name="Text 40"/>
          <p:cNvSpPr txBox="1"/>
          <p:nvPr/>
        </p:nvSpPr>
        <p:spPr>
          <a:xfrm>
            <a:off x="7863840" y="518464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44" name="Text 41"/>
          <p:cNvSpPr txBox="1"/>
          <p:nvPr/>
        </p:nvSpPr>
        <p:spPr>
          <a:xfrm>
            <a:off x="8503920" y="5138928"/>
            <a:ext cx="3154680" cy="384048"/>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make analyze</a:t>
            </a:r>
            <a:endParaRPr lang="en-US" sz="1500" dirty="0"/>
          </a:p>
        </p:txBody>
      </p:sp>
      <p:sp>
        <p:nvSpPr>
          <p:cNvPr id="45" name="Text 42"/>
          <p:cNvSpPr txBox="1"/>
          <p:nvPr/>
        </p:nvSpPr>
        <p:spPr>
          <a:xfrm>
            <a:off x="8503920" y="5522976"/>
            <a:ext cx="3154680" cy="640080"/>
          </a:xfrm>
          <a:prstGeom prst="rect">
            <a:avLst/>
          </a:prstGeom>
          <a:noFill/>
          <a:ln/>
        </p:spPr>
        <p:txBody>
          <a:bodyPr wrap="square" lIns="0" tIns="0" rIns="0" bIns="0" rtlCol="0" anchor="t"/>
          <a:lstStyle/>
          <a:p>
            <a:pPr indent="0" marL="0">
              <a:buNone/>
            </a:pPr>
            <a:r>
              <a:rPr lang="en-US" sz="1300" dirty="0">
                <a:solidFill>
                  <a:schemeClr val="accent5"/>
                </a:solidFill>
              </a:rPr>
              <a:t>Analyze-a-repo tab: run the impact agent on any public GitHub repo</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Release: open, archived and citable</a:t>
            </a:r>
            <a:endParaRPr lang="en-US" sz="3200" dirty="0"/>
          </a:p>
        </p:txBody>
      </p:sp>
      <p:sp>
        <p:nvSpPr>
          <p:cNvPr id="3" name="card"/>
          <p:cNvSpPr/>
          <p:nvPr/>
        </p:nvSpPr>
        <p:spPr>
          <a:xfrm>
            <a:off x="548640" y="1371600"/>
            <a:ext cx="5486400" cy="2880360"/>
          </a:xfrm>
          <a:prstGeom prst="roundRect">
            <a:avLst>
              <a:gd name="adj" fmla="val 3175"/>
            </a:avLst>
          </a:prstGeom>
          <a:solidFill>
            <a:schemeClr val="bg2"/>
          </a:solidFill>
          <a:ln/>
        </p:spPr>
      </p:sp>
      <p:sp>
        <p:nvSpPr>
          <p:cNvPr id="4" name="icon circle"/>
          <p:cNvSpPr/>
          <p:nvPr/>
        </p:nvSpPr>
        <p:spPr>
          <a:xfrm>
            <a:off x="777240" y="1572768"/>
            <a:ext cx="594360" cy="594360"/>
          </a:xfrm>
          <a:prstGeom prst="ellipse">
            <a:avLst/>
          </a:prstGeom>
          <a:solidFill>
            <a:schemeClr val="tx2"/>
          </a:solidFill>
          <a:ln/>
        </p:spPr>
      </p:sp>
      <p:pic>
        <p:nvPicPr>
          <p:cNvPr id="5" name="Image 0" descr="archive icon">    </p:cNvPr>
          <p:cNvPicPr>
            <a:picLocks noChangeAspect="1"/>
          </p:cNvPicPr>
          <p:nvPr/>
        </p:nvPicPr>
        <p:blipFill>
          <a:blip r:embed="rId1"/>
          <a:stretch>
            <a:fillRect/>
          </a:stretch>
        </p:blipFill>
        <p:spPr>
          <a:xfrm>
            <a:off x="919886" y="1715414"/>
            <a:ext cx="309067" cy="309067"/>
          </a:xfrm>
          <a:prstGeom prst="rect">
            <a:avLst/>
          </a:prstGeom>
        </p:spPr>
      </p:pic>
      <p:sp>
        <p:nvSpPr>
          <p:cNvPr id="6" name="Text 3"/>
          <p:cNvSpPr txBox="1"/>
          <p:nvPr/>
        </p:nvSpPr>
        <p:spPr>
          <a:xfrm>
            <a:off x="1554480" y="1572768"/>
            <a:ext cx="4297680" cy="594360"/>
          </a:xfrm>
          <a:prstGeom prst="rect">
            <a:avLst/>
          </a:prstGeom>
          <a:noFill/>
          <a:ln/>
        </p:spPr>
        <p:txBody>
          <a:bodyPr wrap="square" lIns="0" tIns="0" rIns="0" bIns="0" rtlCol="0" anchor="ctr"/>
          <a:lstStyle/>
          <a:p>
            <a:pPr indent="0" marL="0">
              <a:buNone/>
            </a:pPr>
            <a:r>
              <a:rPr lang="en-US" sz="1900" b="1" dirty="0">
                <a:solidFill>
                  <a:schemeClr val="tx1"/>
                </a:solidFill>
              </a:rPr>
              <a:t>BR-Bench dataset</a:t>
            </a:r>
            <a:endParaRPr lang="en-US" sz="1900" dirty="0"/>
          </a:p>
        </p:txBody>
      </p:sp>
      <p:sp>
        <p:nvSpPr>
          <p:cNvPr id="7" name="Text 4"/>
          <p:cNvSpPr txBox="1"/>
          <p:nvPr/>
        </p:nvSpPr>
        <p:spPr>
          <a:xfrm>
            <a:off x="777240" y="2286000"/>
            <a:ext cx="5120640" cy="365760"/>
          </a:xfrm>
          <a:prstGeom prst="rect">
            <a:avLst/>
          </a:prstGeom>
          <a:noFill/>
          <a:ln/>
        </p:spPr>
        <p:txBody>
          <a:bodyPr wrap="square" lIns="0" tIns="0" rIns="0" bIns="0" rtlCol="0" anchor="t"/>
          <a:lstStyle/>
          <a:p>
            <a:pPr indent="0" marL="0">
              <a:buNone/>
            </a:pPr>
            <a:r>
              <a:rPr lang="en-US" sz="1400" b="1" dirty="0">
                <a:solidFill>
                  <a:schemeClr val="accent3"/>
                </a:solidFill>
              </a:rPr>
              <a:t>doi.org/10.5281/zenodo.23250262 · CC BY 4.0</a:t>
            </a:r>
            <a:endParaRPr lang="en-US" sz="1400" dirty="0"/>
          </a:p>
        </p:txBody>
      </p:sp>
      <p:sp>
        <p:nvSpPr>
          <p:cNvPr id="8" name="Text 5"/>
          <p:cNvSpPr txBox="1"/>
          <p:nvPr/>
        </p:nvSpPr>
        <p:spPr>
          <a:xfrm>
            <a:off x="777240" y="2743200"/>
            <a:ext cx="2743200" cy="329184"/>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instances</a:t>
            </a:r>
            <a:endParaRPr lang="en-US" sz="1400" dirty="0"/>
          </a:p>
        </p:txBody>
      </p:sp>
      <p:sp>
        <p:nvSpPr>
          <p:cNvPr id="9" name="Text 6"/>
          <p:cNvSpPr txBox="1"/>
          <p:nvPr/>
        </p:nvSpPr>
        <p:spPr>
          <a:xfrm>
            <a:off x="3291840" y="2743200"/>
            <a:ext cx="2468880" cy="329184"/>
          </a:xfrm>
          <a:prstGeom prst="rect">
            <a:avLst/>
          </a:prstGeom>
          <a:noFill/>
          <a:ln/>
        </p:spPr>
        <p:txBody>
          <a:bodyPr wrap="square" lIns="0" tIns="0" rIns="0" bIns="0" rtlCol="0" anchor="t"/>
          <a:lstStyle/>
          <a:p>
            <a:pPr algn="r" indent="0" marL="0">
              <a:buNone/>
            </a:pPr>
            <a:r>
              <a:rPr lang="en-US" sz="1400" dirty="0">
                <a:solidFill>
                  <a:schemeClr val="tx1"/>
                </a:solidFill>
              </a:rPr>
              <a:t>165,349 rows</a:t>
            </a:r>
            <a:endParaRPr lang="en-US" sz="1400" dirty="0"/>
          </a:p>
        </p:txBody>
      </p:sp>
      <p:sp>
        <p:nvSpPr>
          <p:cNvPr id="10" name="Text 7"/>
          <p:cNvSpPr txBox="1"/>
          <p:nvPr/>
        </p:nvSpPr>
        <p:spPr>
          <a:xfrm>
            <a:off x="777240" y="3090672"/>
            <a:ext cx="2743200" cy="329184"/>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outcomes</a:t>
            </a:r>
            <a:endParaRPr lang="en-US" sz="1400" dirty="0"/>
          </a:p>
        </p:txBody>
      </p:sp>
      <p:sp>
        <p:nvSpPr>
          <p:cNvPr id="11" name="Text 8"/>
          <p:cNvSpPr txBox="1"/>
          <p:nvPr/>
        </p:nvSpPr>
        <p:spPr>
          <a:xfrm>
            <a:off x="3291840" y="3090672"/>
            <a:ext cx="2468880" cy="329184"/>
          </a:xfrm>
          <a:prstGeom prst="rect">
            <a:avLst/>
          </a:prstGeom>
          <a:noFill/>
          <a:ln/>
        </p:spPr>
        <p:txBody>
          <a:bodyPr wrap="square" lIns="0" tIns="0" rIns="0" bIns="0" rtlCol="0" anchor="t"/>
          <a:lstStyle/>
          <a:p>
            <a:pPr algn="r" indent="0" marL="0">
              <a:buNone/>
            </a:pPr>
            <a:r>
              <a:rPr lang="en-US" sz="1400" dirty="0">
                <a:solidFill>
                  <a:schemeClr val="tx1"/>
                </a:solidFill>
              </a:rPr>
              <a:t>12,766 rows</a:t>
            </a:r>
            <a:endParaRPr lang="en-US" sz="1400" dirty="0"/>
          </a:p>
        </p:txBody>
      </p:sp>
      <p:sp>
        <p:nvSpPr>
          <p:cNvPr id="12" name="Text 9"/>
          <p:cNvSpPr txBox="1"/>
          <p:nvPr/>
        </p:nvSpPr>
        <p:spPr>
          <a:xfrm>
            <a:off x="777240" y="3438144"/>
            <a:ext cx="2743200" cy="329184"/>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cochange</a:t>
            </a:r>
            <a:endParaRPr lang="en-US" sz="1400" dirty="0"/>
          </a:p>
        </p:txBody>
      </p:sp>
      <p:sp>
        <p:nvSpPr>
          <p:cNvPr id="13" name="Text 10"/>
          <p:cNvSpPr txBox="1"/>
          <p:nvPr/>
        </p:nvSpPr>
        <p:spPr>
          <a:xfrm>
            <a:off x="3291840" y="3438144"/>
            <a:ext cx="2468880" cy="329184"/>
          </a:xfrm>
          <a:prstGeom prst="rect">
            <a:avLst/>
          </a:prstGeom>
          <a:noFill/>
          <a:ln/>
        </p:spPr>
        <p:txBody>
          <a:bodyPr wrap="square" lIns="0" tIns="0" rIns="0" bIns="0" rtlCol="0" anchor="t"/>
          <a:lstStyle/>
          <a:p>
            <a:pPr algn="r" indent="0" marL="0">
              <a:buNone/>
            </a:pPr>
            <a:r>
              <a:rPr lang="en-US" sz="1400" dirty="0">
                <a:solidFill>
                  <a:schemeClr val="tx1"/>
                </a:solidFill>
              </a:rPr>
              <a:t>175,204 rows</a:t>
            </a:r>
            <a:endParaRPr lang="en-US" sz="1400" dirty="0"/>
          </a:p>
        </p:txBody>
      </p:sp>
      <p:sp>
        <p:nvSpPr>
          <p:cNvPr id="14" name="Text 11"/>
          <p:cNvSpPr txBox="1"/>
          <p:nvPr/>
        </p:nvSpPr>
        <p:spPr>
          <a:xfrm>
            <a:off x="777240" y="3785616"/>
            <a:ext cx="2743200" cy="329184"/>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failure_messages</a:t>
            </a:r>
            <a:endParaRPr lang="en-US" sz="1400" dirty="0"/>
          </a:p>
        </p:txBody>
      </p:sp>
      <p:sp>
        <p:nvSpPr>
          <p:cNvPr id="15" name="Text 12"/>
          <p:cNvSpPr txBox="1"/>
          <p:nvPr/>
        </p:nvSpPr>
        <p:spPr>
          <a:xfrm>
            <a:off x="3291840" y="3785616"/>
            <a:ext cx="2468880" cy="329184"/>
          </a:xfrm>
          <a:prstGeom prst="rect">
            <a:avLst/>
          </a:prstGeom>
          <a:noFill/>
          <a:ln/>
        </p:spPr>
        <p:txBody>
          <a:bodyPr wrap="square" lIns="0" tIns="0" rIns="0" bIns="0" rtlCol="0" anchor="t"/>
          <a:lstStyle/>
          <a:p>
            <a:pPr algn="r" indent="0" marL="0">
              <a:buNone/>
            </a:pPr>
            <a:r>
              <a:rPr lang="en-US" sz="1400" dirty="0">
                <a:solidFill>
                  <a:schemeClr val="tx1"/>
                </a:solidFill>
              </a:rPr>
              <a:t>3,490 rows</a:t>
            </a:r>
            <a:endParaRPr lang="en-US" sz="1400" dirty="0"/>
          </a:p>
        </p:txBody>
      </p:sp>
      <p:sp>
        <p:nvSpPr>
          <p:cNvPr id="16" name="card"/>
          <p:cNvSpPr/>
          <p:nvPr/>
        </p:nvSpPr>
        <p:spPr>
          <a:xfrm>
            <a:off x="6263640" y="1371600"/>
            <a:ext cx="5376672" cy="2880360"/>
          </a:xfrm>
          <a:prstGeom prst="roundRect">
            <a:avLst>
              <a:gd name="adj" fmla="val 3175"/>
            </a:avLst>
          </a:prstGeom>
          <a:solidFill>
            <a:schemeClr val="bg2"/>
          </a:solidFill>
          <a:ln/>
        </p:spPr>
      </p:sp>
      <p:sp>
        <p:nvSpPr>
          <p:cNvPr id="17" name="icon circle"/>
          <p:cNvSpPr/>
          <p:nvPr/>
        </p:nvSpPr>
        <p:spPr>
          <a:xfrm>
            <a:off x="6492240" y="1572768"/>
            <a:ext cx="594360" cy="594360"/>
          </a:xfrm>
          <a:prstGeom prst="ellipse">
            <a:avLst/>
          </a:prstGeom>
          <a:solidFill>
            <a:schemeClr val="tx2"/>
          </a:solidFill>
          <a:ln/>
        </p:spPr>
      </p:sp>
      <p:pic>
        <p:nvPicPr>
          <p:cNvPr id="18" name="Image 1" descr="github icon">    </p:cNvPr>
          <p:cNvPicPr>
            <a:picLocks noChangeAspect="1"/>
          </p:cNvPicPr>
          <p:nvPr/>
        </p:nvPicPr>
        <p:blipFill>
          <a:blip r:embed="rId2"/>
          <a:stretch>
            <a:fillRect/>
          </a:stretch>
        </p:blipFill>
        <p:spPr>
          <a:xfrm>
            <a:off x="6634886" y="1715414"/>
            <a:ext cx="309067" cy="309067"/>
          </a:xfrm>
          <a:prstGeom prst="rect">
            <a:avLst/>
          </a:prstGeom>
        </p:spPr>
      </p:pic>
      <p:sp>
        <p:nvSpPr>
          <p:cNvPr id="19" name="Text 15"/>
          <p:cNvSpPr txBox="1"/>
          <p:nvPr/>
        </p:nvSpPr>
        <p:spPr>
          <a:xfrm>
            <a:off x="7269480" y="1572768"/>
            <a:ext cx="4206240" cy="594360"/>
          </a:xfrm>
          <a:prstGeom prst="rect">
            <a:avLst/>
          </a:prstGeom>
          <a:noFill/>
          <a:ln/>
        </p:spPr>
        <p:txBody>
          <a:bodyPr wrap="square" lIns="0" tIns="0" rIns="0" bIns="0" rtlCol="0" anchor="ctr"/>
          <a:lstStyle/>
          <a:p>
            <a:pPr indent="0" marL="0">
              <a:buNone/>
            </a:pPr>
            <a:r>
              <a:rPr lang="en-US" sz="1900" b="1" dirty="0">
                <a:solidFill>
                  <a:schemeClr val="tx1"/>
                </a:solidFill>
              </a:rPr>
              <a:t>Source code</a:t>
            </a:r>
            <a:endParaRPr lang="en-US" sz="1900" dirty="0"/>
          </a:p>
        </p:txBody>
      </p:sp>
      <p:sp>
        <p:nvSpPr>
          <p:cNvPr id="20" name="Text 16"/>
          <p:cNvSpPr txBox="1"/>
          <p:nvPr/>
        </p:nvSpPr>
        <p:spPr>
          <a:xfrm>
            <a:off x="6492240" y="2286000"/>
            <a:ext cx="4937760" cy="365760"/>
          </a:xfrm>
          <a:prstGeom prst="rect">
            <a:avLst/>
          </a:prstGeom>
          <a:noFill/>
          <a:ln/>
        </p:spPr>
        <p:txBody>
          <a:bodyPr wrap="square" lIns="0" tIns="0" rIns="0" bIns="0" rtlCol="0" anchor="t"/>
          <a:lstStyle/>
          <a:p>
            <a:pPr indent="0" marL="0">
              <a:buNone/>
            </a:pPr>
            <a:r>
              <a:rPr lang="en-US" sz="1400" b="1" dirty="0">
                <a:solidFill>
                  <a:schemeClr val="accent3"/>
                </a:solidFill>
              </a:rPr>
              <a:t>doi.org/10.5281/zenodo.23250690 · MIT</a:t>
            </a:r>
            <a:endParaRPr lang="en-US" sz="1400" dirty="0"/>
          </a:p>
        </p:txBody>
      </p:sp>
      <p:sp>
        <p:nvSpPr>
          <p:cNvPr id="21" name="Text 17"/>
          <p:cNvSpPr txBox="1"/>
          <p:nvPr/>
        </p:nvSpPr>
        <p:spPr>
          <a:xfrm>
            <a:off x="6492240" y="2743200"/>
            <a:ext cx="4937760" cy="12801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github.com/DeepanshuOP/blastradius</a:t>
            </a:r>
            <a:endParaRPr lang="en-US" sz="1400" dirty="0"/>
          </a:p>
          <a:p>
            <a:pPr indent="0" marL="0">
              <a:spcAft>
                <a:spcPts val="400"/>
              </a:spcAft>
              <a:buNone/>
            </a:pPr>
            <a:r>
              <a:rPr lang="en-US" sz="1400" dirty="0">
                <a:solidFill>
                  <a:schemeClr val="tx1"/>
                </a:solidFill>
              </a:rPr>
              <a:t>release v1.0.0 · CITATION.cff · datasheet</a:t>
            </a:r>
            <a:endParaRPr lang="en-US" sz="1400" dirty="0"/>
          </a:p>
          <a:p>
            <a:pPr indent="0" marL="0">
              <a:spcAft>
                <a:spcPts val="400"/>
              </a:spcAft>
              <a:buNone/>
            </a:pPr>
            <a:r>
              <a:rPr lang="en-US" sz="1200" dirty="0">
                <a:solidFill>
                  <a:schemeClr val="accent5"/>
                </a:solidFill>
              </a:rPr>
              <a:t>v0.2 built and validated (base runs, changeset columns, schema validator); Zenodo deposit pending</a:t>
            </a:r>
            <a:endParaRPr lang="en-US" sz="1400" dirty="0"/>
          </a:p>
        </p:txBody>
      </p:sp>
      <p:sp>
        <p:nvSpPr>
          <p:cNvPr id="22" name="icon circle"/>
          <p:cNvSpPr/>
          <p:nvPr/>
        </p:nvSpPr>
        <p:spPr>
          <a:xfrm>
            <a:off x="548640" y="4572000"/>
            <a:ext cx="502920" cy="502920"/>
          </a:xfrm>
          <a:prstGeom prst="ellipse">
            <a:avLst/>
          </a:prstGeom>
          <a:solidFill>
            <a:schemeClr val="accent4"/>
          </a:solidFill>
          <a:ln/>
        </p:spPr>
      </p:sp>
      <p:pic>
        <p:nvPicPr>
          <p:cNvPr id="23" name="Image 2" descr="user icon">    </p:cNvPr>
          <p:cNvPicPr>
            <a:picLocks noChangeAspect="1"/>
          </p:cNvPicPr>
          <p:nvPr/>
        </p:nvPicPr>
        <p:blipFill>
          <a:blip r:embed="rId3"/>
          <a:stretch>
            <a:fillRect/>
          </a:stretch>
        </p:blipFill>
        <p:spPr>
          <a:xfrm>
            <a:off x="669341" y="4692701"/>
            <a:ext cx="261518" cy="261518"/>
          </a:xfrm>
          <a:prstGeom prst="rect">
            <a:avLst/>
          </a:prstGeom>
        </p:spPr>
      </p:pic>
      <p:sp>
        <p:nvSpPr>
          <p:cNvPr id="24" name="Text 19"/>
          <p:cNvSpPr txBox="1"/>
          <p:nvPr/>
        </p:nvSpPr>
        <p:spPr>
          <a:xfrm>
            <a:off x="1188720" y="4572000"/>
            <a:ext cx="3017520" cy="502920"/>
          </a:xfrm>
          <a:prstGeom prst="rect">
            <a:avLst/>
          </a:prstGeom>
          <a:noFill/>
          <a:ln/>
        </p:spPr>
        <p:txBody>
          <a:bodyPr wrap="square" lIns="0" tIns="0" rIns="0" bIns="0" rtlCol="0" anchor="ctr"/>
          <a:lstStyle/>
          <a:p>
            <a:pPr indent="0" marL="0">
              <a:buNone/>
            </a:pPr>
            <a:r>
              <a:rPr lang="en-US" sz="1400" dirty="0">
                <a:solidFill>
                  <a:schemeClr val="tx1"/>
                </a:solidFill>
              </a:rPr>
              <a:t>Logins pseudonymised (keyed HMAC-SHA256)</a:t>
            </a:r>
            <a:endParaRPr lang="en-US" sz="1400" dirty="0"/>
          </a:p>
        </p:txBody>
      </p:sp>
      <p:sp>
        <p:nvSpPr>
          <p:cNvPr id="25" name="icon circle"/>
          <p:cNvSpPr/>
          <p:nvPr/>
        </p:nvSpPr>
        <p:spPr>
          <a:xfrm>
            <a:off x="4370832" y="4572000"/>
            <a:ext cx="502920" cy="502920"/>
          </a:xfrm>
          <a:prstGeom prst="ellipse">
            <a:avLst/>
          </a:prstGeom>
          <a:solidFill>
            <a:schemeClr val="accent4"/>
          </a:solidFill>
          <a:ln/>
        </p:spPr>
      </p:sp>
      <p:pic>
        <p:nvPicPr>
          <p:cNvPr id="26" name="Image 3" descr="shield icon">    </p:cNvPr>
          <p:cNvPicPr>
            <a:picLocks noChangeAspect="1"/>
          </p:cNvPicPr>
          <p:nvPr/>
        </p:nvPicPr>
        <p:blipFill>
          <a:blip r:embed="rId4"/>
          <a:stretch>
            <a:fillRect/>
          </a:stretch>
        </p:blipFill>
        <p:spPr>
          <a:xfrm>
            <a:off x="4491533" y="4692701"/>
            <a:ext cx="261518" cy="261518"/>
          </a:xfrm>
          <a:prstGeom prst="rect">
            <a:avLst/>
          </a:prstGeom>
        </p:spPr>
      </p:pic>
      <p:sp>
        <p:nvSpPr>
          <p:cNvPr id="27" name="Text 21"/>
          <p:cNvSpPr txBox="1"/>
          <p:nvPr/>
        </p:nvSpPr>
        <p:spPr>
          <a:xfrm>
            <a:off x="5010912" y="4572000"/>
            <a:ext cx="3017520" cy="502920"/>
          </a:xfrm>
          <a:prstGeom prst="rect">
            <a:avLst/>
          </a:prstGeom>
          <a:noFill/>
          <a:ln/>
        </p:spPr>
        <p:txBody>
          <a:bodyPr wrap="square" lIns="0" tIns="0" rIns="0" bIns="0" rtlCol="0" anchor="ctr"/>
          <a:lstStyle/>
          <a:p>
            <a:pPr indent="0" marL="0">
              <a:buNone/>
            </a:pPr>
            <a:r>
              <a:rPr lang="en-US" sz="1400" dirty="0">
                <a:solidFill>
                  <a:schemeClr val="tx1"/>
                </a:solidFill>
              </a:rPr>
              <a:t>Secret scan and canary string</a:t>
            </a:r>
            <a:endParaRPr lang="en-US" sz="1400" dirty="0"/>
          </a:p>
        </p:txBody>
      </p:sp>
      <p:sp>
        <p:nvSpPr>
          <p:cNvPr id="28" name="icon circle"/>
          <p:cNvSpPr/>
          <p:nvPr/>
        </p:nvSpPr>
        <p:spPr>
          <a:xfrm>
            <a:off x="8193024" y="4572000"/>
            <a:ext cx="502920" cy="502920"/>
          </a:xfrm>
          <a:prstGeom prst="ellipse">
            <a:avLst/>
          </a:prstGeom>
          <a:solidFill>
            <a:schemeClr val="accent4"/>
          </a:solidFill>
          <a:ln/>
        </p:spPr>
      </p:sp>
      <p:pic>
        <p:nvPicPr>
          <p:cNvPr id="29" name="Image 4" descr="lock icon">    </p:cNvPr>
          <p:cNvPicPr>
            <a:picLocks noChangeAspect="1"/>
          </p:cNvPicPr>
          <p:nvPr/>
        </p:nvPicPr>
        <p:blipFill>
          <a:blip r:embed="rId5"/>
          <a:stretch>
            <a:fillRect/>
          </a:stretch>
        </p:blipFill>
        <p:spPr>
          <a:xfrm>
            <a:off x="8313725" y="4692701"/>
            <a:ext cx="261518" cy="261518"/>
          </a:xfrm>
          <a:prstGeom prst="rect">
            <a:avLst/>
          </a:prstGeom>
        </p:spPr>
      </p:pic>
      <p:sp>
        <p:nvSpPr>
          <p:cNvPr id="30" name="Text 23"/>
          <p:cNvSpPr txBox="1"/>
          <p:nvPr/>
        </p:nvSpPr>
        <p:spPr>
          <a:xfrm>
            <a:off x="8833104" y="4572000"/>
            <a:ext cx="3017520" cy="502920"/>
          </a:xfrm>
          <a:prstGeom prst="rect">
            <a:avLst/>
          </a:prstGeom>
          <a:noFill/>
          <a:ln/>
        </p:spPr>
        <p:txBody>
          <a:bodyPr wrap="square" lIns="0" tIns="0" rIns="0" bIns="0" rtlCol="0" anchor="ctr"/>
          <a:lstStyle/>
          <a:p>
            <a:pPr indent="0" marL="0">
              <a:buNone/>
            </a:pPr>
            <a:r>
              <a:rPr lang="en-US" sz="1400" dirty="0">
                <a:solidFill>
                  <a:schemeClr val="tx1"/>
                </a:solidFill>
              </a:rPr>
              <a:t>SHA-256 checksum manifest</a:t>
            </a:r>
            <a:endParaRPr lang="en-US" sz="1400" dirty="0"/>
          </a:p>
        </p:txBody>
      </p:sp>
      <p:sp>
        <p:nvSpPr>
          <p:cNvPr id="31" name="venue"/>
          <p:cNvSpPr/>
          <p:nvPr/>
        </p:nvSpPr>
        <p:spPr>
          <a:xfrm>
            <a:off x="548640" y="5349240"/>
            <a:ext cx="11091672" cy="685800"/>
          </a:xfrm>
          <a:prstGeom prst="roundRect">
            <a:avLst>
              <a:gd name="adj" fmla="val 13333"/>
            </a:avLst>
          </a:prstGeom>
          <a:solidFill>
            <a:schemeClr val="bg2"/>
          </a:solidFill>
          <a:ln/>
        </p:spPr>
      </p:sp>
      <p:sp>
        <p:nvSpPr>
          <p:cNvPr id="32" name="Text 25"/>
          <p:cNvSpPr txBox="1"/>
          <p:nvPr/>
        </p:nvSpPr>
        <p:spPr>
          <a:xfrm>
            <a:off x="777240" y="5349240"/>
            <a:ext cx="10698480" cy="685800"/>
          </a:xfrm>
          <a:prstGeom prst="rect">
            <a:avLst/>
          </a:prstGeom>
          <a:noFill/>
          <a:ln/>
        </p:spPr>
        <p:txBody>
          <a:bodyPr wrap="square" lIns="0" tIns="0" rIns="0" bIns="0" rtlCol="0" anchor="ctr"/>
          <a:lstStyle/>
          <a:p>
            <a:pPr indent="0" marL="0">
              <a:buNone/>
            </a:pPr>
            <a:r>
              <a:rPr lang="en-US" sz="1500" b="1" dirty="0">
                <a:solidFill>
                  <a:schemeClr val="tx1"/>
                </a:solidFill>
              </a:rPr>
              <a:t>Next: </a:t>
            </a:r>
            <a:pPr indent="0" marL="0">
              <a:buNone/>
            </a:pPr>
            <a:r>
              <a:rPr lang="en-US" sz="1500" dirty="0">
                <a:solidFill>
                  <a:schemeClr val="tx1"/>
                </a:solidFill>
              </a:rPr>
              <a:t>MSR 2027 Data &amp; Tool Showcase. Abstract due 5 Nov 2026, paper due 10 Nov 2026.</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Limitations and future work</a:t>
            </a:r>
            <a:endParaRPr lang="en-US" sz="3200" dirty="0"/>
          </a:p>
        </p:txBody>
      </p:sp>
      <p:sp>
        <p:nvSpPr>
          <p:cNvPr id="3" name="card"/>
          <p:cNvSpPr/>
          <p:nvPr/>
        </p:nvSpPr>
        <p:spPr>
          <a:xfrm>
            <a:off x="548640" y="1371600"/>
            <a:ext cx="5449824" cy="4617720"/>
          </a:xfrm>
          <a:prstGeom prst="roundRect">
            <a:avLst>
              <a:gd name="adj" fmla="val 1980"/>
            </a:avLst>
          </a:prstGeom>
          <a:solidFill>
            <a:schemeClr val="bg2"/>
          </a:solidFill>
          <a:ln/>
        </p:spPr>
      </p:sp>
      <p:sp>
        <p:nvSpPr>
          <p:cNvPr id="4" name="icon circle"/>
          <p:cNvSpPr/>
          <p:nvPr/>
        </p:nvSpPr>
        <p:spPr>
          <a:xfrm>
            <a:off x="822960" y="1600200"/>
            <a:ext cx="548640" cy="548640"/>
          </a:xfrm>
          <a:prstGeom prst="ellipse">
            <a:avLst/>
          </a:prstGeom>
          <a:solidFill>
            <a:schemeClr val="accent6"/>
          </a:solidFill>
          <a:ln/>
        </p:spPr>
      </p:sp>
      <p:pic>
        <p:nvPicPr>
          <p:cNvPr id="5" name="Image 0" descr="exclam icon">    </p:cNvPr>
          <p:cNvPicPr>
            <a:picLocks noChangeAspect="1"/>
          </p:cNvPicPr>
          <p:nvPr/>
        </p:nvPicPr>
        <p:blipFill>
          <a:blip r:embed="rId1"/>
          <a:stretch>
            <a:fillRect/>
          </a:stretch>
        </p:blipFill>
        <p:spPr>
          <a:xfrm>
            <a:off x="954634" y="1731874"/>
            <a:ext cx="285293" cy="285293"/>
          </a:xfrm>
          <a:prstGeom prst="rect">
            <a:avLst/>
          </a:prstGeom>
        </p:spPr>
      </p:pic>
      <p:sp>
        <p:nvSpPr>
          <p:cNvPr id="6" name="Text 3"/>
          <p:cNvSpPr txBox="1"/>
          <p:nvPr/>
        </p:nvSpPr>
        <p:spPr>
          <a:xfrm>
            <a:off x="1554480" y="1600200"/>
            <a:ext cx="4169664" cy="548640"/>
          </a:xfrm>
          <a:prstGeom prst="rect">
            <a:avLst/>
          </a:prstGeom>
          <a:noFill/>
          <a:ln/>
        </p:spPr>
        <p:txBody>
          <a:bodyPr wrap="square" lIns="0" tIns="0" rIns="0" bIns="0" rtlCol="0" anchor="ctr"/>
          <a:lstStyle/>
          <a:p>
            <a:pPr indent="0" marL="0">
              <a:buNone/>
            </a:pPr>
            <a:r>
              <a:rPr lang="en-US" sz="2000" b="1" dirty="0">
                <a:solidFill>
                  <a:schemeClr val="tx1"/>
                </a:solidFill>
              </a:rPr>
              <a:t>Limitations</a:t>
            </a:r>
            <a:endParaRPr lang="en-US" sz="2000" dirty="0"/>
          </a:p>
        </p:txBody>
      </p:sp>
      <p:sp>
        <p:nvSpPr>
          <p:cNvPr id="7" name="Text 4"/>
          <p:cNvSpPr txBox="1"/>
          <p:nvPr/>
        </p:nvSpPr>
        <p:spPr>
          <a:xfrm>
            <a:off x="822960" y="2423160"/>
            <a:ext cx="4901184" cy="347472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chemeClr val="tx1"/>
                </a:solidFill>
              </a:rPr>
              <a:t>Gate 1 not met: 4,168 strict labels against a 5,000 target</a:t>
            </a:r>
            <a:endParaRPr lang="en-US" sz="1600" dirty="0"/>
          </a:p>
          <a:p>
            <a:pPr marL="342900" indent="-342900">
              <a:spcAft>
                <a:spcPts val="1600"/>
              </a:spcAft>
              <a:buSzPct val="100000"/>
              <a:buChar char="•"/>
            </a:pPr>
            <a:r>
              <a:rPr lang="en-US" sz="1600" dirty="0">
                <a:solidFill>
                  <a:schemeClr val="tx1"/>
                </a:solidFill>
              </a:rPr>
              <a:t>Full-confidence binding 63.83%, below the 70% gate</a:t>
            </a:r>
            <a:endParaRPr lang="en-US" sz="1600" dirty="0"/>
          </a:p>
          <a:p>
            <a:pPr marL="342900" indent="-342900">
              <a:spcAft>
                <a:spcPts val="1600"/>
              </a:spcAft>
              <a:buSzPct val="100000"/>
              <a:buChar char="•"/>
            </a:pPr>
            <a:r>
              <a:rPr lang="en-US" sz="1600" dirty="0">
                <a:solidFill>
                  <a:schemeClr val="tx1"/>
                </a:solidFill>
              </a:rPr>
              <a:t>Parser precision measured on development sets only</a:t>
            </a:r>
            <a:endParaRPr lang="en-US" sz="1600" dirty="0"/>
          </a:p>
          <a:p>
            <a:pPr marL="342900" indent="-342900">
              <a:spcAft>
                <a:spcPts val="1600"/>
              </a:spcAft>
              <a:buSzPct val="100000"/>
              <a:buChar char="•"/>
            </a:pPr>
            <a:r>
              <a:rPr lang="en-US" sz="1600" dirty="0">
                <a:solidFill>
                  <a:schemeClr val="tx1"/>
                </a:solidFill>
              </a:rPr>
              <a:t>Labels are observational; no re-executed gold subset</a:t>
            </a:r>
            <a:endParaRPr lang="en-US" sz="1600" dirty="0"/>
          </a:p>
          <a:p>
            <a:pPr marL="342900" indent="-342900">
              <a:spcAft>
                <a:spcPts val="1600"/>
              </a:spcAft>
              <a:buSzPct val="100000"/>
              <a:buChar char="•"/>
            </a:pPr>
            <a:r>
              <a:rPr lang="en-US" sz="1600" dirty="0">
                <a:solidFill>
                  <a:schemeClr val="tx1"/>
                </a:solidFill>
              </a:rPr>
              <a:t>Corpus skewed to Java (71 of 77 repositories)</a:t>
            </a:r>
            <a:endParaRPr lang="en-US" sz="1600" dirty="0"/>
          </a:p>
          <a:p>
            <a:pPr marL="342900" indent="-342900">
              <a:spcAft>
                <a:spcPts val="1600"/>
              </a:spcAft>
              <a:buSzPct val="100000"/>
              <a:buChar char="•"/>
            </a:pPr>
            <a:r>
              <a:rPr lang="en-US" sz="1600" dirty="0">
                <a:solidFill>
                  <a:schemeClr val="tx1"/>
                </a:solidFill>
              </a:rPr>
              <a:t>Graph reachability not yet scored against real failures (base commits missing locally)</a:t>
            </a:r>
            <a:endParaRPr lang="en-US" sz="1600" dirty="0"/>
          </a:p>
        </p:txBody>
      </p:sp>
      <p:sp>
        <p:nvSpPr>
          <p:cNvPr id="8" name="card"/>
          <p:cNvSpPr/>
          <p:nvPr/>
        </p:nvSpPr>
        <p:spPr>
          <a:xfrm>
            <a:off x="6190488" y="1371600"/>
            <a:ext cx="5449824" cy="4617720"/>
          </a:xfrm>
          <a:prstGeom prst="roundRect">
            <a:avLst>
              <a:gd name="adj" fmla="val 1980"/>
            </a:avLst>
          </a:prstGeom>
          <a:solidFill>
            <a:schemeClr val="bg2"/>
          </a:solidFill>
          <a:ln/>
        </p:spPr>
      </p:sp>
      <p:sp>
        <p:nvSpPr>
          <p:cNvPr id="9" name="icon circle"/>
          <p:cNvSpPr/>
          <p:nvPr/>
        </p:nvSpPr>
        <p:spPr>
          <a:xfrm>
            <a:off x="6464808" y="1600200"/>
            <a:ext cx="548640" cy="548640"/>
          </a:xfrm>
          <a:prstGeom prst="ellipse">
            <a:avLst/>
          </a:prstGeom>
          <a:solidFill>
            <a:schemeClr val="accent4"/>
          </a:solidFill>
          <a:ln/>
        </p:spPr>
      </p:sp>
      <p:pic>
        <p:nvPicPr>
          <p:cNvPr id="10" name="Image 1" descr="road icon">    </p:cNvPr>
          <p:cNvPicPr>
            <a:picLocks noChangeAspect="1"/>
          </p:cNvPicPr>
          <p:nvPr/>
        </p:nvPicPr>
        <p:blipFill>
          <a:blip r:embed="rId2"/>
          <a:stretch>
            <a:fillRect/>
          </a:stretch>
        </p:blipFill>
        <p:spPr>
          <a:xfrm>
            <a:off x="6596482" y="1731874"/>
            <a:ext cx="285293" cy="285293"/>
          </a:xfrm>
          <a:prstGeom prst="rect">
            <a:avLst/>
          </a:prstGeom>
        </p:spPr>
      </p:pic>
      <p:sp>
        <p:nvSpPr>
          <p:cNvPr id="11" name="Text 7"/>
          <p:cNvSpPr txBox="1"/>
          <p:nvPr/>
        </p:nvSpPr>
        <p:spPr>
          <a:xfrm>
            <a:off x="7196328" y="1600200"/>
            <a:ext cx="4169664" cy="548640"/>
          </a:xfrm>
          <a:prstGeom prst="rect">
            <a:avLst/>
          </a:prstGeom>
          <a:noFill/>
          <a:ln/>
        </p:spPr>
        <p:txBody>
          <a:bodyPr wrap="square" lIns="0" tIns="0" rIns="0" bIns="0" rtlCol="0" anchor="ctr"/>
          <a:lstStyle/>
          <a:p>
            <a:pPr indent="0" marL="0">
              <a:buNone/>
            </a:pPr>
            <a:r>
              <a:rPr lang="en-US" sz="2000" b="1" dirty="0">
                <a:solidFill>
                  <a:schemeClr val="tx1"/>
                </a:solidFill>
              </a:rPr>
              <a:t>Future work</a:t>
            </a:r>
            <a:endParaRPr lang="en-US" sz="2000" dirty="0"/>
          </a:p>
        </p:txBody>
      </p:sp>
      <p:sp>
        <p:nvSpPr>
          <p:cNvPr id="12" name="Text 8"/>
          <p:cNvSpPr txBox="1"/>
          <p:nvPr/>
        </p:nvSpPr>
        <p:spPr>
          <a:xfrm>
            <a:off x="6464808" y="2423160"/>
            <a:ext cx="4901184" cy="347472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chemeClr val="tx1"/>
                </a:solidFill>
              </a:rPr>
              <a:t>Score the blind holdout (v5) before camera-ready</a:t>
            </a:r>
            <a:endParaRPr lang="en-US" sz="1600" dirty="0"/>
          </a:p>
          <a:p>
            <a:pPr marL="342900" indent="-342900">
              <a:spcAft>
                <a:spcPts val="1600"/>
              </a:spcAft>
              <a:buSzPct val="100000"/>
              <a:buChar char="•"/>
            </a:pPr>
            <a:r>
              <a:rPr lang="en-US" sz="1600" dirty="0">
                <a:solidFill>
                  <a:schemeClr val="tx1"/>
                </a:solidFill>
              </a:rPr>
              <a:t>Learned predictor and GNN to answer RQ3</a:t>
            </a:r>
            <a:endParaRPr lang="en-US" sz="1600" dirty="0"/>
          </a:p>
          <a:p>
            <a:pPr marL="342900" indent="-342900">
              <a:spcAft>
                <a:spcPts val="1600"/>
              </a:spcAft>
              <a:buSzPct val="100000"/>
              <a:buChar char="•"/>
            </a:pPr>
            <a:r>
              <a:rPr lang="en-US" sz="1600" dirty="0">
                <a:solidFill>
                  <a:schemeClr val="tx1"/>
                </a:solidFill>
              </a:rPr>
              <a:t>Fetch base commits and score graph reachability vs real failures</a:t>
            </a:r>
            <a:endParaRPr lang="en-US" sz="1600" dirty="0"/>
          </a:p>
          <a:p>
            <a:pPr marL="342900" indent="-342900">
              <a:spcAft>
                <a:spcPts val="1600"/>
              </a:spcAft>
              <a:buSzPct val="100000"/>
              <a:buChar char="•"/>
            </a:pPr>
            <a:r>
              <a:rPr lang="en-US" sz="1600" dirty="0">
                <a:solidFill>
                  <a:schemeClr val="tx1"/>
                </a:solidFill>
              </a:rPr>
              <a:t>Docker re-execution subset for causal labels</a:t>
            </a:r>
            <a:endParaRPr lang="en-US" sz="1600" dirty="0"/>
          </a:p>
          <a:p>
            <a:pPr marL="342900" indent="-342900">
              <a:spcAft>
                <a:spcPts val="1600"/>
              </a:spcAft>
              <a:buSzPct val="100000"/>
              <a:buChar char="•"/>
            </a:pPr>
            <a:r>
              <a:rPr lang="en-US" sz="1600" dirty="0">
                <a:solidFill>
                  <a:schemeClr val="tx1"/>
                </a:solidFill>
              </a:rPr>
              <a:t>More Python repositories; base runs for non-failing runs</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949440"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0"/>
          <p:cNvSpPr/>
          <p:nvPr>
            <p:ph idx="101" type="body" hasCustomPrompt="1"/>
          </p:nvPr>
        </p:nvSpPr>
        <p:spPr>
          <a:xfrm>
            <a:off x="731520" y="2697480"/>
            <a:ext cx="6766560" cy="1188720"/>
          </a:xfrm>
          <a:prstGeom prst="rect">
            <a:avLst/>
          </a:prstGeom>
          <a:noFill/>
          <a:ln/>
        </p:spPr>
        <p:txBody>
          <a:bodyPr wrap="square" lIns="0" tIns="0" rIns="0" bIns="0" rtlCol="0" anchor="t"/>
          <a:lstStyle/>
          <a:p>
            <a:pPr algn="l" indent="0" marL="0">
              <a:buNone/>
            </a:pPr>
            <a:r>
              <a:rPr lang="en-US" sz="2000" dirty="0">
                <a:solidFill>
                  <a:schemeClr val="accent2"/>
                </a:solidFill>
                <a:latin typeface="Calibri" pitchFamily="34" charset="0"/>
                <a:ea typeface="Calibri" pitchFamily="34" charset="-122"/>
                <a:cs typeface="Calibri" pitchFamily="34" charset="-120"/>
              </a:rPr>
              <a:t>Questions?</a:t>
            </a:r>
            <a:endParaRPr lang="en-US" sz="2000" dirty="0"/>
          </a:p>
        </p:txBody>
      </p:sp>
      <p:sp>
        <p:nvSpPr>
          <p:cNvPr id="4" name="number badge"/>
          <p:cNvSpPr/>
          <p:nvPr/>
        </p:nvSpPr>
        <p:spPr>
          <a:xfrm>
            <a:off x="731520" y="4105656"/>
            <a:ext cx="411480" cy="411480"/>
          </a:xfrm>
          <a:prstGeom prst="ellipse">
            <a:avLst/>
          </a:prstGeom>
          <a:solidFill>
            <a:schemeClr val="accent1"/>
          </a:solidFill>
          <a:ln/>
        </p:spPr>
      </p:sp>
      <p:sp>
        <p:nvSpPr>
          <p:cNvPr id="5" name="Text 3"/>
          <p:cNvSpPr txBox="1"/>
          <p:nvPr/>
        </p:nvSpPr>
        <p:spPr>
          <a:xfrm>
            <a:off x="731520" y="410565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325880" y="4069080"/>
            <a:ext cx="10241280" cy="566928"/>
          </a:xfrm>
          <a:prstGeom prst="rect">
            <a:avLst/>
          </a:prstGeom>
          <a:noFill/>
          <a:ln/>
        </p:spPr>
        <p:txBody>
          <a:bodyPr wrap="square" lIns="0" tIns="0" rIns="0" bIns="0" rtlCol="0" anchor="ctr"/>
          <a:lstStyle/>
          <a:p>
            <a:pPr indent="0" marL="0">
              <a:buNone/>
            </a:pPr>
            <a:r>
              <a:rPr lang="en-US" sz="1500" dirty="0">
                <a:solidFill>
                  <a:schemeClr val="bg1"/>
                </a:solidFill>
              </a:rPr>
              <a:t>BR-Bench is the first public, execution-grounded dataset of which tests a change broke: 762 instances and 4,168 labels on the strict split.</a:t>
            </a:r>
            <a:endParaRPr lang="en-US" sz="1500" dirty="0"/>
          </a:p>
        </p:txBody>
      </p:sp>
      <p:sp>
        <p:nvSpPr>
          <p:cNvPr id="7" name="number badge"/>
          <p:cNvSpPr/>
          <p:nvPr/>
        </p:nvSpPr>
        <p:spPr>
          <a:xfrm>
            <a:off x="731520" y="4764024"/>
            <a:ext cx="411480" cy="411480"/>
          </a:xfrm>
          <a:prstGeom prst="ellipse">
            <a:avLst/>
          </a:prstGeom>
          <a:solidFill>
            <a:schemeClr val="accent1"/>
          </a:solidFill>
          <a:ln/>
        </p:spPr>
      </p:sp>
      <p:sp>
        <p:nvSpPr>
          <p:cNvPr id="8" name="Text 6"/>
          <p:cNvSpPr txBox="1"/>
          <p:nvPr/>
        </p:nvSpPr>
        <p:spPr>
          <a:xfrm>
            <a:off x="731520" y="476402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325880" y="4727448"/>
            <a:ext cx="10241280" cy="566928"/>
          </a:xfrm>
          <a:prstGeom prst="rect">
            <a:avLst/>
          </a:prstGeom>
          <a:noFill/>
          <a:ln/>
        </p:spPr>
        <p:txBody>
          <a:bodyPr wrap="square" lIns="0" tIns="0" rIns="0" bIns="0" rtlCol="0" anchor="ctr"/>
          <a:lstStyle/>
          <a:p>
            <a:pPr indent="0" marL="0">
              <a:buNone/>
            </a:pPr>
            <a:r>
              <a:rPr lang="en-US" sz="1500" dirty="0">
                <a:solidFill>
                  <a:schemeClr val="bg1"/>
                </a:solidFill>
              </a:rPr>
              <a:t>The proxy the field uses misses most real failures: co-change found 4.64% of failing tests; failure history found 39.44%.</a:t>
            </a:r>
            <a:endParaRPr lang="en-US" sz="1500" dirty="0"/>
          </a:p>
        </p:txBody>
      </p:sp>
      <p:sp>
        <p:nvSpPr>
          <p:cNvPr id="10" name="number badge"/>
          <p:cNvSpPr/>
          <p:nvPr/>
        </p:nvSpPr>
        <p:spPr>
          <a:xfrm>
            <a:off x="731520" y="5422392"/>
            <a:ext cx="411480" cy="411480"/>
          </a:xfrm>
          <a:prstGeom prst="ellipse">
            <a:avLst/>
          </a:prstGeom>
          <a:solidFill>
            <a:schemeClr val="accent1"/>
          </a:solidFill>
          <a:ln/>
        </p:spPr>
      </p:sp>
      <p:sp>
        <p:nvSpPr>
          <p:cNvPr id="11" name="Text 9"/>
          <p:cNvSpPr txBox="1"/>
          <p:nvPr/>
        </p:nvSpPr>
        <p:spPr>
          <a:xfrm>
            <a:off x="731520" y="542239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10"/>
          <p:cNvSpPr txBox="1"/>
          <p:nvPr/>
        </p:nvSpPr>
        <p:spPr>
          <a:xfrm>
            <a:off x="1325880" y="5385816"/>
            <a:ext cx="10241280" cy="566928"/>
          </a:xfrm>
          <a:prstGeom prst="rect">
            <a:avLst/>
          </a:prstGeom>
          <a:noFill/>
          <a:ln/>
        </p:spPr>
        <p:txBody>
          <a:bodyPr wrap="square" lIns="0" tIns="0" rIns="0" bIns="0" rtlCol="0" anchor="ctr"/>
          <a:lstStyle/>
          <a:p>
            <a:pPr indent="0" marL="0">
              <a:buNone/>
            </a:pPr>
            <a:r>
              <a:rPr lang="en-US" sz="1500" dirty="0">
                <a:solidFill>
                  <a:schemeClr val="bg1"/>
                </a:solidFill>
              </a:rPr>
              <a:t>Every number regenerates offline from raw logs with one command, and data and code are archived with DOIs.</a:t>
            </a:r>
            <a:endParaRPr lang="en-US" sz="1500" dirty="0"/>
          </a:p>
        </p:txBody>
      </p:sp>
      <p:sp>
        <p:nvSpPr>
          <p:cNvPr id="13" name="Text 11"/>
          <p:cNvSpPr txBox="1"/>
          <p:nvPr/>
        </p:nvSpPr>
        <p:spPr>
          <a:xfrm>
            <a:off x="731520" y="6172200"/>
            <a:ext cx="10515600" cy="320040"/>
          </a:xfrm>
          <a:prstGeom prst="rect">
            <a:avLst/>
          </a:prstGeom>
          <a:noFill/>
          <a:ln/>
        </p:spPr>
        <p:txBody>
          <a:bodyPr wrap="square" lIns="0" tIns="0" rIns="0" bIns="0" rtlCol="0" anchor="t"/>
          <a:lstStyle/>
          <a:p>
            <a:pPr indent="0" marL="0">
              <a:buNone/>
            </a:pPr>
            <a:r>
              <a:rPr lang="en-US" sz="1200" dirty="0">
                <a:solidFill>
                  <a:schemeClr val="bg2"/>
                </a:solidFill>
              </a:rPr>
              <a:t>github.com/DeepanshuOP/blastradius  ·  doi.org/10.5281/zenodo.23250262</a:t>
            </a:r>
            <a:endParaRPr lang="en-US" sz="1200" dirty="0"/>
          </a:p>
        </p:txBody>
      </p:sp>
      <p:sp>
        <p:nvSpPr>
          <p:cNvPr id="14" name="ring"/>
          <p:cNvSpPr/>
          <p:nvPr/>
        </p:nvSpPr>
        <p:spPr>
          <a:xfrm>
            <a:off x="8869680" y="731520"/>
            <a:ext cx="2377440" cy="2377440"/>
          </a:xfrm>
          <a:prstGeom prst="ellipse">
            <a:avLst/>
          </a:prstGeom>
          <a:solidFill>
            <a:schemeClr val="accent1">
              <a:alpha val="15000"/>
            </a:schemeClr>
          </a:solidFill>
          <a:ln w="12700">
            <a:solidFill>
              <a:schemeClr val="accent1">
                <a:alpha val="60000"/>
              </a:schemeClr>
            </a:solidFill>
            <a:prstDash val="solid"/>
          </a:ln>
        </p:spPr>
      </p:sp>
      <p:sp>
        <p:nvSpPr>
          <p:cNvPr id="15" name="ring"/>
          <p:cNvSpPr/>
          <p:nvPr/>
        </p:nvSpPr>
        <p:spPr>
          <a:xfrm>
            <a:off x="9281160" y="1143000"/>
            <a:ext cx="1554480" cy="1554480"/>
          </a:xfrm>
          <a:prstGeom prst="ellipse">
            <a:avLst/>
          </a:prstGeom>
          <a:solidFill>
            <a:schemeClr val="accent1">
              <a:alpha val="20000"/>
            </a:schemeClr>
          </a:solidFill>
          <a:ln w="12700">
            <a:solidFill>
              <a:schemeClr val="accent1">
                <a:alpha val="60000"/>
              </a:schemeClr>
            </a:solidFill>
            <a:prstDash val="solid"/>
          </a:ln>
        </p:spPr>
      </p:sp>
      <p:sp>
        <p:nvSpPr>
          <p:cNvPr id="16" name="change dot"/>
          <p:cNvSpPr/>
          <p:nvPr/>
        </p:nvSpPr>
        <p:spPr>
          <a:xfrm>
            <a:off x="9784080" y="1645920"/>
            <a:ext cx="548640" cy="548640"/>
          </a:xfrm>
          <a:prstGeom prst="ellipse">
            <a:avLst/>
          </a:prstGeom>
          <a:solidFill>
            <a:schemeClr val="accent1"/>
          </a:solidFill>
          <a:ln/>
        </p:spPr>
      </p:sp>
    </p:spTree>
  </p:cSld>
  <p:clrMapOvr>
    <a:masterClrMapping/>
  </p:clrMapOvr>
</p:sld>
</file>

<file path=ppt/theme/theme1.xml><?xml version="1.0" encoding="utf-8"?>
<a:theme xmlns:a="http://schemas.openxmlformats.org/drawingml/2006/main" name="BlastRadius">
  <a:themeElements>
    <a:clrScheme name="BlastRadius">
      <a:dk1>
        <a:srgbClr val="1B1F2A"/>
      </a:dk1>
      <a:lt1>
        <a:srgbClr val="FFFFFF"/>
      </a:lt1>
      <a:dk2>
        <a:srgbClr val="131722"/>
      </a:dk2>
      <a:lt2>
        <a:srgbClr val="F2F3F5"/>
      </a:lt2>
      <a:accent1>
        <a:srgbClr val="E8572A"/>
      </a:accent1>
      <a:accent2>
        <a:srgbClr val="F2A93B"/>
      </a:accent2>
      <a:accent3>
        <a:srgbClr val="2F7FB0"/>
      </a:accent3>
      <a:accent4>
        <a:srgbClr val="2E9E6A"/>
      </a:accent4>
      <a:accent5>
        <a:srgbClr val="5E6678"/>
      </a:accent5>
      <a:accent6>
        <a:srgbClr val="C23B30"/>
      </a:accent6>
      <a:hlink>
        <a:srgbClr val="2F7FB0"/>
      </a:hlink>
      <a:folHlink>
        <a:srgbClr val="5E6678"/>
      </a:folHlink>
    </a:clrScheme>
    <a:fontScheme name="BlastRadiu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BlastRadius — Final Review</dc:title>
  <dc:subject>PptxGenJS Presentation</dc:subject>
  <dc:creator>Deepanshu, Sanskriti Singh, Prisha Vadhavkar</dc:creator>
  <cp:lastModifiedBy>Deepanshu, Sanskriti Singh, Prisha Vadhavkar</cp:lastModifiedBy>
  <cp:revision>1</cp:revision>
  <dcterms:created xsi:type="dcterms:W3CDTF">2026-10-09T09:13:14Z</dcterms:created>
  <dcterms:modified xsi:type="dcterms:W3CDTF">2026-10-09T09:13:14Z</dcterms:modified>
</cp:coreProperties>
</file>